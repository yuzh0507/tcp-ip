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2" r:id="rId5"/>
    <p:sldId id="266" r:id="rId6"/>
    <p:sldId id="267" r:id="rId7"/>
    <p:sldId id="278" r:id="rId8"/>
    <p:sldId id="279" r:id="rId9"/>
    <p:sldId id="280" r:id="rId10"/>
    <p:sldId id="269" r:id="rId11"/>
    <p:sldId id="270" r:id="rId12"/>
    <p:sldId id="276" r:id="rId13"/>
    <p:sldId id="277" r:id="rId14"/>
    <p:sldId id="26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6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4947558" y="3075508"/>
            <a:ext cx="6406242" cy="562737"/>
          </a:xfrm>
        </p:spPr>
        <p:txBody>
          <a:bodyPr>
            <a:noAutofit/>
          </a:bodyPr>
          <a:lstStyle>
            <a:lvl1pPr marL="0" indent="0" algn="l">
              <a:buNone/>
              <a:defRPr sz="340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947558" y="2277694"/>
            <a:ext cx="6406242" cy="765159"/>
          </a:xfrm>
        </p:spPr>
        <p:txBody>
          <a:bodyPr anchor="b">
            <a:noAutofit/>
          </a:bodyPr>
          <a:lstStyle>
            <a:lvl1pPr algn="l">
              <a:defRPr sz="37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0E531E82-64DB-449D-B90B-BF00E4CB7395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DE70D9F-83B0-43BD-B835-7C0078D855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947558" y="3742114"/>
            <a:ext cx="3424171" cy="4216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275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9936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5185646" y="524281"/>
            <a:ext cx="1817268" cy="1055222"/>
            <a:chOff x="5185646" y="1293723"/>
            <a:chExt cx="1817268" cy="1055222"/>
          </a:xfrm>
        </p:grpSpPr>
        <p:sp>
          <p:nvSpPr>
            <p:cNvPr id="12" name="文本框 11"/>
            <p:cNvSpPr txBox="1"/>
            <p:nvPr userDrawn="1"/>
          </p:nvSpPr>
          <p:spPr>
            <a:xfrm>
              <a:off x="5499868" y="1293723"/>
              <a:ext cx="11888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rgbClr val="61616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  <p:sp>
          <p:nvSpPr>
            <p:cNvPr id="13" name="文本框 12"/>
            <p:cNvSpPr txBox="1"/>
            <p:nvPr userDrawn="1"/>
          </p:nvSpPr>
          <p:spPr>
            <a:xfrm>
              <a:off x="5185646" y="1825725"/>
              <a:ext cx="1817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 smtClean="0">
                  <a:solidFill>
                    <a:srgbClr val="616163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Content</a:t>
              </a:r>
              <a:endParaRPr lang="zh-CN" altLang="en-US" sz="2800" dirty="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</p:grpSp>
      <p:sp>
        <p:nvSpPr>
          <p:cNvPr id="8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40659" y="1800480"/>
            <a:ext cx="3523827" cy="38879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800" b="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endParaRPr lang="en-US" altLang="zh-CN" dirty="0" smtClean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730595" y="1794631"/>
            <a:ext cx="3363685" cy="38790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buFont typeface="Wingdings" panose="05000000000000000000" pitchFamily="2" charset="2"/>
              <a:buNone/>
              <a:defRPr sz="3200" b="0" baseline="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 smtClean="0"/>
              <a:t>Click to add text</a:t>
            </a:r>
            <a:endParaRPr lang="zh-CN" altLang="en-US" dirty="0"/>
          </a:p>
        </p:txBody>
      </p:sp>
      <p:sp>
        <p:nvSpPr>
          <p:cNvPr id="15" name="Slide Number Placeholder 1"/>
          <p:cNvSpPr txBox="1">
            <a:spLocks/>
          </p:cNvSpPr>
          <p:nvPr userDrawn="1"/>
        </p:nvSpPr>
        <p:spPr>
          <a:xfrm>
            <a:off x="9473292" y="6625817"/>
            <a:ext cx="2133600" cy="20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2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age  </a:t>
            </a:r>
            <a:fld id="{EE43992F-D7C3-4F00-A94C-EF7AC265FCDF}" type="slidenum">
              <a:rPr lang="en-US" sz="90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r"/>
              <a:t>‹#›</a:t>
            </a:fld>
            <a:r>
              <a:rPr lang="en-US" sz="900" baseline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PATAC Confidential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05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9936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171951" y="2920456"/>
            <a:ext cx="6327320" cy="512754"/>
          </a:xfrm>
        </p:spPr>
        <p:txBody>
          <a:bodyPr anchor="b">
            <a:noAutofit/>
          </a:bodyPr>
          <a:lstStyle>
            <a:lvl1pPr algn="r">
              <a:defRPr sz="32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4171951" y="3512989"/>
            <a:ext cx="6327320" cy="520168"/>
          </a:xfrm>
        </p:spPr>
        <p:txBody>
          <a:bodyPr>
            <a:noAutofit/>
          </a:bodyPr>
          <a:lstStyle>
            <a:lvl1pPr marL="0" indent="0" algn="r">
              <a:buNone/>
              <a:defRPr sz="3200">
                <a:solidFill>
                  <a:srgbClr val="61616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46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10908565" cy="479243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8520" y="208314"/>
            <a:ext cx="8187896" cy="41431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2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0"/>
          </p:nvPr>
        </p:nvSpPr>
        <p:spPr>
          <a:xfrm>
            <a:off x="608520" y="656093"/>
            <a:ext cx="8173261" cy="3216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Slide Number Placeholder 1"/>
          <p:cNvSpPr txBox="1">
            <a:spLocks/>
          </p:cNvSpPr>
          <p:nvPr userDrawn="1"/>
        </p:nvSpPr>
        <p:spPr>
          <a:xfrm>
            <a:off x="9473292" y="6625817"/>
            <a:ext cx="2133600" cy="20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2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age  </a:t>
            </a:r>
            <a:fld id="{EE43992F-D7C3-4F00-A94C-EF7AC265FCDF}" type="slidenum">
              <a:rPr lang="en-US" sz="90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r"/>
              <a:t>‹#›</a:t>
            </a:fld>
            <a:r>
              <a:rPr lang="en-US" sz="900" baseline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PATAC Confidential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505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5387705" cy="479243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08520" y="208314"/>
            <a:ext cx="8187896" cy="41431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32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15" name="Content Placeholder 2"/>
          <p:cNvSpPr>
            <a:spLocks noGrp="1"/>
          </p:cNvSpPr>
          <p:nvPr>
            <p:ph sz="half" idx="10"/>
          </p:nvPr>
        </p:nvSpPr>
        <p:spPr>
          <a:xfrm>
            <a:off x="608520" y="656093"/>
            <a:ext cx="8173261" cy="32168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6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/>
          </p:nvPr>
        </p:nvSpPr>
        <p:spPr>
          <a:xfrm>
            <a:off x="6111249" y="1273628"/>
            <a:ext cx="5387705" cy="479243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24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20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800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7" name="Slide Number Placeholder 1"/>
          <p:cNvSpPr txBox="1">
            <a:spLocks/>
          </p:cNvSpPr>
          <p:nvPr userDrawn="1"/>
        </p:nvSpPr>
        <p:spPr>
          <a:xfrm>
            <a:off x="9473292" y="6625817"/>
            <a:ext cx="2133600" cy="208142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2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age  </a:t>
            </a:r>
            <a:fld id="{EE43992F-D7C3-4F00-A94C-EF7AC265FCDF}" type="slidenum">
              <a:rPr lang="en-US" sz="90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r"/>
              <a:t>‹#›</a:t>
            </a:fld>
            <a:r>
              <a:rPr lang="en-US" sz="900" baseline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sz="90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PATAC Confidential</a:t>
            </a:r>
            <a:endParaRPr lang="en-US" sz="900" dirty="0">
              <a:solidFill>
                <a:schemeClr val="bg1">
                  <a:lumMod val="50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877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2915301"/>
            <a:ext cx="12192000" cy="10273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rgbClr val="61616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690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3F572-7296-44CA-B8CF-8C259B54199B}" type="datetimeFigureOut">
              <a:rPr lang="zh-CN" altLang="en-US" smtClean="0"/>
              <a:t>2018/12/26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95F81-0E1E-4C52-979B-3B851EB8B8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71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FTP Introduction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FTP</a:t>
            </a:r>
            <a:r>
              <a:rPr lang="zh-CN" altLang="en-US" dirty="0" smtClean="0"/>
              <a:t> 介绍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smtClean="0"/>
              <a:t>2018-12-5</a:t>
            </a:r>
          </a:p>
        </p:txBody>
      </p:sp>
    </p:spTree>
    <p:extLst>
      <p:ext uri="{BB962C8B-B14F-4D97-AF65-F5344CB8AC3E}">
        <p14:creationId xmlns:p14="http://schemas.microsoft.com/office/powerpoint/2010/main" val="3175309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6240659" y="1800480"/>
            <a:ext cx="4424133" cy="3887948"/>
          </a:xfrm>
        </p:spPr>
        <p:txBody>
          <a:bodyPr/>
          <a:lstStyle/>
          <a:p>
            <a:r>
              <a:rPr lang="en-US" altLang="zh-CN" dirty="0" smtClean="0"/>
              <a:t>Overview</a:t>
            </a:r>
            <a:endParaRPr lang="en-US" altLang="zh-CN" dirty="0"/>
          </a:p>
          <a:p>
            <a:r>
              <a:rPr lang="en-US" altLang="zh-CN" dirty="0" smtClean="0"/>
              <a:t>Model</a:t>
            </a:r>
            <a:endParaRPr lang="zh-CN" altLang="en-US" dirty="0"/>
          </a:p>
          <a:p>
            <a:r>
              <a:rPr lang="en-US" altLang="zh-CN" dirty="0" smtClean="0"/>
              <a:t>Working Procedure</a:t>
            </a:r>
            <a:endParaRPr lang="en-US" altLang="zh-CN" dirty="0"/>
          </a:p>
        </p:txBody>
      </p:sp>
      <p:sp>
        <p:nvSpPr>
          <p:cNvPr id="8" name="标题 2"/>
          <p:cNvSpPr>
            <a:spLocks noGrp="1"/>
          </p:cNvSpPr>
          <p:nvPr>
            <p:ph type="title"/>
          </p:nvPr>
        </p:nvSpPr>
        <p:spPr>
          <a:xfrm>
            <a:off x="2730595" y="1794631"/>
            <a:ext cx="3363685" cy="3879045"/>
          </a:xfrm>
        </p:spPr>
        <p:txBody>
          <a:bodyPr/>
          <a:lstStyle/>
          <a:p>
            <a:r>
              <a:rPr lang="zh-CN" altLang="en-US" dirty="0"/>
              <a:t>概述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模型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工作过程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8528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191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608520" y="1273628"/>
            <a:ext cx="10908565" cy="4935148"/>
          </a:xfrm>
        </p:spPr>
        <p:txBody>
          <a:bodyPr>
            <a:normAutofit/>
          </a:bodyPr>
          <a:lstStyle/>
          <a:p>
            <a:r>
              <a:rPr lang="zh-CN" altLang="en-US" sz="1800" dirty="0" smtClean="0"/>
              <a:t>文件传输协议（</a:t>
            </a:r>
            <a:r>
              <a:rPr lang="en-US" altLang="zh-CN" sz="1800" dirty="0" smtClean="0"/>
              <a:t>File Transfer Protocol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FTP</a:t>
            </a:r>
            <a:r>
              <a:rPr lang="zh-CN" altLang="en-US" sz="1800" dirty="0" smtClean="0"/>
              <a:t>）工作在应用层，实现了整文件复制的文件共享机</a:t>
            </a:r>
            <a:r>
              <a:rPr lang="zh-CN" altLang="en-US" sz="1800" dirty="0" smtClean="0"/>
              <a:t>制</a:t>
            </a:r>
            <a:endParaRPr lang="en-US" altLang="zh-CN" sz="1800" dirty="0" smtClean="0"/>
          </a:p>
          <a:p>
            <a:r>
              <a:rPr lang="zh-CN" altLang="en-US" sz="1800" dirty="0" smtClean="0"/>
              <a:t>标准文档：</a:t>
            </a:r>
            <a:r>
              <a:rPr lang="en-US" altLang="zh-CN" sz="1800" dirty="0"/>
              <a:t>[</a:t>
            </a:r>
            <a:r>
              <a:rPr lang="en-US" altLang="zh-CN" sz="1800" dirty="0" smtClean="0"/>
              <a:t>RFC 959]</a:t>
            </a:r>
            <a:endParaRPr lang="en-US" altLang="zh-CN" sz="1800" dirty="0" smtClean="0"/>
          </a:p>
          <a:p>
            <a:endParaRPr lang="en-US" altLang="zh-CN" sz="1800" dirty="0" smtClean="0"/>
          </a:p>
          <a:p>
            <a:r>
              <a:rPr lang="en-US" altLang="zh-CN" sz="1800" dirty="0" smtClean="0"/>
              <a:t>FTP</a:t>
            </a:r>
            <a:r>
              <a:rPr lang="zh-CN" altLang="en-US" sz="1800" dirty="0" smtClean="0"/>
              <a:t>目</a:t>
            </a:r>
            <a:r>
              <a:rPr lang="zh-CN" altLang="en-US" sz="1800" dirty="0" smtClean="0"/>
              <a:t>标：</a:t>
            </a:r>
            <a:endParaRPr lang="en-US" altLang="zh-CN" sz="1800" dirty="0" smtClean="0"/>
          </a:p>
          <a:p>
            <a:pPr lvl="1"/>
            <a:r>
              <a:rPr lang="zh-CN" altLang="en-US" sz="1400" dirty="0"/>
              <a:t>文件共</a:t>
            </a:r>
            <a:r>
              <a:rPr lang="zh-CN" altLang="en-US" sz="1400" dirty="0" smtClean="0"/>
              <a:t>享</a:t>
            </a:r>
            <a:endParaRPr lang="en-US" altLang="zh-CN" sz="1400" dirty="0" smtClean="0"/>
          </a:p>
          <a:p>
            <a:pPr lvl="1"/>
            <a:r>
              <a:rPr lang="zh-CN" altLang="en-US" sz="1400" dirty="0" smtClean="0"/>
              <a:t>对用户透明的文件存储技术</a:t>
            </a:r>
            <a:endParaRPr lang="en-US" altLang="zh-CN" sz="1400" dirty="0" smtClean="0"/>
          </a:p>
          <a:p>
            <a:pPr lvl="1"/>
            <a:r>
              <a:rPr lang="zh-CN" altLang="en-US" sz="1400" dirty="0"/>
              <a:t>可</a:t>
            </a:r>
            <a:r>
              <a:rPr lang="zh-CN" altLang="en-US" sz="1400" dirty="0" smtClean="0"/>
              <a:t>靠、高效的数据传输</a:t>
            </a:r>
            <a:endParaRPr lang="en-US" altLang="zh-CN" sz="1400" dirty="0" smtClean="0"/>
          </a:p>
          <a:p>
            <a:r>
              <a:rPr lang="en-US" altLang="zh-CN" sz="1800" dirty="0" smtClean="0"/>
              <a:t>FTP</a:t>
            </a:r>
            <a:r>
              <a:rPr lang="zh-CN" altLang="en-US" sz="1800" dirty="0" smtClean="0"/>
              <a:t>需要解决的问题：</a:t>
            </a:r>
            <a:endParaRPr lang="en-US" altLang="zh-CN" sz="1800" dirty="0" smtClean="0"/>
          </a:p>
          <a:p>
            <a:pPr lvl="1"/>
            <a:r>
              <a:rPr lang="zh-CN" altLang="en-US" sz="1400" dirty="0"/>
              <a:t>数据类</a:t>
            </a:r>
            <a:r>
              <a:rPr lang="zh-CN" altLang="en-US" sz="1400" dirty="0" smtClean="0"/>
              <a:t>型</a:t>
            </a:r>
            <a:r>
              <a:rPr lang="en-US" altLang="zh-CN" sz="1400" dirty="0" smtClean="0"/>
              <a:t>——</a:t>
            </a:r>
            <a:r>
              <a:rPr lang="zh-CN" altLang="en-US" sz="1400" dirty="0" smtClean="0"/>
              <a:t>不同系统表示数据的方式不同</a:t>
            </a:r>
            <a:endParaRPr lang="en-US" altLang="zh-CN" sz="1400" dirty="0" smtClean="0"/>
          </a:p>
          <a:p>
            <a:pPr lvl="1"/>
            <a:r>
              <a:rPr lang="zh-CN" altLang="en-US" sz="1400" dirty="0"/>
              <a:t>文件结</a:t>
            </a:r>
            <a:r>
              <a:rPr lang="zh-CN" altLang="en-US" sz="1400" dirty="0" smtClean="0"/>
              <a:t>构</a:t>
            </a:r>
            <a:r>
              <a:rPr lang="en-US" altLang="zh-CN" sz="1400" dirty="0" smtClean="0"/>
              <a:t>——</a:t>
            </a:r>
            <a:r>
              <a:rPr lang="zh-CN" altLang="en-US" sz="1400" dirty="0" smtClean="0"/>
              <a:t>文件结构取决于存储该文件的主机</a:t>
            </a:r>
            <a:endParaRPr lang="en-US" altLang="zh-CN" sz="1400" dirty="0" smtClean="0"/>
          </a:p>
          <a:p>
            <a:pPr lvl="1"/>
            <a:r>
              <a:rPr lang="zh-CN" altLang="en-US" sz="1400" dirty="0"/>
              <a:t>传</a:t>
            </a:r>
            <a:r>
              <a:rPr lang="zh-CN" altLang="en-US" sz="1400" dirty="0" smtClean="0"/>
              <a:t>输方式</a:t>
            </a:r>
            <a:r>
              <a:rPr lang="en-US" altLang="zh-CN" sz="1400" dirty="0" smtClean="0"/>
              <a:t>——</a:t>
            </a:r>
            <a:r>
              <a:rPr lang="zh-CN" altLang="en-US" sz="1400" dirty="0"/>
              <a:t>端对</a:t>
            </a:r>
            <a:r>
              <a:rPr lang="zh-CN" altLang="en-US" sz="1400" dirty="0" smtClean="0"/>
              <a:t>端可靠传输</a:t>
            </a:r>
            <a:endParaRPr lang="en-US" altLang="zh-CN" sz="1400" dirty="0" smtClean="0"/>
          </a:p>
          <a:p>
            <a:r>
              <a:rPr lang="en-US" altLang="zh-CN" sz="1800" dirty="0" smtClean="0"/>
              <a:t>FTP</a:t>
            </a:r>
            <a:r>
              <a:rPr lang="zh-CN" altLang="en-US" sz="1800" dirty="0"/>
              <a:t>特</a:t>
            </a:r>
            <a:r>
              <a:rPr lang="zh-CN" altLang="en-US" sz="1800" dirty="0" smtClean="0"/>
              <a:t>点：</a:t>
            </a:r>
            <a:endParaRPr lang="en-US" altLang="zh-CN" sz="1800" dirty="0" smtClean="0"/>
          </a:p>
          <a:p>
            <a:pPr lvl="1"/>
            <a:r>
              <a:rPr lang="zh-CN" altLang="en-US" sz="1400" dirty="0"/>
              <a:t>交互访</a:t>
            </a:r>
            <a:r>
              <a:rPr lang="zh-CN" altLang="en-US" sz="1400" dirty="0" smtClean="0"/>
              <a:t>问：除文件传输外，</a:t>
            </a:r>
            <a:r>
              <a:rPr lang="en-US" altLang="zh-CN" sz="1400" dirty="0" smtClean="0"/>
              <a:t>FTP</a:t>
            </a:r>
            <a:r>
              <a:rPr lang="zh-CN" altLang="en-US" sz="1400" dirty="0" smtClean="0"/>
              <a:t>提供一套交互命令，如列出远程主机上所有目录及某目录下的文件等。</a:t>
            </a:r>
            <a:endParaRPr lang="en-US" altLang="zh-CN" sz="1400" dirty="0" smtClean="0"/>
          </a:p>
          <a:p>
            <a:pPr lvl="1"/>
            <a:r>
              <a:rPr lang="zh-CN" altLang="en-US" sz="1400" dirty="0"/>
              <a:t>访</a:t>
            </a:r>
            <a:r>
              <a:rPr lang="zh-CN" altLang="en-US" sz="1400" dirty="0" smtClean="0"/>
              <a:t>问控制：利用用户名和口令实施访问控制，通过服务器验证后才能访问文件。</a:t>
            </a:r>
            <a:endParaRPr lang="en-US" altLang="zh-CN" sz="1400" dirty="0" smtClean="0"/>
          </a:p>
          <a:p>
            <a:pPr lvl="1"/>
            <a:r>
              <a:rPr lang="zh-CN" altLang="en-US" sz="1400" dirty="0"/>
              <a:t>格</a:t>
            </a:r>
            <a:r>
              <a:rPr lang="zh-CN" altLang="en-US" sz="1400" dirty="0" smtClean="0"/>
              <a:t>式规范：</a:t>
            </a:r>
            <a:r>
              <a:rPr lang="en-US" altLang="zh-CN" sz="1400" dirty="0" smtClean="0"/>
              <a:t>FTP</a:t>
            </a:r>
            <a:r>
              <a:rPr lang="zh-CN" altLang="en-US" sz="1400" dirty="0" smtClean="0"/>
              <a:t>定义了文件传输与共享的多种格式，允许用户指定存储数据的类型和格式</a:t>
            </a:r>
            <a:endParaRPr lang="en-US" altLang="zh-CN" sz="1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概述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157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模型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Model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275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sz="1800" b="1" dirty="0" smtClean="0"/>
              <a:t>FTP</a:t>
            </a:r>
            <a:r>
              <a:rPr lang="zh-CN" altLang="en-US" sz="1800" b="1" dirty="0" smtClean="0"/>
              <a:t>基于</a:t>
            </a:r>
            <a:r>
              <a:rPr lang="en-US" altLang="zh-CN" sz="1800" b="1" dirty="0" smtClean="0"/>
              <a:t>TCP</a:t>
            </a:r>
            <a:r>
              <a:rPr lang="zh-CN" altLang="en-US" sz="1800" b="1" dirty="0" smtClean="0"/>
              <a:t>，采用</a:t>
            </a:r>
            <a:r>
              <a:rPr lang="en-US" altLang="zh-CN" sz="1800" b="1" dirty="0" smtClean="0"/>
              <a:t>client/server</a:t>
            </a:r>
            <a:r>
              <a:rPr lang="zh-CN" altLang="en-US" sz="1800" b="1" dirty="0" smtClean="0"/>
              <a:t>模型。</a:t>
            </a:r>
            <a:endParaRPr lang="en-US" altLang="zh-CN" sz="1800" b="1" dirty="0" smtClean="0"/>
          </a:p>
          <a:p>
            <a:endParaRPr lang="en-US" altLang="zh-CN" sz="1800" dirty="0"/>
          </a:p>
          <a:p>
            <a:r>
              <a:rPr lang="zh-CN" altLang="en-US" sz="1800" b="1" dirty="0" smtClean="0"/>
              <a:t>进程模</a:t>
            </a:r>
            <a:r>
              <a:rPr lang="zh-CN" altLang="en-US" sz="1800" b="1" dirty="0" smtClean="0"/>
              <a:t>型</a:t>
            </a:r>
            <a:endParaRPr lang="en-US" altLang="zh-CN" sz="1800" b="1" dirty="0" smtClean="0"/>
          </a:p>
          <a:p>
            <a:pPr marL="228600" lvl="1">
              <a:spcBef>
                <a:spcPts val="1000"/>
              </a:spcBef>
            </a:pPr>
            <a:r>
              <a:rPr lang="en-US" altLang="zh-CN" sz="1800" dirty="0"/>
              <a:t>Server</a:t>
            </a:r>
            <a:r>
              <a:rPr lang="zh-CN" altLang="en-US" sz="1800" dirty="0"/>
              <a:t>进程</a:t>
            </a:r>
            <a:endParaRPr lang="en-US" altLang="zh-CN" sz="1800" dirty="0"/>
          </a:p>
          <a:p>
            <a:pPr marL="685800" lvl="3">
              <a:spcBef>
                <a:spcPts val="1000"/>
              </a:spcBef>
            </a:pPr>
            <a:r>
              <a:rPr lang="zh-CN" altLang="en-US" sz="1600" dirty="0"/>
              <a:t>主服务器进程：等待</a:t>
            </a:r>
            <a:r>
              <a:rPr lang="en-US" altLang="zh-CN" sz="1600" dirty="0"/>
              <a:t>client</a:t>
            </a:r>
            <a:r>
              <a:rPr lang="zh-CN" altLang="en-US" sz="1600" dirty="0"/>
              <a:t>连接，并为每个连接请求建立控制从进程</a:t>
            </a:r>
            <a:endParaRPr lang="en-US" altLang="zh-CN" sz="1600" dirty="0"/>
          </a:p>
          <a:p>
            <a:pPr marL="685800" lvl="3">
              <a:spcBef>
                <a:spcPts val="1000"/>
              </a:spcBef>
            </a:pPr>
            <a:r>
              <a:rPr lang="zh-CN" altLang="en-US" sz="1600" dirty="0"/>
              <a:t>控制连</a:t>
            </a:r>
            <a:r>
              <a:rPr lang="zh-CN" altLang="en-US" sz="1600" dirty="0"/>
              <a:t>接从进程：接收和处理来自</a:t>
            </a:r>
            <a:r>
              <a:rPr lang="en-US" altLang="zh-CN" sz="1600" dirty="0"/>
              <a:t>client</a:t>
            </a:r>
            <a:r>
              <a:rPr lang="zh-CN" altLang="en-US" sz="1600" dirty="0"/>
              <a:t>的控制连接</a:t>
            </a:r>
            <a:endParaRPr lang="en-US" altLang="zh-CN" sz="1600" dirty="0"/>
          </a:p>
          <a:p>
            <a:pPr marL="685800" lvl="3">
              <a:spcBef>
                <a:spcPts val="1000"/>
              </a:spcBef>
            </a:pPr>
            <a:r>
              <a:rPr lang="zh-CN" altLang="en-US" sz="1600" dirty="0"/>
              <a:t>数据传</a:t>
            </a:r>
            <a:r>
              <a:rPr lang="zh-CN" altLang="en-US" sz="1600" dirty="0"/>
              <a:t>输从进程：一个或多个，处理数据传输</a:t>
            </a:r>
            <a:endParaRPr lang="en-US" altLang="zh-CN" sz="1600" dirty="0"/>
          </a:p>
          <a:p>
            <a:pPr marL="228600" lvl="1">
              <a:spcBef>
                <a:spcPts val="1000"/>
              </a:spcBef>
            </a:pPr>
            <a:r>
              <a:rPr lang="en-US" altLang="zh-CN" sz="1800" dirty="0"/>
              <a:t>Client</a:t>
            </a:r>
            <a:r>
              <a:rPr lang="zh-CN" altLang="en-US" sz="1800" dirty="0"/>
              <a:t>进</a:t>
            </a:r>
            <a:r>
              <a:rPr lang="zh-CN" altLang="en-US" sz="1800" dirty="0"/>
              <a:t>程</a:t>
            </a:r>
            <a:endParaRPr lang="en-US" altLang="zh-CN" sz="1800" dirty="0"/>
          </a:p>
          <a:p>
            <a:pPr marL="685800" lvl="3">
              <a:spcBef>
                <a:spcPts val="1000"/>
              </a:spcBef>
            </a:pPr>
            <a:r>
              <a:rPr lang="zh-CN" altLang="en-US" sz="1600" dirty="0"/>
              <a:t>控</a:t>
            </a:r>
            <a:r>
              <a:rPr lang="zh-CN" altLang="en-US" sz="1600" dirty="0"/>
              <a:t>制连</a:t>
            </a:r>
            <a:r>
              <a:rPr lang="zh-CN" altLang="en-US" sz="1600" dirty="0"/>
              <a:t>接进程</a:t>
            </a:r>
            <a:endParaRPr lang="en-US" altLang="zh-CN" sz="1600" dirty="0"/>
          </a:p>
          <a:p>
            <a:pPr marL="685800" lvl="3">
              <a:spcBef>
                <a:spcPts val="1000"/>
              </a:spcBef>
            </a:pPr>
            <a:r>
              <a:rPr lang="zh-CN" altLang="en-US" sz="1600" dirty="0"/>
              <a:t>数据传</a:t>
            </a:r>
            <a:r>
              <a:rPr lang="zh-CN" altLang="en-US" sz="1600" dirty="0"/>
              <a:t>输进程</a:t>
            </a:r>
            <a:endParaRPr lang="en-US" altLang="zh-CN" sz="1600" dirty="0"/>
          </a:p>
          <a:p>
            <a:endParaRPr lang="en-US" altLang="zh-CN" sz="1800" dirty="0"/>
          </a:p>
          <a:p>
            <a:r>
              <a:rPr lang="zh-CN" altLang="en-US" sz="1800" b="1" dirty="0" smtClean="0"/>
              <a:t>连接</a:t>
            </a:r>
            <a:endParaRPr lang="en-US" altLang="zh-CN" sz="1800" b="1" dirty="0" smtClean="0"/>
          </a:p>
          <a:p>
            <a:pPr lvl="1"/>
            <a:r>
              <a:rPr lang="zh-CN" altLang="en-US" sz="1400" dirty="0" smtClean="0"/>
              <a:t>控制连接：使用</a:t>
            </a:r>
            <a:r>
              <a:rPr lang="en-US" altLang="zh-CN" sz="1400" dirty="0" smtClean="0"/>
              <a:t>TCP</a:t>
            </a:r>
            <a:r>
              <a:rPr lang="zh-CN" altLang="en-US" sz="1400" dirty="0" smtClean="0"/>
              <a:t>，传输控制命令，在整个会话期间保持不变，服务器端口号</a:t>
            </a:r>
            <a:r>
              <a:rPr lang="en-US" altLang="zh-CN" sz="1400" dirty="0" smtClean="0"/>
              <a:t>21</a:t>
            </a:r>
          </a:p>
          <a:p>
            <a:pPr lvl="1"/>
            <a:r>
              <a:rPr lang="zh-CN" altLang="en-US" sz="1400" dirty="0"/>
              <a:t>数</a:t>
            </a:r>
            <a:r>
              <a:rPr lang="zh-CN" altLang="en-US" sz="1400" dirty="0" smtClean="0"/>
              <a:t>据连接：使用</a:t>
            </a:r>
            <a:r>
              <a:rPr lang="en-US" altLang="zh-CN" sz="1400" dirty="0" smtClean="0"/>
              <a:t>TCP</a:t>
            </a:r>
            <a:r>
              <a:rPr lang="zh-CN" altLang="en-US" sz="1400" dirty="0" smtClean="0"/>
              <a:t>，传输数据，临时动态创建，每个文件一个连接，服务器默认端口号</a:t>
            </a:r>
            <a:r>
              <a:rPr lang="en-US" altLang="zh-CN" sz="1400" dirty="0" smtClean="0"/>
              <a:t>20</a:t>
            </a:r>
            <a:endParaRPr lang="zh-CN" altLang="en-US" sz="1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Model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8829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1" dirty="0"/>
              <a:t>文件类</a:t>
            </a:r>
            <a:r>
              <a:rPr lang="zh-CN" altLang="en-US" sz="1800" b="1" dirty="0" smtClean="0"/>
              <a:t>型</a:t>
            </a:r>
            <a:endParaRPr lang="en-US" altLang="zh-CN" sz="1800" b="1" dirty="0" smtClean="0"/>
          </a:p>
          <a:p>
            <a:r>
              <a:rPr lang="en-US" altLang="zh-CN" sz="1800" dirty="0" smtClean="0"/>
              <a:t>ASCII</a:t>
            </a:r>
            <a:r>
              <a:rPr lang="zh-CN" altLang="en-US" sz="1800" dirty="0" smtClean="0"/>
              <a:t>码文件类型（默认选择）</a:t>
            </a:r>
            <a:endParaRPr lang="en-US" altLang="zh-CN" sz="1800" dirty="0" smtClean="0"/>
          </a:p>
          <a:p>
            <a:pPr lvl="1"/>
            <a:r>
              <a:rPr lang="zh-CN" altLang="en-US" sz="1400" dirty="0"/>
              <a:t>发送</a:t>
            </a:r>
            <a:r>
              <a:rPr lang="zh-CN" altLang="en-US" sz="1400" dirty="0" smtClean="0"/>
              <a:t>方把内部字符表示的数据转换成标准的</a:t>
            </a:r>
            <a:r>
              <a:rPr lang="en-US" altLang="zh-CN" sz="1400" dirty="0" smtClean="0"/>
              <a:t>8</a:t>
            </a:r>
            <a:r>
              <a:rPr lang="zh-CN" altLang="en-US" sz="1400" dirty="0" smtClean="0"/>
              <a:t>位</a:t>
            </a:r>
            <a:r>
              <a:rPr lang="en-US" altLang="zh-CN" sz="1400" dirty="0" smtClean="0"/>
              <a:t>NVT ASCII</a:t>
            </a:r>
            <a:r>
              <a:rPr lang="zh-CN" altLang="en-US" sz="1400" dirty="0" smtClean="0"/>
              <a:t>表示，接收方把数据从标准的格式转换成自己内部的表示型式。</a:t>
            </a:r>
            <a:endParaRPr lang="en-US" altLang="zh-CN" sz="1400" dirty="0" smtClean="0"/>
          </a:p>
          <a:p>
            <a:endParaRPr lang="en-US" altLang="zh-CN" sz="1800" dirty="0" smtClean="0"/>
          </a:p>
          <a:p>
            <a:r>
              <a:rPr lang="en-US" altLang="zh-CN" sz="1800" dirty="0" smtClean="0"/>
              <a:t>EBCDIC</a:t>
            </a:r>
            <a:r>
              <a:rPr lang="zh-CN" altLang="en-US" sz="1800" dirty="0" smtClean="0"/>
              <a:t>文件类型（广义二进制编码的十进制交换码）</a:t>
            </a:r>
            <a:endParaRPr lang="en-US" altLang="zh-CN" sz="1800" dirty="0" smtClean="0"/>
          </a:p>
          <a:p>
            <a:pPr lvl="1"/>
            <a:r>
              <a:rPr lang="zh-CN" altLang="en-US" sz="1400" dirty="0" smtClean="0"/>
              <a:t>在一个</a:t>
            </a:r>
            <a:r>
              <a:rPr lang="en-US" altLang="zh-CN" sz="1400" dirty="0" smtClean="0"/>
              <a:t>EBCDIC</a:t>
            </a:r>
            <a:r>
              <a:rPr lang="zh-CN" altLang="en-US" sz="1400" dirty="0" smtClean="0"/>
              <a:t>的文件里，每个字母或数字字符都被表示为一个</a:t>
            </a:r>
            <a:r>
              <a:rPr lang="en-US" altLang="zh-CN" sz="1400" dirty="0" smtClean="0"/>
              <a:t>8</a:t>
            </a:r>
            <a:r>
              <a:rPr lang="zh-CN" altLang="en-US" sz="1400" dirty="0" smtClean="0"/>
              <a:t>位的</a:t>
            </a:r>
            <a:r>
              <a:rPr lang="zh-CN" altLang="en-US" sz="1400" dirty="0"/>
              <a:t>二进</a:t>
            </a:r>
            <a:r>
              <a:rPr lang="zh-CN" altLang="en-US" sz="1400" dirty="0" smtClean="0"/>
              <a:t>制数</a:t>
            </a:r>
            <a:endParaRPr lang="en-US" altLang="zh-CN" sz="1400" dirty="0" smtClean="0"/>
          </a:p>
          <a:p>
            <a:endParaRPr lang="en-US" altLang="zh-CN" sz="1800" dirty="0" smtClean="0"/>
          </a:p>
          <a:p>
            <a:r>
              <a:rPr lang="zh-CN" altLang="en-US" sz="1800" dirty="0" smtClean="0"/>
              <a:t>图像文件类型</a:t>
            </a:r>
            <a:endParaRPr lang="en-US" altLang="zh-CN" sz="1800" dirty="0" smtClean="0"/>
          </a:p>
          <a:p>
            <a:pPr lvl="1"/>
            <a:r>
              <a:rPr lang="zh-CN" altLang="en-US" sz="1400" dirty="0"/>
              <a:t>数</a:t>
            </a:r>
            <a:r>
              <a:rPr lang="zh-CN" altLang="en-US" sz="1400" dirty="0" smtClean="0"/>
              <a:t>据以连续的位传输，并打包位</a:t>
            </a:r>
            <a:r>
              <a:rPr lang="en-US" altLang="zh-CN" sz="1400" dirty="0" smtClean="0"/>
              <a:t>8</a:t>
            </a:r>
            <a:r>
              <a:rPr lang="zh-CN" altLang="en-US" sz="1400" dirty="0" smtClean="0"/>
              <a:t>位的传输字节。接收节点必须以连续的位存储数据</a:t>
            </a:r>
            <a:endParaRPr lang="en-US" altLang="zh-CN" sz="1400" dirty="0" smtClean="0"/>
          </a:p>
          <a:p>
            <a:pPr lvl="1"/>
            <a:r>
              <a:rPr lang="zh-CN" altLang="en-US" sz="1400" dirty="0"/>
              <a:t>图像格</a:t>
            </a:r>
            <a:r>
              <a:rPr lang="zh-CN" altLang="en-US" sz="1400" dirty="0" smtClean="0"/>
              <a:t>式用于有效地传送和存储文件和二进制数据</a:t>
            </a:r>
            <a:endParaRPr lang="en-US" altLang="zh-CN" sz="1400" dirty="0" smtClean="0"/>
          </a:p>
          <a:p>
            <a:endParaRPr lang="en-US" altLang="zh-CN" sz="1800" dirty="0" smtClean="0"/>
          </a:p>
          <a:p>
            <a:endParaRPr lang="en-US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Model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1886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1" dirty="0" smtClean="0"/>
              <a:t>数据结构</a:t>
            </a:r>
            <a:endParaRPr lang="en-US" altLang="zh-CN" sz="1800" b="1" dirty="0" smtClean="0"/>
          </a:p>
          <a:p>
            <a:r>
              <a:rPr lang="zh-CN" altLang="en-US" sz="1800" dirty="0"/>
              <a:t>文件结构</a:t>
            </a:r>
            <a:endParaRPr lang="en-US" altLang="zh-CN" sz="1800" dirty="0" smtClean="0"/>
          </a:p>
          <a:p>
            <a:pPr lvl="1"/>
            <a:r>
              <a:rPr lang="zh-CN" altLang="en-US" sz="1400" dirty="0" smtClean="0"/>
              <a:t>没有内部的结构，被认为是数据字节的连续序列</a:t>
            </a:r>
            <a:endParaRPr lang="en-US" altLang="zh-CN" sz="1400" dirty="0" smtClean="0"/>
          </a:p>
          <a:p>
            <a:pPr lvl="1"/>
            <a:r>
              <a:rPr lang="zh-CN" altLang="en-US" sz="1400" dirty="0"/>
              <a:t>如</a:t>
            </a:r>
            <a:r>
              <a:rPr lang="zh-CN" altLang="en-US" sz="1400" dirty="0" smtClean="0"/>
              <a:t>果没有使用</a:t>
            </a:r>
            <a:r>
              <a:rPr lang="en-US" altLang="zh-CN" sz="1400" dirty="0" smtClean="0"/>
              <a:t>structure</a:t>
            </a:r>
            <a:r>
              <a:rPr lang="zh-CN" altLang="en-US" sz="1400" dirty="0" smtClean="0"/>
              <a:t>指令，文件结构就被认为是默认的结构</a:t>
            </a:r>
            <a:endParaRPr lang="en-US" altLang="zh-CN" sz="1400" dirty="0" smtClean="0"/>
          </a:p>
          <a:p>
            <a:endParaRPr lang="en-US" altLang="zh-CN" sz="1800" dirty="0" smtClean="0"/>
          </a:p>
          <a:p>
            <a:r>
              <a:rPr lang="zh-CN" altLang="en-US" sz="1800" dirty="0"/>
              <a:t>记</a:t>
            </a:r>
            <a:r>
              <a:rPr lang="zh-CN" altLang="en-US" sz="1800" dirty="0" smtClean="0"/>
              <a:t>录机构</a:t>
            </a:r>
            <a:endParaRPr lang="en-US" altLang="zh-CN" sz="1800" dirty="0" smtClean="0"/>
          </a:p>
          <a:p>
            <a:pPr lvl="1"/>
            <a:r>
              <a:rPr lang="zh-CN" altLang="en-US" sz="1400" dirty="0" smtClean="0"/>
              <a:t>记录结构必须被所有的</a:t>
            </a:r>
            <a:r>
              <a:rPr lang="en-US" altLang="zh-CN" sz="1400" dirty="0" smtClean="0"/>
              <a:t>FTP</a:t>
            </a:r>
            <a:r>
              <a:rPr lang="zh-CN" altLang="en-US" sz="1400" dirty="0" smtClean="0"/>
              <a:t>实现以</a:t>
            </a:r>
            <a:r>
              <a:rPr lang="en-US" altLang="zh-CN" sz="1400" dirty="0" smtClean="0"/>
              <a:t>txt</a:t>
            </a:r>
            <a:r>
              <a:rPr lang="zh-CN" altLang="en-US" sz="1400" dirty="0" smtClean="0"/>
              <a:t>文件的方式识别</a:t>
            </a:r>
            <a:endParaRPr lang="en-US" altLang="zh-CN" sz="1400" dirty="0" smtClean="0"/>
          </a:p>
          <a:p>
            <a:pPr lvl="1"/>
            <a:r>
              <a:rPr lang="zh-CN" altLang="en-US" sz="1400" dirty="0"/>
              <a:t>记录结</a:t>
            </a:r>
            <a:r>
              <a:rPr lang="zh-CN" altLang="en-US" sz="1400" dirty="0" smtClean="0"/>
              <a:t>构的文件由连续的记录组成</a:t>
            </a:r>
            <a:endParaRPr lang="en-US" altLang="zh-CN" sz="1400" dirty="0" smtClean="0"/>
          </a:p>
          <a:p>
            <a:endParaRPr lang="en-US" altLang="zh-CN" sz="1800" dirty="0" smtClean="0"/>
          </a:p>
          <a:p>
            <a:r>
              <a:rPr lang="zh-CN" altLang="en-US" sz="1800" dirty="0" smtClean="0"/>
              <a:t>页结构</a:t>
            </a:r>
            <a:endParaRPr lang="en-US" altLang="zh-CN" sz="1800" dirty="0" smtClean="0"/>
          </a:p>
          <a:p>
            <a:pPr lvl="1"/>
            <a:r>
              <a:rPr lang="zh-CN" altLang="en-US" sz="1400" dirty="0" smtClean="0"/>
              <a:t>文件被划分为页，每页有页号</a:t>
            </a:r>
            <a:endParaRPr lang="en-US" altLang="zh-CN" sz="1400" dirty="0" smtClean="0"/>
          </a:p>
          <a:p>
            <a:pPr lvl="1"/>
            <a:r>
              <a:rPr lang="zh-CN" altLang="en-US" sz="1400" dirty="0" smtClean="0"/>
              <a:t>可以进行随机存取或顺序存取</a:t>
            </a:r>
            <a:endParaRPr lang="en-US" altLang="zh-CN" sz="1400" dirty="0" smtClean="0"/>
          </a:p>
          <a:p>
            <a:endParaRPr lang="en-US" altLang="zh-CN" sz="1800" dirty="0" smtClean="0"/>
          </a:p>
          <a:p>
            <a:endParaRPr lang="en-US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Model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3421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b="1" dirty="0"/>
              <a:t>传</a:t>
            </a:r>
            <a:r>
              <a:rPr lang="zh-CN" altLang="en-US" sz="1800" b="1" dirty="0" smtClean="0"/>
              <a:t>输方式</a:t>
            </a:r>
            <a:endParaRPr lang="en-US" altLang="zh-CN" sz="1800" b="1" dirty="0" smtClean="0"/>
          </a:p>
          <a:p>
            <a:r>
              <a:rPr lang="zh-CN" altLang="en-US" sz="1800" dirty="0" smtClean="0"/>
              <a:t>流模式</a:t>
            </a:r>
            <a:endParaRPr lang="en-US" altLang="zh-CN" sz="1800" dirty="0" smtClean="0"/>
          </a:p>
          <a:p>
            <a:pPr lvl="1"/>
            <a:r>
              <a:rPr lang="zh-CN" altLang="en-US" sz="1400" dirty="0" smtClean="0"/>
              <a:t>数据以字节流的型式传输</a:t>
            </a:r>
            <a:endParaRPr lang="en-US" altLang="zh-CN" sz="1400" dirty="0" smtClean="0"/>
          </a:p>
          <a:p>
            <a:endParaRPr lang="en-US" altLang="zh-CN" sz="1800" dirty="0" smtClean="0"/>
          </a:p>
          <a:p>
            <a:r>
              <a:rPr lang="zh-CN" altLang="en-US" sz="1800" dirty="0" smtClean="0"/>
              <a:t>块模式</a:t>
            </a:r>
            <a:endParaRPr lang="en-US" altLang="zh-CN" sz="1800" dirty="0" smtClean="0"/>
          </a:p>
          <a:p>
            <a:pPr lvl="1"/>
            <a:r>
              <a:rPr lang="zh-CN" altLang="en-US" sz="1400" dirty="0" smtClean="0"/>
              <a:t>文件以块型式传输，块带有自己的</a:t>
            </a:r>
            <a:r>
              <a:rPr lang="zh-CN" altLang="en-US" sz="1400" dirty="0"/>
              <a:t>头</a:t>
            </a:r>
            <a:r>
              <a:rPr lang="zh-CN" altLang="en-US" sz="1400" dirty="0" smtClean="0"/>
              <a:t>部，头部包括</a:t>
            </a:r>
            <a:r>
              <a:rPr lang="en-US" altLang="zh-CN" sz="1400" dirty="0" smtClean="0"/>
              <a:t>16</a:t>
            </a:r>
            <a:r>
              <a:rPr lang="zh-CN" altLang="en-US" sz="1400" dirty="0" smtClean="0"/>
              <a:t>位计数字段和</a:t>
            </a:r>
            <a:r>
              <a:rPr lang="en-US" altLang="zh-CN" sz="1400" dirty="0" smtClean="0"/>
              <a:t>8</a:t>
            </a:r>
            <a:r>
              <a:rPr lang="zh-CN" altLang="en-US" sz="1400" dirty="0" smtClean="0"/>
              <a:t>位描述字段</a:t>
            </a:r>
            <a:endParaRPr lang="en-US" altLang="zh-CN" sz="1400" dirty="0" smtClean="0"/>
          </a:p>
          <a:p>
            <a:endParaRPr lang="en-US" altLang="zh-CN" sz="1800" dirty="0" smtClean="0"/>
          </a:p>
          <a:p>
            <a:r>
              <a:rPr lang="zh-CN" altLang="en-US" sz="1800" dirty="0" smtClean="0"/>
              <a:t>压缩模式</a:t>
            </a:r>
            <a:endParaRPr lang="en-US" altLang="zh-CN" sz="1800" dirty="0" smtClean="0"/>
          </a:p>
          <a:p>
            <a:pPr lvl="1"/>
            <a:r>
              <a:rPr lang="zh-CN" altLang="en-US" sz="1400" dirty="0" smtClean="0"/>
              <a:t>压缩连续出现的相同字节</a:t>
            </a:r>
            <a:endParaRPr lang="en-US" altLang="zh-CN" sz="1400" dirty="0" smtClean="0"/>
          </a:p>
          <a:p>
            <a:endParaRPr lang="en-US" altLang="zh-CN" sz="1800" dirty="0" smtClean="0"/>
          </a:p>
          <a:p>
            <a:endParaRPr lang="en-US" altLang="zh-CN" sz="18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Model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3155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工作过程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Working Procedure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048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altLang="zh-CN" sz="1800" dirty="0" smtClean="0"/>
              <a:t>FTP</a:t>
            </a:r>
            <a:r>
              <a:rPr lang="zh-CN" altLang="en-US" sz="1800" dirty="0" smtClean="0"/>
              <a:t>有两种使用模式：</a:t>
            </a:r>
            <a:endParaRPr lang="en-US" altLang="zh-CN" sz="1800" dirty="0" smtClean="0"/>
          </a:p>
          <a:p>
            <a:pPr lvl="1"/>
            <a:r>
              <a:rPr lang="zh-CN" altLang="en-US" sz="1400" dirty="0"/>
              <a:t>主</a:t>
            </a:r>
            <a:r>
              <a:rPr lang="zh-CN" altLang="en-US" sz="1400" dirty="0" smtClean="0"/>
              <a:t>动模式：要求</a:t>
            </a:r>
            <a:r>
              <a:rPr lang="en-US" altLang="zh-CN" sz="1400" dirty="0" smtClean="0"/>
              <a:t>client</a:t>
            </a:r>
            <a:r>
              <a:rPr lang="zh-CN" altLang="en-US" sz="1400" dirty="0" smtClean="0"/>
              <a:t>和</a:t>
            </a:r>
            <a:r>
              <a:rPr lang="en-US" altLang="zh-CN" sz="1400" dirty="0" smtClean="0"/>
              <a:t>server</a:t>
            </a:r>
            <a:r>
              <a:rPr lang="zh-CN" altLang="en-US" sz="1400" dirty="0" smtClean="0"/>
              <a:t>同时打开并且监听一个端口来建立连接</a:t>
            </a:r>
            <a:endParaRPr lang="en-US" altLang="zh-CN" sz="1400" dirty="0" smtClean="0"/>
          </a:p>
          <a:p>
            <a:pPr lvl="1"/>
            <a:r>
              <a:rPr lang="zh-CN" altLang="en-US" sz="1400" dirty="0"/>
              <a:t>被动模</a:t>
            </a:r>
            <a:r>
              <a:rPr lang="zh-CN" altLang="en-US" sz="1400" dirty="0" smtClean="0"/>
              <a:t>式：只要求</a:t>
            </a:r>
            <a:r>
              <a:rPr lang="en-US" altLang="zh-CN" sz="1400" dirty="0" smtClean="0"/>
              <a:t>server</a:t>
            </a:r>
            <a:r>
              <a:rPr lang="zh-CN" altLang="en-US" sz="1400" dirty="0" smtClean="0"/>
              <a:t>监听相应端口</a:t>
            </a:r>
            <a:endParaRPr lang="zh-CN" altLang="en-US" sz="1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工作过程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Working Procedure</a:t>
            </a:r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802" y="2614362"/>
            <a:ext cx="7200000" cy="264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 smtClean="0"/>
              <a:t>主动模式：</a:t>
            </a:r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工作过程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Working Procedure</a:t>
            </a:r>
            <a:endParaRPr lang="zh-CN" altLang="en-US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000" y="1128991"/>
            <a:ext cx="7200000" cy="508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3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被</a:t>
            </a:r>
            <a:r>
              <a:rPr lang="zh-CN" altLang="en-US" sz="1800" dirty="0" smtClean="0"/>
              <a:t>动模式：</a:t>
            </a:r>
            <a:endParaRPr lang="en-US" altLang="zh-CN" sz="18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工作过程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 altLang="zh-CN" dirty="0" smtClean="0"/>
              <a:t>Working Procedure</a:t>
            </a:r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000" y="1128991"/>
            <a:ext cx="7200000" cy="508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25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THANK YOU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041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931</Words>
  <Application>Microsoft Office PowerPoint</Application>
  <PresentationFormat>Widescreen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 Unicode MS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FTP 介绍</vt:lpstr>
      <vt:lpstr>概述 模型 工作过程</vt:lpstr>
      <vt:lpstr>概述</vt:lpstr>
      <vt:lpstr>概述</vt:lpstr>
      <vt:lpstr>模型</vt:lpstr>
      <vt:lpstr>模型</vt:lpstr>
      <vt:lpstr>模型</vt:lpstr>
      <vt:lpstr>模型</vt:lpstr>
      <vt:lpstr>模型</vt:lpstr>
      <vt:lpstr>工作过程</vt:lpstr>
      <vt:lpstr>工作过程</vt:lpstr>
      <vt:lpstr>工作过程</vt:lpstr>
      <vt:lpstr>工作过程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泛 亚 展 稿 模 版</dc:title>
  <dc:creator>Shaoping Sun</dc:creator>
  <cp:lastModifiedBy>Yu Zhonghao 于钟皓(HE,PATAC)</cp:lastModifiedBy>
  <cp:revision>93</cp:revision>
  <dcterms:created xsi:type="dcterms:W3CDTF">2016-04-15T11:56:07Z</dcterms:created>
  <dcterms:modified xsi:type="dcterms:W3CDTF">2018-12-26T08:59:48Z</dcterms:modified>
</cp:coreProperties>
</file>