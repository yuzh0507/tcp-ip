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98" r:id="rId3"/>
    <p:sldId id="297" r:id="rId4"/>
    <p:sldId id="259" r:id="rId5"/>
    <p:sldId id="262" r:id="rId6"/>
    <p:sldId id="266" r:id="rId7"/>
    <p:sldId id="271" r:id="rId8"/>
    <p:sldId id="272" r:id="rId9"/>
    <p:sldId id="273" r:id="rId10"/>
    <p:sldId id="274" r:id="rId11"/>
    <p:sldId id="275" r:id="rId12"/>
    <p:sldId id="278" r:id="rId13"/>
    <p:sldId id="276" r:id="rId14"/>
    <p:sldId id="279" r:id="rId15"/>
    <p:sldId id="267" r:id="rId16"/>
    <p:sldId id="280" r:id="rId17"/>
    <p:sldId id="281" r:id="rId18"/>
    <p:sldId id="282" r:id="rId19"/>
    <p:sldId id="283" r:id="rId20"/>
    <p:sldId id="287" r:id="rId21"/>
    <p:sldId id="288" r:id="rId22"/>
    <p:sldId id="284" r:id="rId23"/>
    <p:sldId id="289" r:id="rId24"/>
    <p:sldId id="290" r:id="rId25"/>
    <p:sldId id="285" r:id="rId26"/>
    <p:sldId id="286" r:id="rId27"/>
    <p:sldId id="291" r:id="rId28"/>
    <p:sldId id="293" r:id="rId29"/>
    <p:sldId id="294" r:id="rId30"/>
    <p:sldId id="292" r:id="rId31"/>
    <p:sldId id="295" r:id="rId32"/>
    <p:sldId id="296" r:id="rId33"/>
    <p:sldId id="265"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u Zhonghao 于钟皓(HE,PATAC)" initials="YZ于" lastIdx="1" clrIdx="0">
    <p:extLst>
      <p:ext uri="{19B8F6BF-5375-455C-9EA6-DF929625EA0E}">
        <p15:presenceInfo xmlns:p15="http://schemas.microsoft.com/office/powerpoint/2012/main" userId="S-1-5-21-647455628-603139626-328618392-3368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6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4" d="100"/>
          <a:sy n="84" d="100"/>
        </p:scale>
        <p:origin x="53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88560" cy="6858000"/>
          </a:xfrm>
          <a:prstGeom prst="rect">
            <a:avLst/>
          </a:prstGeom>
        </p:spPr>
      </p:pic>
      <p:sp>
        <p:nvSpPr>
          <p:cNvPr id="8" name="Subtitle 2"/>
          <p:cNvSpPr>
            <a:spLocks noGrp="1"/>
          </p:cNvSpPr>
          <p:nvPr>
            <p:ph type="subTitle" idx="1"/>
          </p:nvPr>
        </p:nvSpPr>
        <p:spPr>
          <a:xfrm>
            <a:off x="4947558" y="3075508"/>
            <a:ext cx="6406242" cy="562737"/>
          </a:xfrm>
        </p:spPr>
        <p:txBody>
          <a:bodyPr>
            <a:noAutofit/>
          </a:bodyPr>
          <a:lstStyle>
            <a:lvl1pPr marL="0" indent="0" algn="l">
              <a:buNone/>
              <a:defRPr sz="340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en-US" dirty="0"/>
          </a:p>
        </p:txBody>
      </p:sp>
      <p:sp>
        <p:nvSpPr>
          <p:cNvPr id="9" name="Title 1"/>
          <p:cNvSpPr>
            <a:spLocks noGrp="1"/>
          </p:cNvSpPr>
          <p:nvPr>
            <p:ph type="ctrTitle"/>
          </p:nvPr>
        </p:nvSpPr>
        <p:spPr>
          <a:xfrm>
            <a:off x="4947558" y="2277694"/>
            <a:ext cx="6406242" cy="765159"/>
          </a:xfrm>
        </p:spPr>
        <p:txBody>
          <a:bodyPr anchor="b">
            <a:noAutofit/>
          </a:bodyPr>
          <a:lstStyle>
            <a:lvl1pPr algn="l">
              <a:defRPr sz="3700">
                <a:solidFill>
                  <a:srgbClr val="616163"/>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10" name="Date Placeholder 3"/>
          <p:cNvSpPr>
            <a:spLocks noGrp="1"/>
          </p:cNvSpPr>
          <p:nvPr>
            <p:ph type="dt" sz="half" idx="10"/>
          </p:nvPr>
        </p:nvSpPr>
        <p:spPr>
          <a:xfrm>
            <a:off x="838200" y="6356350"/>
            <a:ext cx="2743200" cy="365125"/>
          </a:xfrm>
        </p:spPr>
        <p:txBody>
          <a:bodyPr/>
          <a:lstStyle/>
          <a:p>
            <a:fld id="{0E531E82-64DB-449D-B90B-BF00E4CB7395}" type="datetimeFigureOut">
              <a:rPr lang="zh-CN" altLang="en-US" smtClean="0"/>
              <a:t>2018/12/19</a:t>
            </a:fld>
            <a:endParaRPr lang="zh-CN" altLang="en-US"/>
          </a:p>
        </p:txBody>
      </p:sp>
      <p:sp>
        <p:nvSpPr>
          <p:cNvPr id="11" name="Footer Placeholder 4"/>
          <p:cNvSpPr>
            <a:spLocks noGrp="1"/>
          </p:cNvSpPr>
          <p:nvPr>
            <p:ph type="ftr" sz="quarter" idx="11"/>
          </p:nvPr>
        </p:nvSpPr>
        <p:spPr>
          <a:xfrm>
            <a:off x="4038600" y="6356350"/>
            <a:ext cx="4114800" cy="365125"/>
          </a:xfrm>
        </p:spPr>
        <p:txBody>
          <a:bodyPr/>
          <a:lstStyle/>
          <a:p>
            <a:endParaRPr lang="zh-CN" altLang="en-US"/>
          </a:p>
        </p:txBody>
      </p:sp>
      <p:sp>
        <p:nvSpPr>
          <p:cNvPr id="12" name="Slide Number Placeholder 5"/>
          <p:cNvSpPr>
            <a:spLocks noGrp="1"/>
          </p:cNvSpPr>
          <p:nvPr>
            <p:ph type="sldNum" sz="quarter" idx="12"/>
          </p:nvPr>
        </p:nvSpPr>
        <p:spPr>
          <a:xfrm>
            <a:off x="8610600" y="6356350"/>
            <a:ext cx="2743200" cy="365125"/>
          </a:xfrm>
        </p:spPr>
        <p:txBody>
          <a:bodyPr/>
          <a:lstStyle/>
          <a:p>
            <a:fld id="{5DE70D9F-83B0-43BD-B835-7C0078D8551A}" type="slidenum">
              <a:rPr lang="zh-CN" altLang="en-US" smtClean="0"/>
              <a:t>‹#›</a:t>
            </a:fld>
            <a:endParaRPr lang="zh-CN" altLang="en-US"/>
          </a:p>
        </p:txBody>
      </p:sp>
      <p:sp>
        <p:nvSpPr>
          <p:cNvPr id="13" name="Text Placeholder 9"/>
          <p:cNvSpPr>
            <a:spLocks noGrp="1"/>
          </p:cNvSpPr>
          <p:nvPr>
            <p:ph type="body" sz="quarter" idx="13"/>
          </p:nvPr>
        </p:nvSpPr>
        <p:spPr>
          <a:xfrm>
            <a:off x="4947558" y="3742114"/>
            <a:ext cx="3424171" cy="421672"/>
          </a:xfrm>
          <a:prstGeom prst="rect">
            <a:avLst/>
          </a:prstGeom>
        </p:spPr>
        <p:txBody>
          <a:bodyPr>
            <a:normAutofit/>
          </a:bodyPr>
          <a:lstStyle>
            <a:lvl1pPr marL="0" indent="0" algn="l">
              <a:buNone/>
              <a:defRPr sz="2400" b="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defRPr>
            </a:lvl1pPr>
          </a:lstStyle>
          <a:p>
            <a:endParaRPr lang="zh-CN" altLang="en-US" dirty="0"/>
          </a:p>
        </p:txBody>
      </p:sp>
    </p:spTree>
    <p:extLst>
      <p:ext uri="{BB962C8B-B14F-4D97-AF65-F5344CB8AC3E}">
        <p14:creationId xmlns:p14="http://schemas.microsoft.com/office/powerpoint/2010/main" val="4122755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9936"/>
          </a:xfrm>
          <a:prstGeom prst="rect">
            <a:avLst/>
          </a:prstGeom>
        </p:spPr>
      </p:pic>
      <p:grpSp>
        <p:nvGrpSpPr>
          <p:cNvPr id="3" name="组合 2"/>
          <p:cNvGrpSpPr/>
          <p:nvPr userDrawn="1"/>
        </p:nvGrpSpPr>
        <p:grpSpPr>
          <a:xfrm>
            <a:off x="5185646" y="524281"/>
            <a:ext cx="1817268" cy="1055222"/>
            <a:chOff x="5185646" y="1293723"/>
            <a:chExt cx="1817268" cy="1055222"/>
          </a:xfrm>
        </p:grpSpPr>
        <p:sp>
          <p:nvSpPr>
            <p:cNvPr id="12" name="文本框 11"/>
            <p:cNvSpPr txBox="1"/>
            <p:nvPr userDrawn="1"/>
          </p:nvSpPr>
          <p:spPr>
            <a:xfrm>
              <a:off x="5499868" y="1293723"/>
              <a:ext cx="1188825" cy="646331"/>
            </a:xfrm>
            <a:prstGeom prst="rect">
              <a:avLst/>
            </a:prstGeom>
            <a:noFill/>
          </p:spPr>
          <p:txBody>
            <a:bodyPr wrap="square" rtlCol="0">
              <a:spAutoFit/>
            </a:bodyPr>
            <a:lstStyle/>
            <a:p>
              <a:pPr algn="ctr"/>
              <a:r>
                <a:rPr lang="zh-CN" altLang="en-US" sz="3600" dirty="0">
                  <a:solidFill>
                    <a:srgbClr val="616163"/>
                  </a:solidFill>
                  <a:latin typeface="微软雅黑" panose="020B0503020204020204" pitchFamily="34" charset="-122"/>
                  <a:ea typeface="微软雅黑" panose="020B0503020204020204" pitchFamily="34" charset="-122"/>
                </a:rPr>
                <a:t>目录</a:t>
              </a:r>
            </a:p>
          </p:txBody>
        </p:sp>
        <p:sp>
          <p:nvSpPr>
            <p:cNvPr id="13" name="文本框 12"/>
            <p:cNvSpPr txBox="1"/>
            <p:nvPr userDrawn="1"/>
          </p:nvSpPr>
          <p:spPr>
            <a:xfrm>
              <a:off x="5185646" y="1825725"/>
              <a:ext cx="1817268" cy="523220"/>
            </a:xfrm>
            <a:prstGeom prst="rect">
              <a:avLst/>
            </a:prstGeom>
            <a:noFill/>
          </p:spPr>
          <p:txBody>
            <a:bodyPr wrap="square" rtlCol="0">
              <a:spAutoFit/>
            </a:bodyPr>
            <a:lstStyle/>
            <a:p>
              <a:pPr algn="ctr"/>
              <a:r>
                <a:rPr lang="en-US" altLang="zh-CN" sz="2800" dirty="0" smtClean="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rPr>
                <a:t>Content</a:t>
              </a:r>
              <a:endParaRPr lang="zh-CN" altLang="en-US" sz="2800" dirty="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sp>
        <p:nvSpPr>
          <p:cNvPr id="8" name="Text Placeholder 9"/>
          <p:cNvSpPr>
            <a:spLocks noGrp="1"/>
          </p:cNvSpPr>
          <p:nvPr>
            <p:ph type="body" sz="quarter" idx="13"/>
          </p:nvPr>
        </p:nvSpPr>
        <p:spPr>
          <a:xfrm>
            <a:off x="6240659" y="1800480"/>
            <a:ext cx="3523827" cy="3887948"/>
          </a:xfrm>
          <a:prstGeom prst="rect">
            <a:avLst/>
          </a:prstGeom>
        </p:spPr>
        <p:txBody>
          <a:bodyPr>
            <a:normAutofit/>
          </a:bodyPr>
          <a:lstStyle>
            <a:lvl1pPr marL="0" indent="0">
              <a:lnSpc>
                <a:spcPct val="150000"/>
              </a:lnSpc>
              <a:buNone/>
              <a:defRPr sz="2800" b="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defRPr>
            </a:lvl1pPr>
          </a:lstStyle>
          <a:p>
            <a:endParaRPr lang="en-US" altLang="zh-CN" dirty="0" smtClean="0"/>
          </a:p>
        </p:txBody>
      </p:sp>
      <p:sp>
        <p:nvSpPr>
          <p:cNvPr id="9" name="Title 8"/>
          <p:cNvSpPr>
            <a:spLocks noGrp="1"/>
          </p:cNvSpPr>
          <p:nvPr>
            <p:ph type="title" hasCustomPrompt="1"/>
          </p:nvPr>
        </p:nvSpPr>
        <p:spPr>
          <a:xfrm>
            <a:off x="2730595" y="1794631"/>
            <a:ext cx="3363685" cy="3879045"/>
          </a:xfrm>
          <a:prstGeom prst="rect">
            <a:avLst/>
          </a:prstGeom>
        </p:spPr>
        <p:txBody>
          <a:bodyPr anchor="t">
            <a:normAutofit/>
          </a:bodyPr>
          <a:lstStyle>
            <a:lvl1pPr marL="0" indent="0">
              <a:lnSpc>
                <a:spcPct val="150000"/>
              </a:lnSpc>
              <a:buFont typeface="Wingdings" panose="05000000000000000000" pitchFamily="2" charset="2"/>
              <a:buNone/>
              <a:defRPr sz="3200" b="0" baseline="0">
                <a:solidFill>
                  <a:srgbClr val="616163"/>
                </a:solidFill>
                <a:latin typeface="微软雅黑" panose="020B0503020204020204" pitchFamily="34" charset="-122"/>
                <a:ea typeface="微软雅黑" panose="020B0503020204020204" pitchFamily="34" charset="-122"/>
              </a:defRPr>
            </a:lvl1pPr>
          </a:lstStyle>
          <a:p>
            <a:r>
              <a:rPr lang="en-US" altLang="zh-CN" dirty="0" smtClean="0"/>
              <a:t>Click to add text</a:t>
            </a:r>
            <a:endParaRPr lang="zh-CN" altLang="en-US" dirty="0"/>
          </a:p>
        </p:txBody>
      </p:sp>
      <p:sp>
        <p:nvSpPr>
          <p:cNvPr id="15" name="Slide Number Placeholder 1"/>
          <p:cNvSpPr txBox="1">
            <a:spLocks/>
          </p:cNvSpPr>
          <p:nvPr userDrawn="1"/>
        </p:nvSpPr>
        <p:spPr>
          <a:xfrm>
            <a:off x="9473292" y="6625817"/>
            <a:ext cx="2133600" cy="208142"/>
          </a:xfrm>
          <a:prstGeom prst="rect">
            <a:avLst/>
          </a:prstGeom>
        </p:spPr>
        <p:txBody>
          <a:bodyPr/>
          <a:lstStyle>
            <a:defPPr>
              <a:defRPr lang="zh-CN"/>
            </a:defPPr>
            <a:lvl1pPr marL="0" algn="r" defTabSz="914400" rtl="0" eaLnBrk="1" latinLnBrk="0" hangingPunct="1">
              <a:defRPr sz="1200" b="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
            </a:r>
            <a:r>
              <a:rPr lang="en-US" altLang="zh-CN"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age  </a:t>
            </a:r>
            <a:fld id="{EE43992F-D7C3-4F00-A94C-EF7AC265FCDF}" type="slidenum">
              <a:rPr lang="en-US" sz="90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r"/>
              <a:t>‹#›</a:t>
            </a:fld>
            <a:r>
              <a:rPr lang="en-US" sz="900" baseline="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PATAC Confidential</a:t>
            </a:r>
            <a:endParaRPr lang="en-US" sz="900" dirty="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12052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9936"/>
          </a:xfrm>
          <a:prstGeom prst="rect">
            <a:avLst/>
          </a:prstGeom>
        </p:spPr>
      </p:pic>
      <p:sp>
        <p:nvSpPr>
          <p:cNvPr id="9" name="Title 1"/>
          <p:cNvSpPr>
            <a:spLocks noGrp="1"/>
          </p:cNvSpPr>
          <p:nvPr>
            <p:ph type="ctrTitle"/>
          </p:nvPr>
        </p:nvSpPr>
        <p:spPr>
          <a:xfrm>
            <a:off x="4171951" y="2920456"/>
            <a:ext cx="6327320" cy="512754"/>
          </a:xfrm>
        </p:spPr>
        <p:txBody>
          <a:bodyPr anchor="b">
            <a:noAutofit/>
          </a:bodyPr>
          <a:lstStyle>
            <a:lvl1pPr algn="r">
              <a:defRPr sz="3200">
                <a:solidFill>
                  <a:srgbClr val="616163"/>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10" name="Subtitle 2"/>
          <p:cNvSpPr>
            <a:spLocks noGrp="1"/>
          </p:cNvSpPr>
          <p:nvPr>
            <p:ph type="subTitle" idx="1"/>
          </p:nvPr>
        </p:nvSpPr>
        <p:spPr>
          <a:xfrm>
            <a:off x="4171951" y="3512989"/>
            <a:ext cx="6327320" cy="520168"/>
          </a:xfrm>
        </p:spPr>
        <p:txBody>
          <a:bodyPr>
            <a:noAutofit/>
          </a:bodyPr>
          <a:lstStyle>
            <a:lvl1pPr marL="0" indent="0" algn="r">
              <a:buNone/>
              <a:defRPr sz="3200">
                <a:solidFill>
                  <a:srgbClr val="616163"/>
                </a:solidFill>
                <a:latin typeface="Arial Unicode MS" panose="020B0604020202020204" pitchFamily="34" charset="-122"/>
                <a:ea typeface="Arial Unicode MS" panose="020B0604020202020204" pitchFamily="34" charset="-122"/>
                <a:cs typeface="Arial Unicode MS" panose="020B0604020202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smtClean="0"/>
              <a:t>单击此处编辑母版副标题样式</a:t>
            </a:r>
            <a:endParaRPr lang="en-US" dirty="0"/>
          </a:p>
        </p:txBody>
      </p:sp>
    </p:spTree>
    <p:extLst>
      <p:ext uri="{BB962C8B-B14F-4D97-AF65-F5344CB8AC3E}">
        <p14:creationId xmlns:p14="http://schemas.microsoft.com/office/powerpoint/2010/main" val="2904461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88560" cy="6858000"/>
          </a:xfrm>
          <a:prstGeom prst="rect">
            <a:avLst/>
          </a:prstGeom>
        </p:spPr>
      </p:pic>
      <p:sp>
        <p:nvSpPr>
          <p:cNvPr id="10" name="Content Placeholder 2"/>
          <p:cNvSpPr>
            <a:spLocks noGrp="1"/>
          </p:cNvSpPr>
          <p:nvPr>
            <p:ph sz="half" idx="1"/>
          </p:nvPr>
        </p:nvSpPr>
        <p:spPr>
          <a:xfrm>
            <a:off x="608520" y="1273628"/>
            <a:ext cx="10908565" cy="4792435"/>
          </a:xfrm>
        </p:spPr>
        <p:txBody>
          <a:bodyPr>
            <a:normAutofit/>
          </a:bodyPr>
          <a:lstStyle>
            <a:lvl1pPr>
              <a:lnSpc>
                <a:spcPct val="100000"/>
              </a:lnSpc>
              <a:defRPr sz="2800">
                <a:solidFill>
                  <a:srgbClr val="616163"/>
                </a:solidFill>
                <a:latin typeface="微软雅黑" panose="020B0503020204020204" pitchFamily="34" charset="-122"/>
                <a:ea typeface="微软雅黑" panose="020B0503020204020204" pitchFamily="34" charset="-122"/>
              </a:defRPr>
            </a:lvl1pPr>
            <a:lvl2pPr>
              <a:lnSpc>
                <a:spcPct val="100000"/>
              </a:lnSpc>
              <a:defRPr sz="2400">
                <a:solidFill>
                  <a:srgbClr val="616163"/>
                </a:solidFill>
                <a:latin typeface="微软雅黑" panose="020B0503020204020204" pitchFamily="34" charset="-122"/>
                <a:ea typeface="微软雅黑" panose="020B0503020204020204" pitchFamily="34" charset="-122"/>
              </a:defRPr>
            </a:lvl2pPr>
            <a:lvl3pPr>
              <a:lnSpc>
                <a:spcPct val="100000"/>
              </a:lnSpc>
              <a:defRPr sz="2000">
                <a:solidFill>
                  <a:srgbClr val="616163"/>
                </a:solidFill>
                <a:latin typeface="微软雅黑" panose="020B0503020204020204" pitchFamily="34" charset="-122"/>
                <a:ea typeface="微软雅黑" panose="020B0503020204020204" pitchFamily="34" charset="-122"/>
              </a:defRPr>
            </a:lvl3pPr>
            <a:lvl4pPr>
              <a:lnSpc>
                <a:spcPct val="100000"/>
              </a:lnSpc>
              <a:defRPr sz="1800">
                <a:solidFill>
                  <a:srgbClr val="616163"/>
                </a:solidFill>
                <a:latin typeface="微软雅黑" panose="020B0503020204020204" pitchFamily="34" charset="-122"/>
                <a:ea typeface="微软雅黑" panose="020B0503020204020204" pitchFamily="34" charset="-122"/>
              </a:defRPr>
            </a:lvl4pPr>
            <a:lvl5pPr>
              <a:lnSpc>
                <a:spcPct val="100000"/>
              </a:lnSpc>
              <a:defRPr sz="1800">
                <a:solidFill>
                  <a:srgbClr val="616163"/>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14" name="Title 1"/>
          <p:cNvSpPr>
            <a:spLocks noGrp="1"/>
          </p:cNvSpPr>
          <p:nvPr>
            <p:ph type="title"/>
          </p:nvPr>
        </p:nvSpPr>
        <p:spPr>
          <a:xfrm>
            <a:off x="608520" y="208314"/>
            <a:ext cx="8187896" cy="414317"/>
          </a:xfrm>
          <a:prstGeom prst="rect">
            <a:avLst/>
          </a:prstGeom>
        </p:spPr>
        <p:txBody>
          <a:bodyPr anchor="ctr">
            <a:noAutofit/>
          </a:bodyPr>
          <a:lstStyle>
            <a:lvl1pPr>
              <a:lnSpc>
                <a:spcPct val="100000"/>
              </a:lnSpc>
              <a:defRPr sz="3200">
                <a:solidFill>
                  <a:srgbClr val="616163"/>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15" name="Content Placeholder 2"/>
          <p:cNvSpPr>
            <a:spLocks noGrp="1"/>
          </p:cNvSpPr>
          <p:nvPr>
            <p:ph sz="half" idx="10"/>
          </p:nvPr>
        </p:nvSpPr>
        <p:spPr>
          <a:xfrm>
            <a:off x="608520" y="656093"/>
            <a:ext cx="8173261" cy="321686"/>
          </a:xfrm>
          <a:prstGeom prst="rect">
            <a:avLst/>
          </a:prstGeom>
        </p:spPr>
        <p:txBody>
          <a:bodyPr anchor="ctr">
            <a:noAutofit/>
          </a:bodyPr>
          <a:lstStyle>
            <a:lvl1pPr marL="0" indent="0">
              <a:lnSpc>
                <a:spcPct val="100000"/>
              </a:lnSpc>
              <a:buNone/>
              <a:defRPr sz="2400">
                <a:solidFill>
                  <a:srgbClr val="616163"/>
                </a:solidFill>
                <a:latin typeface="微软雅黑" panose="020B0503020204020204" pitchFamily="34" charset="-122"/>
                <a:ea typeface="微软雅黑" panose="020B0503020204020204" pitchFamily="34" charset="-122"/>
              </a:defRPr>
            </a:lvl1pPr>
            <a:lvl2pPr>
              <a:lnSpc>
                <a:spcPct val="100000"/>
              </a:lnSpc>
              <a:defRPr sz="2000">
                <a:solidFill>
                  <a:srgbClr val="616163"/>
                </a:solidFill>
                <a:latin typeface="微软雅黑" panose="020B0503020204020204" pitchFamily="34" charset="-122"/>
                <a:ea typeface="微软雅黑" panose="020B0503020204020204" pitchFamily="34" charset="-122"/>
              </a:defRPr>
            </a:lvl2pPr>
            <a:lvl3pPr>
              <a:lnSpc>
                <a:spcPct val="100000"/>
              </a:lnSpc>
              <a:defRPr sz="1800">
                <a:solidFill>
                  <a:srgbClr val="616163"/>
                </a:solidFill>
                <a:latin typeface="微软雅黑" panose="020B0503020204020204" pitchFamily="34" charset="-122"/>
                <a:ea typeface="微软雅黑" panose="020B0503020204020204" pitchFamily="34" charset="-122"/>
              </a:defRPr>
            </a:lvl3pPr>
            <a:lvl4pPr>
              <a:lnSpc>
                <a:spcPct val="100000"/>
              </a:lnSpc>
              <a:defRPr sz="1600">
                <a:solidFill>
                  <a:srgbClr val="616163"/>
                </a:solidFill>
                <a:latin typeface="微软雅黑" panose="020B0503020204020204" pitchFamily="34" charset="-122"/>
                <a:ea typeface="微软雅黑" panose="020B0503020204020204" pitchFamily="34" charset="-122"/>
              </a:defRPr>
            </a:lvl4pPr>
            <a:lvl5pPr>
              <a:lnSpc>
                <a:spcPct val="100000"/>
              </a:lnSpc>
              <a:defRPr sz="1600">
                <a:solidFill>
                  <a:srgbClr val="616163"/>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p:txBody>
      </p:sp>
      <p:sp>
        <p:nvSpPr>
          <p:cNvPr id="16" name="Slide Number Placeholder 1"/>
          <p:cNvSpPr txBox="1">
            <a:spLocks/>
          </p:cNvSpPr>
          <p:nvPr userDrawn="1"/>
        </p:nvSpPr>
        <p:spPr>
          <a:xfrm>
            <a:off x="9473292" y="6625817"/>
            <a:ext cx="2133600" cy="208142"/>
          </a:xfrm>
          <a:prstGeom prst="rect">
            <a:avLst/>
          </a:prstGeom>
        </p:spPr>
        <p:txBody>
          <a:bodyPr/>
          <a:lstStyle>
            <a:defPPr>
              <a:defRPr lang="zh-CN"/>
            </a:defPPr>
            <a:lvl1pPr marL="0" algn="r" defTabSz="914400" rtl="0" eaLnBrk="1" latinLnBrk="0" hangingPunct="1">
              <a:defRPr sz="1200" b="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
            </a:r>
            <a:r>
              <a:rPr lang="en-US" altLang="zh-CN"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age  </a:t>
            </a:r>
            <a:fld id="{EE43992F-D7C3-4F00-A94C-EF7AC265FCDF}" type="slidenum">
              <a:rPr lang="en-US" sz="90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r"/>
              <a:t>‹#›</a:t>
            </a:fld>
            <a:r>
              <a:rPr lang="en-US" sz="900" baseline="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PATAC Confidential</a:t>
            </a:r>
            <a:endParaRPr lang="en-US" sz="900" dirty="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3325059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88560" cy="6858000"/>
          </a:xfrm>
          <a:prstGeom prst="rect">
            <a:avLst/>
          </a:prstGeom>
        </p:spPr>
      </p:pic>
      <p:sp>
        <p:nvSpPr>
          <p:cNvPr id="10" name="Content Placeholder 2"/>
          <p:cNvSpPr>
            <a:spLocks noGrp="1"/>
          </p:cNvSpPr>
          <p:nvPr>
            <p:ph sz="half" idx="1"/>
          </p:nvPr>
        </p:nvSpPr>
        <p:spPr>
          <a:xfrm>
            <a:off x="608520" y="1273628"/>
            <a:ext cx="5387705" cy="4792435"/>
          </a:xfrm>
        </p:spPr>
        <p:txBody>
          <a:bodyPr>
            <a:normAutofit/>
          </a:bodyPr>
          <a:lstStyle>
            <a:lvl1pPr>
              <a:lnSpc>
                <a:spcPct val="100000"/>
              </a:lnSpc>
              <a:defRPr sz="2800">
                <a:solidFill>
                  <a:srgbClr val="616163"/>
                </a:solidFill>
                <a:latin typeface="微软雅黑" panose="020B0503020204020204" pitchFamily="34" charset="-122"/>
                <a:ea typeface="微软雅黑" panose="020B0503020204020204" pitchFamily="34" charset="-122"/>
              </a:defRPr>
            </a:lvl1pPr>
            <a:lvl2pPr>
              <a:lnSpc>
                <a:spcPct val="100000"/>
              </a:lnSpc>
              <a:defRPr sz="2400">
                <a:solidFill>
                  <a:srgbClr val="616163"/>
                </a:solidFill>
                <a:latin typeface="微软雅黑" panose="020B0503020204020204" pitchFamily="34" charset="-122"/>
                <a:ea typeface="微软雅黑" panose="020B0503020204020204" pitchFamily="34" charset="-122"/>
              </a:defRPr>
            </a:lvl2pPr>
            <a:lvl3pPr>
              <a:lnSpc>
                <a:spcPct val="100000"/>
              </a:lnSpc>
              <a:defRPr sz="2000">
                <a:solidFill>
                  <a:srgbClr val="616163"/>
                </a:solidFill>
                <a:latin typeface="微软雅黑" panose="020B0503020204020204" pitchFamily="34" charset="-122"/>
                <a:ea typeface="微软雅黑" panose="020B0503020204020204" pitchFamily="34" charset="-122"/>
              </a:defRPr>
            </a:lvl3pPr>
            <a:lvl4pPr>
              <a:lnSpc>
                <a:spcPct val="100000"/>
              </a:lnSpc>
              <a:defRPr sz="1800">
                <a:solidFill>
                  <a:srgbClr val="616163"/>
                </a:solidFill>
                <a:latin typeface="微软雅黑" panose="020B0503020204020204" pitchFamily="34" charset="-122"/>
                <a:ea typeface="微软雅黑" panose="020B0503020204020204" pitchFamily="34" charset="-122"/>
              </a:defRPr>
            </a:lvl4pPr>
            <a:lvl5pPr>
              <a:lnSpc>
                <a:spcPct val="100000"/>
              </a:lnSpc>
              <a:defRPr sz="1800">
                <a:solidFill>
                  <a:srgbClr val="616163"/>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14" name="Title 1"/>
          <p:cNvSpPr>
            <a:spLocks noGrp="1"/>
          </p:cNvSpPr>
          <p:nvPr>
            <p:ph type="title"/>
          </p:nvPr>
        </p:nvSpPr>
        <p:spPr>
          <a:xfrm>
            <a:off x="608520" y="208314"/>
            <a:ext cx="8187896" cy="414317"/>
          </a:xfrm>
          <a:prstGeom prst="rect">
            <a:avLst/>
          </a:prstGeom>
        </p:spPr>
        <p:txBody>
          <a:bodyPr anchor="ctr">
            <a:noAutofit/>
          </a:bodyPr>
          <a:lstStyle>
            <a:lvl1pPr>
              <a:lnSpc>
                <a:spcPct val="100000"/>
              </a:lnSpc>
              <a:defRPr sz="3200">
                <a:solidFill>
                  <a:srgbClr val="616163"/>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15" name="Content Placeholder 2"/>
          <p:cNvSpPr>
            <a:spLocks noGrp="1"/>
          </p:cNvSpPr>
          <p:nvPr>
            <p:ph sz="half" idx="10"/>
          </p:nvPr>
        </p:nvSpPr>
        <p:spPr>
          <a:xfrm>
            <a:off x="608520" y="656093"/>
            <a:ext cx="8173261" cy="321686"/>
          </a:xfrm>
          <a:prstGeom prst="rect">
            <a:avLst/>
          </a:prstGeom>
        </p:spPr>
        <p:txBody>
          <a:bodyPr anchor="ctr">
            <a:noAutofit/>
          </a:bodyPr>
          <a:lstStyle>
            <a:lvl1pPr marL="0" indent="0">
              <a:lnSpc>
                <a:spcPct val="100000"/>
              </a:lnSpc>
              <a:buNone/>
              <a:defRPr sz="2400">
                <a:solidFill>
                  <a:srgbClr val="616163"/>
                </a:solidFill>
                <a:latin typeface="微软雅黑" panose="020B0503020204020204" pitchFamily="34" charset="-122"/>
                <a:ea typeface="微软雅黑" panose="020B0503020204020204" pitchFamily="34" charset="-122"/>
              </a:defRPr>
            </a:lvl1pPr>
            <a:lvl2pPr>
              <a:lnSpc>
                <a:spcPct val="100000"/>
              </a:lnSpc>
              <a:defRPr sz="2000">
                <a:solidFill>
                  <a:srgbClr val="616163"/>
                </a:solidFill>
                <a:latin typeface="微软雅黑" panose="020B0503020204020204" pitchFamily="34" charset="-122"/>
                <a:ea typeface="微软雅黑" panose="020B0503020204020204" pitchFamily="34" charset="-122"/>
              </a:defRPr>
            </a:lvl2pPr>
            <a:lvl3pPr>
              <a:lnSpc>
                <a:spcPct val="100000"/>
              </a:lnSpc>
              <a:defRPr sz="1800">
                <a:solidFill>
                  <a:srgbClr val="616163"/>
                </a:solidFill>
                <a:latin typeface="微软雅黑" panose="020B0503020204020204" pitchFamily="34" charset="-122"/>
                <a:ea typeface="微软雅黑" panose="020B0503020204020204" pitchFamily="34" charset="-122"/>
              </a:defRPr>
            </a:lvl3pPr>
            <a:lvl4pPr>
              <a:lnSpc>
                <a:spcPct val="100000"/>
              </a:lnSpc>
              <a:defRPr sz="1600">
                <a:solidFill>
                  <a:srgbClr val="616163"/>
                </a:solidFill>
                <a:latin typeface="微软雅黑" panose="020B0503020204020204" pitchFamily="34" charset="-122"/>
                <a:ea typeface="微软雅黑" panose="020B0503020204020204" pitchFamily="34" charset="-122"/>
              </a:defRPr>
            </a:lvl4pPr>
            <a:lvl5pPr>
              <a:lnSpc>
                <a:spcPct val="100000"/>
              </a:lnSpc>
              <a:defRPr sz="1600">
                <a:solidFill>
                  <a:srgbClr val="616163"/>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p:txBody>
      </p:sp>
      <p:sp>
        <p:nvSpPr>
          <p:cNvPr id="16" name="Content Placeholder 2"/>
          <p:cNvSpPr>
            <a:spLocks noGrp="1"/>
          </p:cNvSpPr>
          <p:nvPr>
            <p:ph sz="half" idx="11"/>
          </p:nvPr>
        </p:nvSpPr>
        <p:spPr>
          <a:xfrm>
            <a:off x="6111249" y="1273628"/>
            <a:ext cx="5387705" cy="4792435"/>
          </a:xfrm>
        </p:spPr>
        <p:txBody>
          <a:bodyPr>
            <a:normAutofit/>
          </a:bodyPr>
          <a:lstStyle>
            <a:lvl1pPr>
              <a:lnSpc>
                <a:spcPct val="100000"/>
              </a:lnSpc>
              <a:defRPr sz="2800">
                <a:solidFill>
                  <a:srgbClr val="616163"/>
                </a:solidFill>
                <a:latin typeface="微软雅黑" panose="020B0503020204020204" pitchFamily="34" charset="-122"/>
                <a:ea typeface="微软雅黑" panose="020B0503020204020204" pitchFamily="34" charset="-122"/>
              </a:defRPr>
            </a:lvl1pPr>
            <a:lvl2pPr>
              <a:lnSpc>
                <a:spcPct val="100000"/>
              </a:lnSpc>
              <a:defRPr sz="2400">
                <a:solidFill>
                  <a:srgbClr val="616163"/>
                </a:solidFill>
                <a:latin typeface="微软雅黑" panose="020B0503020204020204" pitchFamily="34" charset="-122"/>
                <a:ea typeface="微软雅黑" panose="020B0503020204020204" pitchFamily="34" charset="-122"/>
              </a:defRPr>
            </a:lvl2pPr>
            <a:lvl3pPr>
              <a:lnSpc>
                <a:spcPct val="100000"/>
              </a:lnSpc>
              <a:defRPr sz="2000">
                <a:solidFill>
                  <a:srgbClr val="616163"/>
                </a:solidFill>
                <a:latin typeface="微软雅黑" panose="020B0503020204020204" pitchFamily="34" charset="-122"/>
                <a:ea typeface="微软雅黑" panose="020B0503020204020204" pitchFamily="34" charset="-122"/>
              </a:defRPr>
            </a:lvl3pPr>
            <a:lvl4pPr>
              <a:lnSpc>
                <a:spcPct val="100000"/>
              </a:lnSpc>
              <a:defRPr sz="1800">
                <a:solidFill>
                  <a:srgbClr val="616163"/>
                </a:solidFill>
                <a:latin typeface="微软雅黑" panose="020B0503020204020204" pitchFamily="34" charset="-122"/>
                <a:ea typeface="微软雅黑" panose="020B0503020204020204" pitchFamily="34" charset="-122"/>
              </a:defRPr>
            </a:lvl4pPr>
            <a:lvl5pPr>
              <a:lnSpc>
                <a:spcPct val="100000"/>
              </a:lnSpc>
              <a:defRPr sz="1800">
                <a:solidFill>
                  <a:srgbClr val="616163"/>
                </a:solidFill>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17" name="Slide Number Placeholder 1"/>
          <p:cNvSpPr txBox="1">
            <a:spLocks/>
          </p:cNvSpPr>
          <p:nvPr userDrawn="1"/>
        </p:nvSpPr>
        <p:spPr>
          <a:xfrm>
            <a:off x="9473292" y="6625817"/>
            <a:ext cx="2133600" cy="208142"/>
          </a:xfrm>
          <a:prstGeom prst="rect">
            <a:avLst/>
          </a:prstGeom>
        </p:spPr>
        <p:txBody>
          <a:bodyPr/>
          <a:lstStyle>
            <a:defPPr>
              <a:defRPr lang="zh-CN"/>
            </a:defPPr>
            <a:lvl1pPr marL="0" algn="r" defTabSz="914400" rtl="0" eaLnBrk="1" latinLnBrk="0" hangingPunct="1">
              <a:defRPr sz="1200" b="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
            </a:r>
            <a:r>
              <a:rPr lang="en-US" altLang="zh-CN"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age  </a:t>
            </a:r>
            <a:fld id="{EE43992F-D7C3-4F00-A94C-EF7AC265FCDF}" type="slidenum">
              <a:rPr lang="en-US" sz="90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pPr algn="r"/>
              <a:t>‹#›</a:t>
            </a:fld>
            <a:r>
              <a:rPr lang="en-US" sz="900" baseline="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sz="900" dirty="0" smtClean="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rPr>
              <a:t>PATAC Confidential</a:t>
            </a:r>
            <a:endParaRPr lang="en-US" sz="900" dirty="0">
              <a:solidFill>
                <a:schemeClr val="bg1">
                  <a:lumMod val="50000"/>
                </a:schemeClr>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1218778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两栏内容">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5" name="Title 1"/>
          <p:cNvSpPr>
            <a:spLocks noGrp="1"/>
          </p:cNvSpPr>
          <p:nvPr>
            <p:ph type="title"/>
          </p:nvPr>
        </p:nvSpPr>
        <p:spPr>
          <a:xfrm>
            <a:off x="0" y="2915301"/>
            <a:ext cx="12192000" cy="1027398"/>
          </a:xfrm>
          <a:prstGeom prst="rect">
            <a:avLst/>
          </a:prstGeom>
        </p:spPr>
        <p:txBody>
          <a:bodyPr anchor="ctr">
            <a:noAutofit/>
          </a:bodyPr>
          <a:lstStyle>
            <a:lvl1pPr algn="ctr">
              <a:lnSpc>
                <a:spcPct val="100000"/>
              </a:lnSpc>
              <a:defRPr sz="5400" b="1">
                <a:solidFill>
                  <a:srgbClr val="616163"/>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Tree>
    <p:extLst>
      <p:ext uri="{BB962C8B-B14F-4D97-AF65-F5344CB8AC3E}">
        <p14:creationId xmlns:p14="http://schemas.microsoft.com/office/powerpoint/2010/main" val="9896905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33F572-7296-44CA-B8CF-8C259B54199B}" type="datetimeFigureOut">
              <a:rPr lang="zh-CN" altLang="en-US" smtClean="0"/>
              <a:t>2018/12/19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495F81-0E1E-4C52-979B-3B851EB8B816}" type="slidenum">
              <a:rPr lang="zh-CN" altLang="en-US" smtClean="0"/>
              <a:t>‹#›</a:t>
            </a:fld>
            <a:endParaRPr lang="zh-CN" altLang="en-US"/>
          </a:p>
        </p:txBody>
      </p:sp>
    </p:spTree>
    <p:extLst>
      <p:ext uri="{BB962C8B-B14F-4D97-AF65-F5344CB8AC3E}">
        <p14:creationId xmlns:p14="http://schemas.microsoft.com/office/powerpoint/2010/main" val="21867166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4947558" y="3075508"/>
            <a:ext cx="6884778" cy="562737"/>
          </a:xfrm>
        </p:spPr>
        <p:txBody>
          <a:bodyPr/>
          <a:lstStyle/>
          <a:p>
            <a:r>
              <a:rPr lang="en-US" altLang="zh-CN" dirty="0" smtClean="0"/>
              <a:t>Automotive Ethernet IPv6 Review</a:t>
            </a:r>
            <a:endParaRPr lang="zh-CN" altLang="en-US" dirty="0"/>
          </a:p>
        </p:txBody>
      </p:sp>
      <p:sp>
        <p:nvSpPr>
          <p:cNvPr id="3" name="标题 2"/>
          <p:cNvSpPr>
            <a:spLocks noGrp="1"/>
          </p:cNvSpPr>
          <p:nvPr>
            <p:ph type="ctrTitle"/>
          </p:nvPr>
        </p:nvSpPr>
        <p:spPr/>
        <p:txBody>
          <a:bodyPr/>
          <a:lstStyle/>
          <a:p>
            <a:r>
              <a:rPr lang="zh-CN" altLang="en-US" dirty="0"/>
              <a:t>车载以太网</a:t>
            </a:r>
            <a:r>
              <a:rPr lang="en-US" altLang="zh-CN" dirty="0"/>
              <a:t>IPv6</a:t>
            </a:r>
            <a:r>
              <a:rPr lang="zh-CN" altLang="en-US" dirty="0"/>
              <a:t>协议规范总结</a:t>
            </a:r>
          </a:p>
        </p:txBody>
      </p:sp>
      <p:sp>
        <p:nvSpPr>
          <p:cNvPr id="4" name="文本占位符 3"/>
          <p:cNvSpPr>
            <a:spLocks noGrp="1"/>
          </p:cNvSpPr>
          <p:nvPr>
            <p:ph type="body" sz="quarter" idx="13"/>
          </p:nvPr>
        </p:nvSpPr>
        <p:spPr/>
        <p:txBody>
          <a:bodyPr/>
          <a:lstStyle/>
          <a:p>
            <a:r>
              <a:rPr lang="en-US" altLang="zh-CN" dirty="0" smtClean="0"/>
              <a:t>2018-11-11</a:t>
            </a:r>
            <a:endParaRPr lang="zh-CN" altLang="en-US" dirty="0"/>
          </a:p>
        </p:txBody>
      </p:sp>
    </p:spTree>
    <p:extLst>
      <p:ext uri="{BB962C8B-B14F-4D97-AF65-F5344CB8AC3E}">
        <p14:creationId xmlns:p14="http://schemas.microsoft.com/office/powerpoint/2010/main" val="31753092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版本信息</a:t>
            </a:r>
            <a:endParaRPr lang="zh-CN" altLang="en-US" dirty="0"/>
          </a:p>
        </p:txBody>
      </p:sp>
      <p:sp>
        <p:nvSpPr>
          <p:cNvPr id="4" name="内容占位符 3"/>
          <p:cNvSpPr>
            <a:spLocks noGrp="1"/>
          </p:cNvSpPr>
          <p:nvPr>
            <p:ph sz="half" idx="10"/>
          </p:nvPr>
        </p:nvSpPr>
        <p:spPr/>
        <p:txBody>
          <a:bodyPr/>
          <a:lstStyle/>
          <a:p>
            <a:r>
              <a:rPr lang="en-US" altLang="zh-CN" dirty="0" smtClean="0"/>
              <a:t>Version Information</a:t>
            </a:r>
            <a:endParaRPr lang="zh-CN" altLang="en-US" dirty="0"/>
          </a:p>
        </p:txBody>
      </p:sp>
      <p:graphicFrame>
        <p:nvGraphicFramePr>
          <p:cNvPr id="6" name="Table 5"/>
          <p:cNvGraphicFramePr>
            <a:graphicFrameLocks noGrp="1"/>
          </p:cNvGraphicFramePr>
          <p:nvPr>
            <p:extLst>
              <p:ext uri="{D42A27DB-BD31-4B8C-83A1-F6EECF244321}">
                <p14:modId xmlns:p14="http://schemas.microsoft.com/office/powerpoint/2010/main" val="3423291895"/>
              </p:ext>
            </p:extLst>
          </p:nvPr>
        </p:nvGraphicFramePr>
        <p:xfrm>
          <a:off x="1626388" y="1480061"/>
          <a:ext cx="8820000" cy="1112520"/>
        </p:xfrm>
        <a:graphic>
          <a:graphicData uri="http://schemas.openxmlformats.org/drawingml/2006/table">
            <a:tbl>
              <a:tblPr firstRow="1" bandRow="1">
                <a:tableStyleId>{5940675A-B579-460E-94D1-54222C63F5DA}</a:tableStyleId>
              </a:tblPr>
              <a:tblGrid>
                <a:gridCol w="900000">
                  <a:extLst>
                    <a:ext uri="{9D8B030D-6E8A-4147-A177-3AD203B41FA5}">
                      <a16:colId xmlns:a16="http://schemas.microsoft.com/office/drawing/2014/main" val="2234176543"/>
                    </a:ext>
                  </a:extLst>
                </a:gridCol>
                <a:gridCol w="5400000">
                  <a:extLst>
                    <a:ext uri="{9D8B030D-6E8A-4147-A177-3AD203B41FA5}">
                      <a16:colId xmlns:a16="http://schemas.microsoft.com/office/drawing/2014/main" val="1646352104"/>
                    </a:ext>
                  </a:extLst>
                </a:gridCol>
                <a:gridCol w="1440000">
                  <a:extLst>
                    <a:ext uri="{9D8B030D-6E8A-4147-A177-3AD203B41FA5}">
                      <a16:colId xmlns:a16="http://schemas.microsoft.com/office/drawing/2014/main" val="2843758729"/>
                    </a:ext>
                  </a:extLst>
                </a:gridCol>
                <a:gridCol w="1080000">
                  <a:extLst>
                    <a:ext uri="{9D8B030D-6E8A-4147-A177-3AD203B41FA5}">
                      <a16:colId xmlns:a16="http://schemas.microsoft.com/office/drawing/2014/main" val="1161352702"/>
                    </a:ext>
                  </a:extLst>
                </a:gridCol>
              </a:tblGrid>
              <a:tr h="370840">
                <a:tc>
                  <a:txBody>
                    <a:bodyPr/>
                    <a:lstStyle/>
                    <a:p>
                      <a:pPr algn="ctr"/>
                      <a:r>
                        <a:rPr lang="zh-CN" altLang="en-US" sz="1600" b="1" dirty="0" smtClean="0"/>
                        <a:t>版本号</a:t>
                      </a:r>
                      <a:endParaRPr lang="zh-CN" altLang="en-US" sz="1600" b="1" dirty="0"/>
                    </a:p>
                  </a:txBody>
                  <a:tcPr>
                    <a:lnR w="12700" cap="flat" cmpd="sng" algn="ctr">
                      <a:solidFill>
                        <a:schemeClr val="tx1"/>
                      </a:solidFill>
                      <a:prstDash val="solid"/>
                      <a:round/>
                      <a:headEnd type="none" w="med" len="med"/>
                      <a:tailEnd type="none" w="med" len="med"/>
                    </a:lnR>
                  </a:tcPr>
                </a:tc>
                <a:tc>
                  <a:txBody>
                    <a:bodyPr/>
                    <a:lstStyle/>
                    <a:p>
                      <a:pPr algn="ctr"/>
                      <a:r>
                        <a:rPr lang="zh-CN" altLang="en-US" sz="1600" b="1" dirty="0" smtClean="0"/>
                        <a:t>更新内容</a:t>
                      </a:r>
                      <a:endParaRPr lang="zh-CN" alt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1600" b="1" dirty="0" smtClean="0"/>
                        <a:t>修改时间</a:t>
                      </a:r>
                      <a:endParaRPr lang="zh-CN" alt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zh-CN" altLang="en-US" sz="1600" b="1" dirty="0" smtClean="0"/>
                        <a:t>修改人</a:t>
                      </a:r>
                      <a:endParaRPr lang="zh-CN" altLang="en-US" sz="1600" b="1"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995578043"/>
                  </a:ext>
                </a:extLst>
              </a:tr>
              <a:tr h="370840">
                <a:tc>
                  <a:txBody>
                    <a:bodyPr/>
                    <a:lstStyle/>
                    <a:p>
                      <a:pPr algn="ctr"/>
                      <a:r>
                        <a:rPr lang="en-US" altLang="zh-CN" sz="1600" dirty="0" smtClean="0"/>
                        <a:t>V0.0.0</a:t>
                      </a:r>
                      <a:endParaRPr lang="zh-CN" altLang="en-US" sz="1600" dirty="0"/>
                    </a:p>
                  </a:txBody>
                  <a:tcPr>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smtClean="0">
                          <a:ln>
                            <a:noFill/>
                          </a:ln>
                          <a:solidFill>
                            <a:prstClr val="black"/>
                          </a:solidFill>
                          <a:effectLst/>
                          <a:uLnTx/>
                          <a:uFillTx/>
                          <a:latin typeface="+mn-lt"/>
                          <a:ea typeface="+mn-ea"/>
                          <a:cs typeface="+mn-cs"/>
                        </a:rPr>
                        <a:t>释放初版车载以太网</a:t>
                      </a:r>
                      <a:r>
                        <a:rPr kumimoji="0" lang="en-US" altLang="zh-CN" sz="1600" b="0" i="0" u="none" strike="noStrike" kern="1200" cap="none" spc="0" normalizeH="0" baseline="0" noProof="0" dirty="0" smtClean="0">
                          <a:ln>
                            <a:noFill/>
                          </a:ln>
                          <a:solidFill>
                            <a:prstClr val="black"/>
                          </a:solidFill>
                          <a:effectLst/>
                          <a:uLnTx/>
                          <a:uFillTx/>
                          <a:latin typeface="+mn-lt"/>
                          <a:ea typeface="+mn-ea"/>
                          <a:cs typeface="+mn-cs"/>
                        </a:rPr>
                        <a:t>IPv6</a:t>
                      </a:r>
                      <a:r>
                        <a:rPr kumimoji="0" lang="zh-CN" altLang="en-US" sz="1600" b="0" i="0" u="none" strike="noStrike" kern="1200" cap="none" spc="0" normalizeH="0" baseline="0" noProof="0" dirty="0" smtClean="0">
                          <a:ln>
                            <a:noFill/>
                          </a:ln>
                          <a:solidFill>
                            <a:prstClr val="black"/>
                          </a:solidFill>
                          <a:effectLst/>
                          <a:uLnTx/>
                          <a:uFillTx/>
                          <a:latin typeface="+mn-lt"/>
                          <a:ea typeface="+mn-ea"/>
                          <a:cs typeface="+mn-cs"/>
                        </a:rPr>
                        <a:t>协议规范总结</a:t>
                      </a:r>
                      <a:endParaRPr kumimoji="0" lang="zh-CN" altLang="en-US" sz="1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smtClean="0"/>
                        <a:t>2018/10/23</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zh-CN" altLang="en-US" sz="1600" dirty="0" smtClean="0"/>
                        <a:t>于钟皓</a:t>
                      </a:r>
                      <a:endParaRPr lang="zh-CN" altLang="en-US" sz="160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545431439"/>
                  </a:ext>
                </a:extLst>
              </a:tr>
              <a:tr h="370840">
                <a:tc>
                  <a:txBody>
                    <a:bodyPr/>
                    <a:lstStyle/>
                    <a:p>
                      <a:pPr algn="ctr"/>
                      <a:r>
                        <a:rPr lang="en-US" altLang="zh-CN" sz="1600" dirty="0" smtClean="0"/>
                        <a:t>V0.1.0</a:t>
                      </a:r>
                      <a:endParaRPr lang="zh-CN" altLang="en-US" sz="1600" dirty="0"/>
                    </a:p>
                  </a:txBody>
                  <a:tcPr>
                    <a:lnR w="12700" cap="flat" cmpd="sng" algn="ctr">
                      <a:solidFill>
                        <a:schemeClr val="tx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增加认证首部、封装安全负载首部相关内容（</a:t>
                      </a:r>
                      <a:r>
                        <a:rPr kumimoji="0" lang="en-US" altLang="zh-CN" sz="16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P27-P32</a:t>
                      </a:r>
                      <a:r>
                        <a:rPr kumimoji="0" lang="zh-CN" altLang="en-US" sz="16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a:t>
                      </a:r>
                      <a:endParaRPr kumimoji="0" lang="zh-CN" altLang="en-US" sz="1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dirty="0" smtClean="0"/>
                        <a:t>2018/11/11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ctr"/>
                      <a:r>
                        <a:rPr lang="zh-CN" altLang="en-US" sz="1600" dirty="0" smtClean="0"/>
                        <a:t>于钟皓</a:t>
                      </a:r>
                      <a:endParaRPr lang="zh-CN" altLang="en-US" sz="1600" dirty="0"/>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64931805"/>
                  </a:ext>
                </a:extLst>
              </a:tr>
            </a:tbl>
          </a:graphicData>
        </a:graphic>
      </p:graphicFrame>
    </p:spTree>
    <p:extLst>
      <p:ext uri="{BB962C8B-B14F-4D97-AF65-F5344CB8AC3E}">
        <p14:creationId xmlns:p14="http://schemas.microsoft.com/office/powerpoint/2010/main" val="9605588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smtClean="0"/>
              <a:t>Overview</a:t>
            </a:r>
            <a:endParaRPr lang="en-US" altLang="zh-CN" dirty="0"/>
          </a:p>
          <a:p>
            <a:r>
              <a:rPr lang="en-US" altLang="zh-CN" dirty="0" smtClean="0"/>
              <a:t>IPv6 Address</a:t>
            </a:r>
          </a:p>
          <a:p>
            <a:r>
              <a:rPr lang="en-US" altLang="zh-CN" dirty="0" smtClean="0"/>
              <a:t>IPv6 Header</a:t>
            </a:r>
          </a:p>
        </p:txBody>
      </p:sp>
      <p:sp>
        <p:nvSpPr>
          <p:cNvPr id="3" name="标题 2"/>
          <p:cNvSpPr>
            <a:spLocks noGrp="1"/>
          </p:cNvSpPr>
          <p:nvPr>
            <p:ph type="title"/>
          </p:nvPr>
        </p:nvSpPr>
        <p:spPr/>
        <p:txBody>
          <a:bodyPr/>
          <a:lstStyle/>
          <a:p>
            <a:r>
              <a:rPr lang="zh-CN" altLang="en-US" dirty="0" smtClean="0"/>
              <a:t>概述</a:t>
            </a:r>
            <a:r>
              <a:rPr lang="en-US" altLang="zh-CN" dirty="0"/>
              <a:t/>
            </a:r>
            <a:br>
              <a:rPr lang="en-US" altLang="zh-CN" dirty="0"/>
            </a:br>
            <a:r>
              <a:rPr lang="en-US" altLang="zh-CN" dirty="0" smtClean="0"/>
              <a:t>IPv6</a:t>
            </a:r>
            <a:r>
              <a:rPr lang="zh-CN" altLang="en-US" dirty="0" smtClean="0"/>
              <a:t>地址</a:t>
            </a:r>
            <a:r>
              <a:rPr lang="en-US" altLang="zh-CN" dirty="0"/>
              <a:t/>
            </a:r>
            <a:br>
              <a:rPr lang="en-US" altLang="zh-CN" dirty="0"/>
            </a:br>
            <a:r>
              <a:rPr lang="en-US" altLang="zh-CN" dirty="0" smtClean="0"/>
              <a:t>IPv6</a:t>
            </a:r>
            <a:r>
              <a:rPr lang="zh-CN" altLang="en-US" dirty="0" smtClean="0"/>
              <a:t>首部</a:t>
            </a:r>
            <a:r>
              <a:rPr lang="en-US" altLang="zh-CN" dirty="0"/>
              <a:t/>
            </a:r>
            <a:br>
              <a:rPr lang="en-US" altLang="zh-CN" dirty="0"/>
            </a:br>
            <a:endParaRPr lang="zh-CN" altLang="en-US" dirty="0"/>
          </a:p>
        </p:txBody>
      </p:sp>
    </p:spTree>
    <p:extLst>
      <p:ext uri="{BB962C8B-B14F-4D97-AF65-F5344CB8AC3E}">
        <p14:creationId xmlns:p14="http://schemas.microsoft.com/office/powerpoint/2010/main" val="42946544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概述</a:t>
            </a:r>
            <a:endParaRPr lang="zh-CN" altLang="en-US" dirty="0"/>
          </a:p>
        </p:txBody>
      </p:sp>
      <p:sp>
        <p:nvSpPr>
          <p:cNvPr id="3" name="副标题 2"/>
          <p:cNvSpPr>
            <a:spLocks noGrp="1"/>
          </p:cNvSpPr>
          <p:nvPr>
            <p:ph type="subTitle" idx="1"/>
          </p:nvPr>
        </p:nvSpPr>
        <p:spPr/>
        <p:txBody>
          <a:bodyPr/>
          <a:lstStyle/>
          <a:p>
            <a:r>
              <a:rPr lang="en-US" altLang="zh-CN" dirty="0" smtClean="0"/>
              <a:t>Overview</a:t>
            </a:r>
            <a:endParaRPr lang="en-US" altLang="zh-CN" dirty="0"/>
          </a:p>
        </p:txBody>
      </p:sp>
    </p:spTree>
    <p:extLst>
      <p:ext uri="{BB962C8B-B14F-4D97-AF65-F5344CB8AC3E}">
        <p14:creationId xmlns:p14="http://schemas.microsoft.com/office/powerpoint/2010/main" val="39619166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1800" dirty="0" smtClean="0"/>
              <a:t>位于</a:t>
            </a:r>
            <a:r>
              <a:rPr lang="en-US" altLang="zh-CN" sz="1800" dirty="0" smtClean="0"/>
              <a:t>OSI</a:t>
            </a:r>
            <a:r>
              <a:rPr lang="zh-CN" altLang="en-US" sz="1800" dirty="0" smtClean="0"/>
              <a:t>七层模型中的网络层，提供尽力而为的，无连接的数据交付服务</a:t>
            </a:r>
            <a:endParaRPr lang="en-US" altLang="zh-CN" sz="1800" dirty="0" smtClean="0"/>
          </a:p>
          <a:p>
            <a:r>
              <a:rPr lang="zh-CN" altLang="en-US" sz="1800" dirty="0" smtClean="0"/>
              <a:t>用于替代</a:t>
            </a:r>
            <a:r>
              <a:rPr lang="en-US" altLang="zh-CN" sz="1800" dirty="0" smtClean="0"/>
              <a:t>IPv4</a:t>
            </a:r>
            <a:r>
              <a:rPr lang="zh-CN" altLang="en-US" sz="1800" dirty="0" smtClean="0"/>
              <a:t>，主要解决其地址空间限制问题</a:t>
            </a:r>
            <a:endParaRPr lang="en-US" altLang="zh-CN" sz="1800" dirty="0" smtClean="0"/>
          </a:p>
          <a:p>
            <a:r>
              <a:rPr lang="zh-CN" altLang="en-US" sz="1800" dirty="0"/>
              <a:t>地址长</a:t>
            </a:r>
            <a:r>
              <a:rPr lang="zh-CN" altLang="en-US" sz="1800" dirty="0" smtClean="0"/>
              <a:t>度为</a:t>
            </a:r>
            <a:r>
              <a:rPr lang="en-US" altLang="zh-CN" sz="1800" dirty="0" smtClean="0"/>
              <a:t>128</a:t>
            </a:r>
            <a:r>
              <a:rPr lang="zh-CN" altLang="en-US" sz="1800" dirty="0" smtClean="0"/>
              <a:t>位，理论上有</a:t>
            </a:r>
            <a:r>
              <a:rPr lang="en-US" altLang="zh-CN" sz="1800" dirty="0" smtClean="0"/>
              <a:t>3.4×10</a:t>
            </a:r>
            <a:r>
              <a:rPr lang="en-US" altLang="zh-CN" sz="1800" baseline="50000" dirty="0" smtClean="0"/>
              <a:t>38</a:t>
            </a:r>
            <a:r>
              <a:rPr lang="zh-CN" altLang="en-US" sz="1800" dirty="0" smtClean="0"/>
              <a:t>个地址</a:t>
            </a:r>
            <a:endParaRPr lang="zh-CN" altLang="en-US" sz="1800" dirty="0"/>
          </a:p>
        </p:txBody>
      </p:sp>
      <p:sp>
        <p:nvSpPr>
          <p:cNvPr id="3" name="标题 2"/>
          <p:cNvSpPr>
            <a:spLocks noGrp="1"/>
          </p:cNvSpPr>
          <p:nvPr>
            <p:ph type="title"/>
          </p:nvPr>
        </p:nvSpPr>
        <p:spPr/>
        <p:txBody>
          <a:bodyPr/>
          <a:lstStyle/>
          <a:p>
            <a:r>
              <a:rPr lang="zh-CN" altLang="en-US" dirty="0"/>
              <a:t>概述</a:t>
            </a:r>
          </a:p>
        </p:txBody>
      </p:sp>
      <p:sp>
        <p:nvSpPr>
          <p:cNvPr id="4" name="内容占位符 3"/>
          <p:cNvSpPr>
            <a:spLocks noGrp="1"/>
          </p:cNvSpPr>
          <p:nvPr>
            <p:ph sz="half" idx="10"/>
          </p:nvPr>
        </p:nvSpPr>
        <p:spPr/>
        <p:txBody>
          <a:bodyPr/>
          <a:lstStyle/>
          <a:p>
            <a:r>
              <a:rPr lang="en-US" altLang="zh-CN" dirty="0" smtClean="0"/>
              <a:t>Overview</a:t>
            </a:r>
            <a:endParaRPr lang="zh-CN" altLang="en-US" dirty="0"/>
          </a:p>
        </p:txBody>
      </p:sp>
      <p:graphicFrame>
        <p:nvGraphicFramePr>
          <p:cNvPr id="6" name="Table 5"/>
          <p:cNvGraphicFramePr>
            <a:graphicFrameLocks noGrp="1"/>
          </p:cNvGraphicFramePr>
          <p:nvPr>
            <p:extLst>
              <p:ext uri="{D42A27DB-BD31-4B8C-83A1-F6EECF244321}">
                <p14:modId xmlns:p14="http://schemas.microsoft.com/office/powerpoint/2010/main" val="2037793842"/>
              </p:ext>
            </p:extLst>
          </p:nvPr>
        </p:nvGraphicFramePr>
        <p:xfrm>
          <a:off x="3002802" y="3462866"/>
          <a:ext cx="6120000" cy="1854200"/>
        </p:xfrm>
        <a:graphic>
          <a:graphicData uri="http://schemas.openxmlformats.org/drawingml/2006/table">
            <a:tbl>
              <a:tblPr firstRow="1" bandRow="1">
                <a:tableStyleId>{5940675A-B579-460E-94D1-54222C63F5DA}</a:tableStyleId>
              </a:tblPr>
              <a:tblGrid>
                <a:gridCol w="1440000">
                  <a:extLst>
                    <a:ext uri="{9D8B030D-6E8A-4147-A177-3AD203B41FA5}">
                      <a16:colId xmlns:a16="http://schemas.microsoft.com/office/drawing/2014/main" val="2234176543"/>
                    </a:ext>
                  </a:extLst>
                </a:gridCol>
                <a:gridCol w="1080000">
                  <a:extLst>
                    <a:ext uri="{9D8B030D-6E8A-4147-A177-3AD203B41FA5}">
                      <a16:colId xmlns:a16="http://schemas.microsoft.com/office/drawing/2014/main" val="1646352104"/>
                    </a:ext>
                  </a:extLst>
                </a:gridCol>
                <a:gridCol w="3600000">
                  <a:extLst>
                    <a:ext uri="{9D8B030D-6E8A-4147-A177-3AD203B41FA5}">
                      <a16:colId xmlns:a16="http://schemas.microsoft.com/office/drawing/2014/main" val="2843758729"/>
                    </a:ext>
                  </a:extLst>
                </a:gridCol>
              </a:tblGrid>
              <a:tr h="370840">
                <a:tc>
                  <a:txBody>
                    <a:bodyPr/>
                    <a:lstStyle/>
                    <a:p>
                      <a:pPr algn="ctr"/>
                      <a:r>
                        <a:rPr lang="en-US" altLang="zh-CN" dirty="0" smtClean="0"/>
                        <a:t>Application</a:t>
                      </a:r>
                      <a:endParaRPr lang="zh-CN" altLang="en-US" dirty="0"/>
                    </a:p>
                  </a:txBody>
                  <a:tcPr/>
                </a:tc>
                <a:tc>
                  <a:txBody>
                    <a:bodyPr/>
                    <a:lstStyle/>
                    <a:p>
                      <a:pPr algn="ctr"/>
                      <a:r>
                        <a:rPr lang="en-US" altLang="zh-CN" dirty="0" smtClean="0"/>
                        <a:t>——</a:t>
                      </a:r>
                      <a:endParaRPr lang="zh-CN" altLang="en-US" dirty="0"/>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dirty="0" smtClean="0"/>
                        <a:t>Application</a:t>
                      </a:r>
                      <a:endParaRPr lang="zh-CN" altLang="en-US" dirty="0"/>
                    </a:p>
                  </a:txBody>
                  <a:tcPr/>
                </a:tc>
                <a:extLst>
                  <a:ext uri="{0D108BD9-81ED-4DB2-BD59-A6C34878D82A}">
                    <a16:rowId xmlns:a16="http://schemas.microsoft.com/office/drawing/2014/main" val="995578043"/>
                  </a:ext>
                </a:extLst>
              </a:tr>
              <a:tr h="370840">
                <a:tc>
                  <a:txBody>
                    <a:bodyPr/>
                    <a:lstStyle/>
                    <a:p>
                      <a:pPr algn="ctr"/>
                      <a:r>
                        <a:rPr lang="en-US" altLang="zh-CN" dirty="0" smtClean="0"/>
                        <a:t>Transport</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dirty="0" smtClean="0"/>
                        <a:t>TCP&amp;UDP</a:t>
                      </a:r>
                      <a:endParaRPr lang="zh-CN" altLang="en-US" dirty="0"/>
                    </a:p>
                  </a:txBody>
                  <a:tcPr/>
                </a:tc>
                <a:extLst>
                  <a:ext uri="{0D108BD9-81ED-4DB2-BD59-A6C34878D82A}">
                    <a16:rowId xmlns:a16="http://schemas.microsoft.com/office/drawing/2014/main" val="2545431439"/>
                  </a:ext>
                </a:extLst>
              </a:tr>
              <a:tr h="370840">
                <a:tc>
                  <a:txBody>
                    <a:bodyPr/>
                    <a:lstStyle/>
                    <a:p>
                      <a:pPr algn="ctr"/>
                      <a:r>
                        <a:rPr lang="en-US" altLang="zh-CN" dirty="0" smtClean="0"/>
                        <a:t>Internet</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dirty="0" smtClean="0"/>
                        <a:t>IPv6 + ICMPv6 + NDP + DHCPv6</a:t>
                      </a:r>
                      <a:endParaRPr lang="zh-CN" altLang="en-US" dirty="0"/>
                    </a:p>
                  </a:txBody>
                  <a:tcPr/>
                </a:tc>
                <a:extLst>
                  <a:ext uri="{0D108BD9-81ED-4DB2-BD59-A6C34878D82A}">
                    <a16:rowId xmlns:a16="http://schemas.microsoft.com/office/drawing/2014/main" val="64931805"/>
                  </a:ext>
                </a:extLst>
              </a:tr>
              <a:tr h="370840">
                <a:tc>
                  <a:txBody>
                    <a:bodyPr/>
                    <a:lstStyle/>
                    <a:p>
                      <a:pPr algn="ctr"/>
                      <a:r>
                        <a:rPr lang="en-US" altLang="zh-CN" dirty="0" err="1" smtClean="0"/>
                        <a:t>DataLink</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dirty="0" smtClean="0"/>
                        <a:t>Ethernet</a:t>
                      </a:r>
                      <a:endParaRPr lang="zh-CN" altLang="en-US" dirty="0"/>
                    </a:p>
                  </a:txBody>
                  <a:tcPr/>
                </a:tc>
                <a:extLst>
                  <a:ext uri="{0D108BD9-81ED-4DB2-BD59-A6C34878D82A}">
                    <a16:rowId xmlns:a16="http://schemas.microsoft.com/office/drawing/2014/main" val="1873399876"/>
                  </a:ext>
                </a:extLst>
              </a:tr>
              <a:tr h="370840">
                <a:tc>
                  <a:txBody>
                    <a:bodyPr/>
                    <a:lstStyle/>
                    <a:p>
                      <a:pPr algn="ctr"/>
                      <a:r>
                        <a:rPr lang="en-US" altLang="zh-CN" dirty="0" smtClean="0"/>
                        <a:t>PHY</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a:t>
                      </a:r>
                      <a:endParaRPr kumimoji="0" lang="zh-CN" altLang="en-US" sz="18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txBody>
                  <a:tcP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r>
                        <a:rPr lang="en-US" altLang="zh-CN" dirty="0" smtClean="0"/>
                        <a:t>PHY</a:t>
                      </a:r>
                      <a:endParaRPr lang="zh-CN" altLang="en-US" dirty="0"/>
                    </a:p>
                  </a:txBody>
                  <a:tcPr/>
                </a:tc>
                <a:extLst>
                  <a:ext uri="{0D108BD9-81ED-4DB2-BD59-A6C34878D82A}">
                    <a16:rowId xmlns:a16="http://schemas.microsoft.com/office/drawing/2014/main" val="2400928566"/>
                  </a:ext>
                </a:extLst>
              </a:tr>
            </a:tbl>
          </a:graphicData>
        </a:graphic>
      </p:graphicFrame>
    </p:spTree>
    <p:extLst>
      <p:ext uri="{BB962C8B-B14F-4D97-AF65-F5344CB8AC3E}">
        <p14:creationId xmlns:p14="http://schemas.microsoft.com/office/powerpoint/2010/main" val="23115783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IPv6</a:t>
            </a:r>
            <a:r>
              <a:rPr lang="zh-CN" altLang="en-US" dirty="0"/>
              <a:t>地</a:t>
            </a:r>
            <a:r>
              <a:rPr lang="zh-CN" altLang="en-US" dirty="0" smtClean="0"/>
              <a:t>址</a:t>
            </a:r>
            <a:endParaRPr lang="zh-CN" altLang="en-US" dirty="0"/>
          </a:p>
        </p:txBody>
      </p:sp>
      <p:sp>
        <p:nvSpPr>
          <p:cNvPr id="3" name="副标题 2"/>
          <p:cNvSpPr>
            <a:spLocks noGrp="1"/>
          </p:cNvSpPr>
          <p:nvPr>
            <p:ph type="subTitle" idx="1"/>
          </p:nvPr>
        </p:nvSpPr>
        <p:spPr/>
        <p:txBody>
          <a:bodyPr/>
          <a:lstStyle/>
          <a:p>
            <a:r>
              <a:rPr lang="en-US" altLang="zh-CN" dirty="0"/>
              <a:t>IPv6 Address</a:t>
            </a:r>
          </a:p>
        </p:txBody>
      </p:sp>
    </p:spTree>
    <p:extLst>
      <p:ext uri="{BB962C8B-B14F-4D97-AF65-F5344CB8AC3E}">
        <p14:creationId xmlns:p14="http://schemas.microsoft.com/office/powerpoint/2010/main" val="42819610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2000" b="1" dirty="0" smtClean="0"/>
              <a:t>地址</a:t>
            </a:r>
            <a:r>
              <a:rPr lang="zh-CN" altLang="en-US" sz="2000" b="1" dirty="0"/>
              <a:t>表示</a:t>
            </a:r>
            <a:endParaRPr lang="en-US" altLang="zh-CN" sz="2000" b="1" dirty="0" smtClean="0"/>
          </a:p>
          <a:p>
            <a:pPr lvl="1"/>
            <a:r>
              <a:rPr lang="zh-CN" altLang="en-US" sz="1600" dirty="0" smtClean="0"/>
              <a:t>地址长度为</a:t>
            </a:r>
            <a:r>
              <a:rPr lang="en-US" altLang="zh-CN" sz="1600" dirty="0" smtClean="0"/>
              <a:t>128</a:t>
            </a:r>
            <a:r>
              <a:rPr lang="zh-CN" altLang="en-US" sz="1600" dirty="0" smtClean="0"/>
              <a:t>位，用</a:t>
            </a:r>
            <a:r>
              <a:rPr lang="en-US" altLang="zh-CN" sz="1600" dirty="0" smtClean="0"/>
              <a:t>:</a:t>
            </a:r>
            <a:r>
              <a:rPr lang="zh-CN" altLang="en-US" sz="1600" dirty="0" smtClean="0"/>
              <a:t>分为</a:t>
            </a:r>
            <a:r>
              <a:rPr lang="en-US" altLang="zh-CN" sz="1600" dirty="0" smtClean="0"/>
              <a:t>8</a:t>
            </a:r>
            <a:r>
              <a:rPr lang="zh-CN" altLang="en-US" sz="1600" dirty="0" smtClean="0"/>
              <a:t>块，每块由</a:t>
            </a:r>
            <a:r>
              <a:rPr lang="en-US" altLang="zh-CN" sz="1600" dirty="0" smtClean="0"/>
              <a:t>4</a:t>
            </a:r>
            <a:r>
              <a:rPr lang="zh-CN" altLang="en-US" sz="1600" dirty="0" smtClean="0"/>
              <a:t>位</a:t>
            </a:r>
            <a:r>
              <a:rPr lang="en-US" altLang="zh-CN" sz="1600" dirty="0" smtClean="0"/>
              <a:t>16</a:t>
            </a:r>
            <a:r>
              <a:rPr lang="zh-CN" altLang="en-US" sz="1600" dirty="0" smtClean="0"/>
              <a:t>进制数表示（</a:t>
            </a:r>
            <a:r>
              <a:rPr lang="en-US" altLang="zh-CN" sz="1600" dirty="0" smtClean="0"/>
              <a:t>a-f</a:t>
            </a:r>
            <a:r>
              <a:rPr lang="zh-CN" altLang="en-US" sz="1600" dirty="0" smtClean="0"/>
              <a:t>用小写）</a:t>
            </a:r>
            <a:endParaRPr lang="en-US" altLang="zh-CN" sz="1600" dirty="0" smtClean="0"/>
          </a:p>
          <a:p>
            <a:pPr lvl="1"/>
            <a:r>
              <a:rPr lang="zh-CN" altLang="en-US" sz="1600" dirty="0" smtClean="0"/>
              <a:t>一个块中，前导的</a:t>
            </a:r>
            <a:r>
              <a:rPr lang="en-US" altLang="zh-CN" sz="1600" dirty="0" smtClean="0"/>
              <a:t>0</a:t>
            </a:r>
            <a:r>
              <a:rPr lang="zh-CN" altLang="en-US" sz="1600" dirty="0"/>
              <a:t>必</a:t>
            </a:r>
            <a:r>
              <a:rPr lang="zh-CN" altLang="en-US" sz="1600" dirty="0" smtClean="0"/>
              <a:t>须压缩</a:t>
            </a:r>
            <a:endParaRPr lang="en-US" altLang="zh-CN" sz="1600" dirty="0" smtClean="0"/>
          </a:p>
          <a:p>
            <a:pPr lvl="1"/>
            <a:r>
              <a:rPr lang="zh-CN" altLang="en-US" sz="1600" dirty="0" smtClean="0"/>
              <a:t>用</a:t>
            </a:r>
            <a:r>
              <a:rPr lang="en-US" altLang="zh-CN" sz="1600" dirty="0" smtClean="0"/>
              <a:t>::</a:t>
            </a:r>
            <a:r>
              <a:rPr lang="zh-CN" altLang="en-US" sz="1600" dirty="0" smtClean="0"/>
              <a:t>代替连续的全</a:t>
            </a:r>
            <a:r>
              <a:rPr lang="en-US" altLang="zh-CN" sz="1600" dirty="0" smtClean="0"/>
              <a:t>0</a:t>
            </a:r>
            <a:r>
              <a:rPr lang="zh-CN" altLang="en-US" sz="1600" dirty="0" smtClean="0"/>
              <a:t>的块，该符号只能使用</a:t>
            </a:r>
            <a:r>
              <a:rPr lang="en-US" altLang="zh-CN" sz="1600" dirty="0" smtClean="0"/>
              <a:t>1</a:t>
            </a:r>
            <a:r>
              <a:rPr lang="zh-CN" altLang="en-US" sz="1600" dirty="0" smtClean="0"/>
              <a:t>次，如果有多个等长的全</a:t>
            </a:r>
            <a:r>
              <a:rPr lang="en-US" altLang="zh-CN" sz="1600" dirty="0" smtClean="0"/>
              <a:t>0</a:t>
            </a:r>
            <a:r>
              <a:rPr lang="zh-CN" altLang="en-US" sz="1600" dirty="0" smtClean="0"/>
              <a:t>的块，替换靠前的部分</a:t>
            </a:r>
            <a:endParaRPr lang="en-US" altLang="zh-CN" sz="1600" dirty="0" smtClean="0"/>
          </a:p>
          <a:p>
            <a:pPr lvl="1"/>
            <a:r>
              <a:rPr lang="zh-CN" altLang="en-US" sz="1600" dirty="0" smtClean="0"/>
              <a:t>在兼容</a:t>
            </a:r>
            <a:r>
              <a:rPr lang="en-US" altLang="zh-CN" sz="1600" dirty="0" smtClean="0"/>
              <a:t>IPv4</a:t>
            </a:r>
            <a:r>
              <a:rPr lang="zh-CN" altLang="en-US" sz="1600" dirty="0" smtClean="0"/>
              <a:t>和</a:t>
            </a:r>
            <a:r>
              <a:rPr lang="en-US" altLang="zh-CN" sz="1600" dirty="0" smtClean="0"/>
              <a:t>IPv6</a:t>
            </a:r>
            <a:r>
              <a:rPr lang="zh-CN" altLang="en-US" sz="1600" dirty="0" smtClean="0"/>
              <a:t>的环境下，后</a:t>
            </a:r>
            <a:r>
              <a:rPr lang="en-US" altLang="zh-CN" sz="1600" dirty="0" smtClean="0"/>
              <a:t>4</a:t>
            </a:r>
            <a:r>
              <a:rPr lang="zh-CN" altLang="en-US" sz="1600" dirty="0" smtClean="0"/>
              <a:t>个字节可以使用</a:t>
            </a:r>
            <a:r>
              <a:rPr lang="en-US" altLang="zh-CN" sz="1600" dirty="0" smtClean="0"/>
              <a:t>IPv4</a:t>
            </a:r>
            <a:r>
              <a:rPr lang="zh-CN" altLang="en-US" sz="1600" dirty="0" smtClean="0"/>
              <a:t>的表示方法</a:t>
            </a:r>
            <a:endParaRPr lang="en-US" altLang="zh-CN" sz="1600" dirty="0" smtClean="0"/>
          </a:p>
        </p:txBody>
      </p:sp>
      <p:sp>
        <p:nvSpPr>
          <p:cNvPr id="3" name="标题 2"/>
          <p:cNvSpPr>
            <a:spLocks noGrp="1"/>
          </p:cNvSpPr>
          <p:nvPr>
            <p:ph type="title"/>
          </p:nvPr>
        </p:nvSpPr>
        <p:spPr/>
        <p:txBody>
          <a:bodyPr/>
          <a:lstStyle/>
          <a:p>
            <a:r>
              <a:rPr lang="en-US" altLang="zh-CN" dirty="0" smtClean="0"/>
              <a:t>IPv6</a:t>
            </a:r>
            <a:r>
              <a:rPr lang="zh-CN" altLang="en-US" dirty="0" smtClean="0"/>
              <a:t>地址</a:t>
            </a:r>
            <a:endParaRPr lang="zh-CN" altLang="en-US" dirty="0"/>
          </a:p>
        </p:txBody>
      </p:sp>
      <p:sp>
        <p:nvSpPr>
          <p:cNvPr id="4" name="内容占位符 3"/>
          <p:cNvSpPr>
            <a:spLocks noGrp="1"/>
          </p:cNvSpPr>
          <p:nvPr>
            <p:ph sz="half" idx="10"/>
          </p:nvPr>
        </p:nvSpPr>
        <p:spPr/>
        <p:txBody>
          <a:bodyPr/>
          <a:lstStyle/>
          <a:p>
            <a:r>
              <a:rPr lang="en-US" altLang="zh-CN" dirty="0" smtClean="0"/>
              <a:t>IPv6 Address</a:t>
            </a:r>
            <a:endParaRPr lang="zh-CN" altLang="en-US" dirty="0"/>
          </a:p>
        </p:txBody>
      </p:sp>
      <p:graphicFrame>
        <p:nvGraphicFramePr>
          <p:cNvPr id="5" name="Table 4"/>
          <p:cNvGraphicFramePr>
            <a:graphicFrameLocks noGrp="1"/>
          </p:cNvGraphicFramePr>
          <p:nvPr>
            <p:extLst>
              <p:ext uri="{D42A27DB-BD31-4B8C-83A1-F6EECF244321}">
                <p14:modId xmlns:p14="http://schemas.microsoft.com/office/powerpoint/2010/main" val="3210334334"/>
              </p:ext>
            </p:extLst>
          </p:nvPr>
        </p:nvGraphicFramePr>
        <p:xfrm>
          <a:off x="608520" y="2991330"/>
          <a:ext cx="4608000" cy="2880000"/>
        </p:xfrm>
        <a:graphic>
          <a:graphicData uri="http://schemas.openxmlformats.org/drawingml/2006/table">
            <a:tbl>
              <a:tblPr firstRow="1" bandRow="1">
                <a:tableStyleId>{5940675A-B579-460E-94D1-54222C63F5DA}</a:tableStyleId>
              </a:tblPr>
              <a:tblGrid>
                <a:gridCol w="288000">
                  <a:extLst>
                    <a:ext uri="{9D8B030D-6E8A-4147-A177-3AD203B41FA5}">
                      <a16:colId xmlns:a16="http://schemas.microsoft.com/office/drawing/2014/main" val="4027484013"/>
                    </a:ext>
                  </a:extLst>
                </a:gridCol>
                <a:gridCol w="288000">
                  <a:extLst>
                    <a:ext uri="{9D8B030D-6E8A-4147-A177-3AD203B41FA5}">
                      <a16:colId xmlns:a16="http://schemas.microsoft.com/office/drawing/2014/main" val="2192326616"/>
                    </a:ext>
                  </a:extLst>
                </a:gridCol>
                <a:gridCol w="288000">
                  <a:extLst>
                    <a:ext uri="{9D8B030D-6E8A-4147-A177-3AD203B41FA5}">
                      <a16:colId xmlns:a16="http://schemas.microsoft.com/office/drawing/2014/main" val="1284146384"/>
                    </a:ext>
                  </a:extLst>
                </a:gridCol>
                <a:gridCol w="288000">
                  <a:extLst>
                    <a:ext uri="{9D8B030D-6E8A-4147-A177-3AD203B41FA5}">
                      <a16:colId xmlns:a16="http://schemas.microsoft.com/office/drawing/2014/main" val="2562428359"/>
                    </a:ext>
                  </a:extLst>
                </a:gridCol>
                <a:gridCol w="288000">
                  <a:extLst>
                    <a:ext uri="{9D8B030D-6E8A-4147-A177-3AD203B41FA5}">
                      <a16:colId xmlns:a16="http://schemas.microsoft.com/office/drawing/2014/main" val="3438726637"/>
                    </a:ext>
                  </a:extLst>
                </a:gridCol>
                <a:gridCol w="288000">
                  <a:extLst>
                    <a:ext uri="{9D8B030D-6E8A-4147-A177-3AD203B41FA5}">
                      <a16:colId xmlns:a16="http://schemas.microsoft.com/office/drawing/2014/main" val="1668611436"/>
                    </a:ext>
                  </a:extLst>
                </a:gridCol>
                <a:gridCol w="288000">
                  <a:extLst>
                    <a:ext uri="{9D8B030D-6E8A-4147-A177-3AD203B41FA5}">
                      <a16:colId xmlns:a16="http://schemas.microsoft.com/office/drawing/2014/main" val="3380859436"/>
                    </a:ext>
                  </a:extLst>
                </a:gridCol>
                <a:gridCol w="288000">
                  <a:extLst>
                    <a:ext uri="{9D8B030D-6E8A-4147-A177-3AD203B41FA5}">
                      <a16:colId xmlns:a16="http://schemas.microsoft.com/office/drawing/2014/main" val="2932859600"/>
                    </a:ext>
                  </a:extLst>
                </a:gridCol>
                <a:gridCol w="288000">
                  <a:extLst>
                    <a:ext uri="{9D8B030D-6E8A-4147-A177-3AD203B41FA5}">
                      <a16:colId xmlns:a16="http://schemas.microsoft.com/office/drawing/2014/main" val="890920820"/>
                    </a:ext>
                  </a:extLst>
                </a:gridCol>
                <a:gridCol w="288000">
                  <a:extLst>
                    <a:ext uri="{9D8B030D-6E8A-4147-A177-3AD203B41FA5}">
                      <a16:colId xmlns:a16="http://schemas.microsoft.com/office/drawing/2014/main" val="1881623847"/>
                    </a:ext>
                  </a:extLst>
                </a:gridCol>
                <a:gridCol w="288000">
                  <a:extLst>
                    <a:ext uri="{9D8B030D-6E8A-4147-A177-3AD203B41FA5}">
                      <a16:colId xmlns:a16="http://schemas.microsoft.com/office/drawing/2014/main" val="3895003967"/>
                    </a:ext>
                  </a:extLst>
                </a:gridCol>
                <a:gridCol w="288000">
                  <a:extLst>
                    <a:ext uri="{9D8B030D-6E8A-4147-A177-3AD203B41FA5}">
                      <a16:colId xmlns:a16="http://schemas.microsoft.com/office/drawing/2014/main" val="3771706749"/>
                    </a:ext>
                  </a:extLst>
                </a:gridCol>
                <a:gridCol w="288000">
                  <a:extLst>
                    <a:ext uri="{9D8B030D-6E8A-4147-A177-3AD203B41FA5}">
                      <a16:colId xmlns:a16="http://schemas.microsoft.com/office/drawing/2014/main" val="2208622821"/>
                    </a:ext>
                  </a:extLst>
                </a:gridCol>
                <a:gridCol w="288000">
                  <a:extLst>
                    <a:ext uri="{9D8B030D-6E8A-4147-A177-3AD203B41FA5}">
                      <a16:colId xmlns:a16="http://schemas.microsoft.com/office/drawing/2014/main" val="3061843082"/>
                    </a:ext>
                  </a:extLst>
                </a:gridCol>
                <a:gridCol w="288000">
                  <a:extLst>
                    <a:ext uri="{9D8B030D-6E8A-4147-A177-3AD203B41FA5}">
                      <a16:colId xmlns:a16="http://schemas.microsoft.com/office/drawing/2014/main" val="4010632542"/>
                    </a:ext>
                  </a:extLst>
                </a:gridCol>
                <a:gridCol w="288000">
                  <a:extLst>
                    <a:ext uri="{9D8B030D-6E8A-4147-A177-3AD203B41FA5}">
                      <a16:colId xmlns:a16="http://schemas.microsoft.com/office/drawing/2014/main" val="1174675944"/>
                    </a:ext>
                  </a:extLst>
                </a:gridCol>
              </a:tblGrid>
              <a:tr h="360000">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0883975"/>
                  </a:ext>
                </a:extLst>
              </a:tr>
              <a:tr h="360000">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3537661"/>
                  </a:ext>
                </a:extLst>
              </a:tr>
              <a:tr h="360000">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5714390"/>
                  </a:ext>
                </a:extLst>
              </a:tr>
              <a:tr h="360000">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17708603"/>
                  </a:ext>
                </a:extLst>
              </a:tr>
              <a:tr h="360000">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6615747"/>
                  </a:ext>
                </a:extLst>
              </a:tr>
              <a:tr h="360000">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5779624"/>
                  </a:ext>
                </a:extLst>
              </a:tr>
              <a:tr h="360000">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3602412"/>
                  </a:ext>
                </a:extLst>
              </a:tr>
              <a:tr h="360000">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0</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r>
                        <a:rPr lang="en-US" altLang="zh-CN" sz="1600" dirty="0" smtClean="0"/>
                        <a:t>1</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318675635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146492320"/>
              </p:ext>
            </p:extLst>
          </p:nvPr>
        </p:nvGraphicFramePr>
        <p:xfrm>
          <a:off x="5581134" y="2991330"/>
          <a:ext cx="1152000" cy="2880000"/>
        </p:xfrm>
        <a:graphic>
          <a:graphicData uri="http://schemas.openxmlformats.org/drawingml/2006/table">
            <a:tbl>
              <a:tblPr firstRow="1" bandRow="1">
                <a:tableStyleId>{5940675A-B579-460E-94D1-54222C63F5DA}</a:tableStyleId>
              </a:tblPr>
              <a:tblGrid>
                <a:gridCol w="288000">
                  <a:extLst>
                    <a:ext uri="{9D8B030D-6E8A-4147-A177-3AD203B41FA5}">
                      <a16:colId xmlns:a16="http://schemas.microsoft.com/office/drawing/2014/main" val="4027484013"/>
                    </a:ext>
                  </a:extLst>
                </a:gridCol>
                <a:gridCol w="288000">
                  <a:extLst>
                    <a:ext uri="{9D8B030D-6E8A-4147-A177-3AD203B41FA5}">
                      <a16:colId xmlns:a16="http://schemas.microsoft.com/office/drawing/2014/main" val="2917672906"/>
                    </a:ext>
                  </a:extLst>
                </a:gridCol>
                <a:gridCol w="288000">
                  <a:extLst>
                    <a:ext uri="{9D8B030D-6E8A-4147-A177-3AD203B41FA5}">
                      <a16:colId xmlns:a16="http://schemas.microsoft.com/office/drawing/2014/main" val="890920820"/>
                    </a:ext>
                  </a:extLst>
                </a:gridCol>
                <a:gridCol w="288000">
                  <a:extLst>
                    <a:ext uri="{9D8B030D-6E8A-4147-A177-3AD203B41FA5}">
                      <a16:colId xmlns:a16="http://schemas.microsoft.com/office/drawing/2014/main" val="3242243425"/>
                    </a:ext>
                  </a:extLst>
                </a:gridCol>
              </a:tblGrid>
              <a:tr h="360000">
                <a:tc>
                  <a:txBody>
                    <a:bodyPr/>
                    <a:lstStyle/>
                    <a:p>
                      <a:r>
                        <a:rPr lang="en-US" altLang="zh-CN" sz="1600" dirty="0" smtClean="0"/>
                        <a:t>5</a:t>
                      </a:r>
                      <a:endParaRPr lang="zh-CN" altLang="en-US" sz="1600" dirty="0"/>
                    </a:p>
                  </a:txBody>
                  <a:tcPr/>
                </a:tc>
                <a:tc>
                  <a:txBody>
                    <a:bodyPr/>
                    <a:lstStyle/>
                    <a:p>
                      <a:r>
                        <a:rPr lang="en-US" altLang="zh-CN" sz="1600" dirty="0" smtClean="0"/>
                        <a:t>f</a:t>
                      </a:r>
                      <a:endParaRPr lang="zh-CN" alt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0</a:t>
                      </a:r>
                      <a:endParaRPr kumimoji="0" lang="zh-CN" altLang="en-US" sz="1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600" b="0" i="0" u="none" strike="noStrike" kern="1200" cap="none" spc="0" normalizeH="0" baseline="0" noProof="0" dirty="0" smtClean="0">
                          <a:ln>
                            <a:noFill/>
                          </a:ln>
                          <a:solidFill>
                            <a:prstClr val="black"/>
                          </a:solidFill>
                          <a:effectLst/>
                          <a:uLnTx/>
                          <a:uFillTx/>
                          <a:latin typeface="Calibri" panose="020F0502020204030204"/>
                          <a:ea typeface="宋体" panose="02010600030101010101" pitchFamily="2" charset="-122"/>
                          <a:cs typeface="+mn-cs"/>
                        </a:rPr>
                        <a:t>5</a:t>
                      </a:r>
                      <a:endParaRPr kumimoji="0" lang="zh-CN" altLang="en-US" sz="1600" b="0" i="0" u="none" strike="noStrike" kern="1200" cap="none" spc="0" normalizeH="0" baseline="0" noProof="0" dirty="0">
                        <a:ln>
                          <a:noFill/>
                        </a:ln>
                        <a:solidFill>
                          <a:prstClr val="black"/>
                        </a:solidFill>
                        <a:effectLst/>
                        <a:uLnTx/>
                        <a:uFillTx/>
                        <a:latin typeface="Calibri" panose="020F0502020204030204"/>
                        <a:ea typeface="宋体" panose="02010600030101010101" pitchFamily="2" charset="-122"/>
                        <a:cs typeface="+mn-cs"/>
                      </a:endParaRPr>
                    </a:p>
                  </a:txBody>
                  <a:tcPr/>
                </a:tc>
                <a:extLst>
                  <a:ext uri="{0D108BD9-81ED-4DB2-BD59-A6C34878D82A}">
                    <a16:rowId xmlns:a16="http://schemas.microsoft.com/office/drawing/2014/main" val="610883975"/>
                  </a:ext>
                </a:extLst>
              </a:tr>
              <a:tr h="360000">
                <a:tc>
                  <a:txBody>
                    <a:bodyPr/>
                    <a:lstStyle/>
                    <a:p>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extLst>
                  <a:ext uri="{0D108BD9-81ED-4DB2-BD59-A6C34878D82A}">
                    <a16:rowId xmlns:a16="http://schemas.microsoft.com/office/drawing/2014/main" val="3143537661"/>
                  </a:ext>
                </a:extLst>
              </a:tr>
              <a:tr h="360000">
                <a:tc>
                  <a:txBody>
                    <a:bodyPr/>
                    <a:lstStyle/>
                    <a:p>
                      <a:r>
                        <a:rPr lang="en-US" altLang="zh-CN" sz="1600" dirty="0" smtClean="0"/>
                        <a:t>8</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a</a:t>
                      </a:r>
                      <a:endParaRPr lang="zh-CN" altLang="en-US" sz="1600" dirty="0"/>
                    </a:p>
                  </a:txBody>
                  <a:tcPr/>
                </a:tc>
                <a:tc>
                  <a:txBody>
                    <a:bodyPr/>
                    <a:lstStyle/>
                    <a:p>
                      <a:r>
                        <a:rPr lang="en-US" altLang="zh-CN" sz="1600" dirty="0" smtClean="0"/>
                        <a:t>d</a:t>
                      </a:r>
                      <a:endParaRPr lang="zh-CN" altLang="en-US" sz="1600" dirty="0"/>
                    </a:p>
                  </a:txBody>
                  <a:tcPr/>
                </a:tc>
                <a:extLst>
                  <a:ext uri="{0D108BD9-81ED-4DB2-BD59-A6C34878D82A}">
                    <a16:rowId xmlns:a16="http://schemas.microsoft.com/office/drawing/2014/main" val="985714390"/>
                  </a:ext>
                </a:extLst>
              </a:tr>
              <a:tr h="360000">
                <a:tc>
                  <a:txBody>
                    <a:bodyPr/>
                    <a:lstStyle/>
                    <a:p>
                      <a:r>
                        <a:rPr lang="en-US" altLang="zh-CN" sz="1600" dirty="0" smtClean="0"/>
                        <a:t>5</a:t>
                      </a:r>
                      <a:endParaRPr lang="zh-CN" altLang="en-US" sz="1600" dirty="0"/>
                    </a:p>
                  </a:txBody>
                  <a:tcPr/>
                </a:tc>
                <a:tc>
                  <a:txBody>
                    <a:bodyPr/>
                    <a:lstStyle/>
                    <a:p>
                      <a:r>
                        <a:rPr lang="en-US" altLang="zh-CN" sz="1600" dirty="0" smtClean="0"/>
                        <a:t>8</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extLst>
                  <a:ext uri="{0D108BD9-81ED-4DB2-BD59-A6C34878D82A}">
                    <a16:rowId xmlns:a16="http://schemas.microsoft.com/office/drawing/2014/main" val="2717708603"/>
                  </a:ext>
                </a:extLst>
              </a:tr>
              <a:tr h="360000">
                <a:tc>
                  <a:txBody>
                    <a:bodyPr/>
                    <a:lstStyle/>
                    <a:p>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5</a:t>
                      </a:r>
                      <a:endParaRPr lang="zh-CN" altLang="en-US" sz="1600" dirty="0"/>
                    </a:p>
                  </a:txBody>
                  <a:tcPr/>
                </a:tc>
                <a:tc>
                  <a:txBody>
                    <a:bodyPr/>
                    <a:lstStyle/>
                    <a:p>
                      <a:r>
                        <a:rPr lang="en-US" altLang="zh-CN" sz="1600" dirty="0" smtClean="0"/>
                        <a:t>8</a:t>
                      </a:r>
                      <a:endParaRPr lang="zh-CN" altLang="en-US" sz="1600" dirty="0"/>
                    </a:p>
                  </a:txBody>
                  <a:tcPr/>
                </a:tc>
                <a:extLst>
                  <a:ext uri="{0D108BD9-81ED-4DB2-BD59-A6C34878D82A}">
                    <a16:rowId xmlns:a16="http://schemas.microsoft.com/office/drawing/2014/main" val="1866615747"/>
                  </a:ext>
                </a:extLst>
              </a:tr>
              <a:tr h="360000">
                <a:tc>
                  <a:txBody>
                    <a:bodyPr/>
                    <a:lstStyle/>
                    <a:p>
                      <a:r>
                        <a:rPr lang="en-US" altLang="zh-CN" sz="1600" dirty="0" smtClean="0"/>
                        <a:t>0</a:t>
                      </a:r>
                      <a:endParaRPr lang="zh-CN" altLang="en-US" sz="1600" dirty="0"/>
                    </a:p>
                  </a:txBody>
                  <a:tcPr/>
                </a:tc>
                <a:tc>
                  <a:txBody>
                    <a:bodyPr/>
                    <a:lstStyle/>
                    <a:p>
                      <a:r>
                        <a:rPr lang="en-US" altLang="zh-CN" sz="1600" dirty="0" smtClean="0"/>
                        <a:t>8</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0</a:t>
                      </a:r>
                      <a:endParaRPr lang="zh-CN" altLang="en-US" sz="1600" dirty="0"/>
                    </a:p>
                  </a:txBody>
                  <a:tcPr/>
                </a:tc>
                <a:extLst>
                  <a:ext uri="{0D108BD9-81ED-4DB2-BD59-A6C34878D82A}">
                    <a16:rowId xmlns:a16="http://schemas.microsoft.com/office/drawing/2014/main" val="2425779624"/>
                  </a:ext>
                </a:extLst>
              </a:tr>
              <a:tr h="360000">
                <a:tc>
                  <a:txBody>
                    <a:bodyPr/>
                    <a:lstStyle/>
                    <a:p>
                      <a:r>
                        <a:rPr lang="en-US" altLang="zh-CN" sz="1600" dirty="0" smtClean="0"/>
                        <a:t>2</a:t>
                      </a:r>
                      <a:endParaRPr lang="zh-CN" altLang="en-US" sz="1600" dirty="0"/>
                    </a:p>
                  </a:txBody>
                  <a:tcPr/>
                </a:tc>
                <a:tc>
                  <a:txBody>
                    <a:bodyPr/>
                    <a:lstStyle/>
                    <a:p>
                      <a:r>
                        <a:rPr lang="en-US" altLang="zh-CN" sz="1600" dirty="0" smtClean="0"/>
                        <a:t>0</a:t>
                      </a:r>
                      <a:endParaRPr lang="zh-CN" altLang="en-US" sz="1600" dirty="0"/>
                    </a:p>
                  </a:txBody>
                  <a:tcPr/>
                </a:tc>
                <a:tc>
                  <a:txBody>
                    <a:bodyPr/>
                    <a:lstStyle/>
                    <a:p>
                      <a:r>
                        <a:rPr lang="en-US" altLang="zh-CN" sz="1600" dirty="0" smtClean="0"/>
                        <a:t>2</a:t>
                      </a:r>
                      <a:endParaRPr lang="zh-CN" altLang="en-US" sz="1600" dirty="0"/>
                    </a:p>
                  </a:txBody>
                  <a:tcPr/>
                </a:tc>
                <a:tc>
                  <a:txBody>
                    <a:bodyPr/>
                    <a:lstStyle/>
                    <a:p>
                      <a:r>
                        <a:rPr lang="en-US" altLang="zh-CN" sz="1600" dirty="0" smtClean="0"/>
                        <a:t>3</a:t>
                      </a:r>
                      <a:endParaRPr lang="zh-CN" altLang="en-US" sz="1600" dirty="0"/>
                    </a:p>
                  </a:txBody>
                  <a:tcPr/>
                </a:tc>
                <a:extLst>
                  <a:ext uri="{0D108BD9-81ED-4DB2-BD59-A6C34878D82A}">
                    <a16:rowId xmlns:a16="http://schemas.microsoft.com/office/drawing/2014/main" val="3713602412"/>
                  </a:ext>
                </a:extLst>
              </a:tr>
              <a:tr h="360000">
                <a:tc>
                  <a:txBody>
                    <a:bodyPr/>
                    <a:lstStyle/>
                    <a:p>
                      <a:r>
                        <a:rPr lang="en-US" altLang="zh-CN" sz="1600" dirty="0" smtClean="0"/>
                        <a:t>1</a:t>
                      </a:r>
                      <a:endParaRPr lang="zh-CN" altLang="en-US" sz="1600" dirty="0"/>
                    </a:p>
                  </a:txBody>
                  <a:tcPr/>
                </a:tc>
                <a:tc>
                  <a:txBody>
                    <a:bodyPr/>
                    <a:lstStyle/>
                    <a:p>
                      <a:r>
                        <a:rPr lang="en-US" altLang="zh-CN" sz="1600" dirty="0" smtClean="0"/>
                        <a:t>d</a:t>
                      </a:r>
                      <a:endParaRPr lang="zh-CN" altLang="en-US" sz="1600" dirty="0"/>
                    </a:p>
                  </a:txBody>
                  <a:tcPr/>
                </a:tc>
                <a:tc>
                  <a:txBody>
                    <a:bodyPr/>
                    <a:lstStyle/>
                    <a:p>
                      <a:r>
                        <a:rPr lang="en-US" altLang="zh-CN" sz="1600" dirty="0" smtClean="0"/>
                        <a:t>7</a:t>
                      </a:r>
                      <a:endParaRPr lang="zh-CN" altLang="en-US" sz="1600" dirty="0"/>
                    </a:p>
                  </a:txBody>
                  <a:tcPr/>
                </a:tc>
                <a:tc>
                  <a:txBody>
                    <a:bodyPr/>
                    <a:lstStyle/>
                    <a:p>
                      <a:r>
                        <a:rPr lang="en-US" altLang="zh-CN" sz="1600" dirty="0" smtClean="0"/>
                        <a:t>1</a:t>
                      </a:r>
                      <a:endParaRPr lang="zh-CN" altLang="en-US" sz="1600" dirty="0"/>
                    </a:p>
                  </a:txBody>
                  <a:tcPr/>
                </a:tc>
                <a:extLst>
                  <a:ext uri="{0D108BD9-81ED-4DB2-BD59-A6C34878D82A}">
                    <a16:rowId xmlns:a16="http://schemas.microsoft.com/office/drawing/2014/main" val="3186756353"/>
                  </a:ext>
                </a:extLst>
              </a:tr>
            </a:tbl>
          </a:graphicData>
        </a:graphic>
      </p:graphicFrame>
      <p:sp>
        <p:nvSpPr>
          <p:cNvPr id="11" name="TextBox 10"/>
          <p:cNvSpPr txBox="1"/>
          <p:nvPr/>
        </p:nvSpPr>
        <p:spPr>
          <a:xfrm>
            <a:off x="7097749" y="4246664"/>
            <a:ext cx="4287801" cy="369332"/>
          </a:xfrm>
          <a:prstGeom prst="rect">
            <a:avLst/>
          </a:prstGeom>
          <a:noFill/>
        </p:spPr>
        <p:txBody>
          <a:bodyPr wrap="square" rtlCol="0">
            <a:spAutoFit/>
          </a:bodyPr>
          <a:lstStyle/>
          <a:p>
            <a:r>
              <a:rPr lang="en-US" altLang="zh-CN" dirty="0" smtClean="0"/>
              <a:t>5f05:0000:80ad:5800:0058:0800:2023:1d71</a:t>
            </a:r>
            <a:endParaRPr lang="zh-CN" altLang="en-US" dirty="0"/>
          </a:p>
        </p:txBody>
      </p:sp>
      <p:cxnSp>
        <p:nvCxnSpPr>
          <p:cNvPr id="13" name="Straight Arrow Connector 12"/>
          <p:cNvCxnSpPr>
            <a:stCxn id="5" idx="3"/>
            <a:endCxn id="8" idx="1"/>
          </p:cNvCxnSpPr>
          <p:nvPr/>
        </p:nvCxnSpPr>
        <p:spPr>
          <a:xfrm>
            <a:off x="5216520" y="4431330"/>
            <a:ext cx="36461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8" idx="3"/>
            <a:endCxn id="11" idx="1"/>
          </p:cNvCxnSpPr>
          <p:nvPr/>
        </p:nvCxnSpPr>
        <p:spPr>
          <a:xfrm>
            <a:off x="6733134" y="4431330"/>
            <a:ext cx="36461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a:stCxn id="11" idx="2"/>
            <a:endCxn id="31" idx="0"/>
          </p:cNvCxnSpPr>
          <p:nvPr/>
        </p:nvCxnSpPr>
        <p:spPr>
          <a:xfrm>
            <a:off x="9241650" y="4615996"/>
            <a:ext cx="0" cy="43406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1" name="TextBox 30"/>
          <p:cNvSpPr txBox="1"/>
          <p:nvPr/>
        </p:nvSpPr>
        <p:spPr>
          <a:xfrm>
            <a:off x="7097749" y="5050062"/>
            <a:ext cx="4287801" cy="369332"/>
          </a:xfrm>
          <a:prstGeom prst="rect">
            <a:avLst/>
          </a:prstGeom>
          <a:noFill/>
        </p:spPr>
        <p:txBody>
          <a:bodyPr wrap="square" rtlCol="0">
            <a:spAutoFit/>
          </a:bodyPr>
          <a:lstStyle/>
          <a:p>
            <a:r>
              <a:rPr lang="en-US" altLang="zh-CN" dirty="0" smtClean="0"/>
              <a:t>5f05::80ad:5800:58:800:2023:1d71</a:t>
            </a:r>
            <a:endParaRPr lang="zh-CN" altLang="en-US" dirty="0"/>
          </a:p>
        </p:txBody>
      </p:sp>
    </p:spTree>
    <p:extLst>
      <p:ext uri="{BB962C8B-B14F-4D97-AF65-F5344CB8AC3E}">
        <p14:creationId xmlns:p14="http://schemas.microsoft.com/office/powerpoint/2010/main" val="383097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2000" b="1" dirty="0"/>
              <a:t>地</a:t>
            </a:r>
            <a:r>
              <a:rPr lang="zh-CN" altLang="en-US" sz="2000" b="1" dirty="0" smtClean="0"/>
              <a:t>址</a:t>
            </a:r>
            <a:r>
              <a:rPr lang="zh-CN" altLang="en-US" sz="2000" b="1" dirty="0"/>
              <a:t>表示</a:t>
            </a:r>
            <a:endParaRPr lang="en-US" altLang="zh-CN" sz="2000" b="1" dirty="0" smtClean="0"/>
          </a:p>
          <a:p>
            <a:pPr lvl="1"/>
            <a:r>
              <a:rPr lang="zh-CN" altLang="en-US" sz="1600" dirty="0" smtClean="0"/>
              <a:t>地址长度为</a:t>
            </a:r>
            <a:r>
              <a:rPr lang="en-US" altLang="zh-CN" sz="1600" dirty="0" smtClean="0"/>
              <a:t>128</a:t>
            </a:r>
            <a:r>
              <a:rPr lang="zh-CN" altLang="en-US" sz="1600" dirty="0" smtClean="0"/>
              <a:t>位，用</a:t>
            </a:r>
            <a:r>
              <a:rPr lang="en-US" altLang="zh-CN" sz="1600" dirty="0" smtClean="0"/>
              <a:t>:</a:t>
            </a:r>
            <a:r>
              <a:rPr lang="zh-CN" altLang="en-US" sz="1600" dirty="0" smtClean="0"/>
              <a:t>分为</a:t>
            </a:r>
            <a:r>
              <a:rPr lang="en-US" altLang="zh-CN" sz="1600" dirty="0" smtClean="0"/>
              <a:t>8</a:t>
            </a:r>
            <a:r>
              <a:rPr lang="zh-CN" altLang="en-US" sz="1600" dirty="0" smtClean="0"/>
              <a:t>块，每块由</a:t>
            </a:r>
            <a:r>
              <a:rPr lang="en-US" altLang="zh-CN" sz="1600" dirty="0" smtClean="0"/>
              <a:t>4</a:t>
            </a:r>
            <a:r>
              <a:rPr lang="zh-CN" altLang="en-US" sz="1600" dirty="0" smtClean="0"/>
              <a:t>位</a:t>
            </a:r>
            <a:r>
              <a:rPr lang="en-US" altLang="zh-CN" sz="1600" dirty="0" smtClean="0"/>
              <a:t>16</a:t>
            </a:r>
            <a:r>
              <a:rPr lang="zh-CN" altLang="en-US" sz="1600" dirty="0" smtClean="0"/>
              <a:t>进制数表示（</a:t>
            </a:r>
            <a:r>
              <a:rPr lang="en-US" altLang="zh-CN" sz="1600" dirty="0" smtClean="0"/>
              <a:t>a-f</a:t>
            </a:r>
            <a:r>
              <a:rPr lang="zh-CN" altLang="en-US" sz="1600" dirty="0" smtClean="0"/>
              <a:t>用小写）</a:t>
            </a:r>
            <a:endParaRPr lang="en-US" altLang="zh-CN" sz="1600" dirty="0" smtClean="0"/>
          </a:p>
          <a:p>
            <a:pPr lvl="1"/>
            <a:r>
              <a:rPr lang="zh-CN" altLang="en-US" sz="1600" dirty="0" smtClean="0"/>
              <a:t>一个块中，前导的</a:t>
            </a:r>
            <a:r>
              <a:rPr lang="en-US" altLang="zh-CN" sz="1600" dirty="0" smtClean="0"/>
              <a:t>0</a:t>
            </a:r>
            <a:r>
              <a:rPr lang="zh-CN" altLang="en-US" sz="1600" dirty="0"/>
              <a:t>必</a:t>
            </a:r>
            <a:r>
              <a:rPr lang="zh-CN" altLang="en-US" sz="1600" dirty="0" smtClean="0"/>
              <a:t>须压缩</a:t>
            </a:r>
            <a:endParaRPr lang="en-US" altLang="zh-CN" sz="1600" dirty="0" smtClean="0"/>
          </a:p>
          <a:p>
            <a:pPr lvl="1"/>
            <a:r>
              <a:rPr lang="zh-CN" altLang="en-US" sz="1600" dirty="0" smtClean="0"/>
              <a:t>用</a:t>
            </a:r>
            <a:r>
              <a:rPr lang="en-US" altLang="zh-CN" sz="1600" dirty="0" smtClean="0"/>
              <a:t>::</a:t>
            </a:r>
            <a:r>
              <a:rPr lang="zh-CN" altLang="en-US" sz="1600" dirty="0" smtClean="0"/>
              <a:t>代替连续的全</a:t>
            </a:r>
            <a:r>
              <a:rPr lang="en-US" altLang="zh-CN" sz="1600" dirty="0" smtClean="0"/>
              <a:t>0</a:t>
            </a:r>
            <a:r>
              <a:rPr lang="zh-CN" altLang="en-US" sz="1600" dirty="0" smtClean="0"/>
              <a:t>的块，该符号只能使用</a:t>
            </a:r>
            <a:r>
              <a:rPr lang="en-US" altLang="zh-CN" sz="1600" dirty="0" smtClean="0"/>
              <a:t>1</a:t>
            </a:r>
            <a:r>
              <a:rPr lang="zh-CN" altLang="en-US" sz="1600" dirty="0" smtClean="0"/>
              <a:t>次，如果有多个等长的全</a:t>
            </a:r>
            <a:r>
              <a:rPr lang="en-US" altLang="zh-CN" sz="1600" dirty="0" smtClean="0"/>
              <a:t>0</a:t>
            </a:r>
            <a:r>
              <a:rPr lang="zh-CN" altLang="en-US" sz="1600" dirty="0" smtClean="0"/>
              <a:t>的块，替换靠前的部分</a:t>
            </a:r>
            <a:endParaRPr lang="en-US" altLang="zh-CN" sz="1600" dirty="0" smtClean="0"/>
          </a:p>
          <a:p>
            <a:pPr lvl="1"/>
            <a:r>
              <a:rPr lang="zh-CN" altLang="en-US" sz="1600" dirty="0" smtClean="0"/>
              <a:t>在兼容</a:t>
            </a:r>
            <a:r>
              <a:rPr lang="en-US" altLang="zh-CN" sz="1600" dirty="0" smtClean="0"/>
              <a:t>IPv4</a:t>
            </a:r>
            <a:r>
              <a:rPr lang="zh-CN" altLang="en-US" sz="1600" dirty="0" smtClean="0"/>
              <a:t>和</a:t>
            </a:r>
            <a:r>
              <a:rPr lang="en-US" altLang="zh-CN" sz="1600" dirty="0" smtClean="0"/>
              <a:t>IPv6</a:t>
            </a:r>
            <a:r>
              <a:rPr lang="zh-CN" altLang="en-US" sz="1600" dirty="0" smtClean="0"/>
              <a:t>的环境下，后</a:t>
            </a:r>
            <a:r>
              <a:rPr lang="en-US" altLang="zh-CN" sz="1600" dirty="0" smtClean="0"/>
              <a:t>4</a:t>
            </a:r>
            <a:r>
              <a:rPr lang="zh-CN" altLang="en-US" sz="1600" dirty="0" smtClean="0"/>
              <a:t>个字节可以使用</a:t>
            </a:r>
            <a:r>
              <a:rPr lang="en-US" altLang="zh-CN" sz="1600" dirty="0" smtClean="0"/>
              <a:t>IPv4</a:t>
            </a:r>
            <a:r>
              <a:rPr lang="zh-CN" altLang="en-US" sz="1600" dirty="0" smtClean="0"/>
              <a:t>的表示方法</a:t>
            </a:r>
            <a:endParaRPr lang="en-US" altLang="zh-CN" sz="1600" dirty="0" smtClean="0"/>
          </a:p>
          <a:p>
            <a:endParaRPr lang="zh-CN" altLang="en-US" sz="2000" dirty="0"/>
          </a:p>
        </p:txBody>
      </p:sp>
      <p:sp>
        <p:nvSpPr>
          <p:cNvPr id="3" name="标题 2"/>
          <p:cNvSpPr>
            <a:spLocks noGrp="1"/>
          </p:cNvSpPr>
          <p:nvPr>
            <p:ph type="title"/>
          </p:nvPr>
        </p:nvSpPr>
        <p:spPr/>
        <p:txBody>
          <a:bodyPr/>
          <a:lstStyle/>
          <a:p>
            <a:r>
              <a:rPr lang="en-US" altLang="zh-CN" dirty="0" smtClean="0"/>
              <a:t>IPv6</a:t>
            </a:r>
            <a:r>
              <a:rPr lang="zh-CN" altLang="en-US" dirty="0" smtClean="0"/>
              <a:t>地址</a:t>
            </a:r>
            <a:endParaRPr lang="zh-CN" altLang="en-US" dirty="0"/>
          </a:p>
        </p:txBody>
      </p:sp>
      <p:sp>
        <p:nvSpPr>
          <p:cNvPr id="4" name="内容占位符 3"/>
          <p:cNvSpPr>
            <a:spLocks noGrp="1"/>
          </p:cNvSpPr>
          <p:nvPr>
            <p:ph sz="half" idx="10"/>
          </p:nvPr>
        </p:nvSpPr>
        <p:spPr/>
        <p:txBody>
          <a:bodyPr/>
          <a:lstStyle/>
          <a:p>
            <a:r>
              <a:rPr lang="en-US" altLang="zh-CN" dirty="0" smtClean="0"/>
              <a:t>IPv6 Address</a:t>
            </a:r>
            <a:endParaRPr lang="zh-CN" altLang="en-US" dirty="0"/>
          </a:p>
        </p:txBody>
      </p:sp>
      <p:sp>
        <p:nvSpPr>
          <p:cNvPr id="11" name="TextBox 10"/>
          <p:cNvSpPr txBox="1"/>
          <p:nvPr/>
        </p:nvSpPr>
        <p:spPr>
          <a:xfrm>
            <a:off x="608520" y="3420653"/>
            <a:ext cx="4320000" cy="369332"/>
          </a:xfrm>
          <a:prstGeom prst="rect">
            <a:avLst/>
          </a:prstGeom>
          <a:noFill/>
        </p:spPr>
        <p:txBody>
          <a:bodyPr wrap="square" rtlCol="0">
            <a:spAutoFit/>
          </a:bodyPr>
          <a:lstStyle/>
          <a:p>
            <a:r>
              <a:rPr lang="en-US" altLang="zh-CN" dirty="0" smtClean="0"/>
              <a:t>1080:0000:0000:0000:0008:0800:200c:417a</a:t>
            </a:r>
            <a:endParaRPr lang="zh-CN" altLang="en-US" dirty="0"/>
          </a:p>
        </p:txBody>
      </p:sp>
      <p:cxnSp>
        <p:nvCxnSpPr>
          <p:cNvPr id="13" name="Straight Arrow Connector 12"/>
          <p:cNvCxnSpPr>
            <a:stCxn id="11" idx="3"/>
            <a:endCxn id="12" idx="1"/>
          </p:cNvCxnSpPr>
          <p:nvPr/>
        </p:nvCxnSpPr>
        <p:spPr>
          <a:xfrm>
            <a:off x="4928520" y="3605319"/>
            <a:ext cx="684282" cy="538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12" name="TextBox 11"/>
          <p:cNvSpPr txBox="1"/>
          <p:nvPr/>
        </p:nvSpPr>
        <p:spPr>
          <a:xfrm>
            <a:off x="5612802" y="3426038"/>
            <a:ext cx="2880000" cy="369332"/>
          </a:xfrm>
          <a:prstGeom prst="rect">
            <a:avLst/>
          </a:prstGeom>
          <a:noFill/>
        </p:spPr>
        <p:txBody>
          <a:bodyPr wrap="square" rtlCol="0">
            <a:spAutoFit/>
          </a:bodyPr>
          <a:lstStyle/>
          <a:p>
            <a:r>
              <a:rPr lang="en-US" altLang="zh-CN" dirty="0" smtClean="0"/>
              <a:t>1080:0:0:0:8:800:200c:417a</a:t>
            </a:r>
            <a:endParaRPr lang="zh-CN" altLang="en-US" dirty="0"/>
          </a:p>
        </p:txBody>
      </p:sp>
      <p:sp>
        <p:nvSpPr>
          <p:cNvPr id="21" name="TextBox 20"/>
          <p:cNvSpPr txBox="1"/>
          <p:nvPr/>
        </p:nvSpPr>
        <p:spPr>
          <a:xfrm>
            <a:off x="9177085" y="3420653"/>
            <a:ext cx="2340000" cy="369332"/>
          </a:xfrm>
          <a:prstGeom prst="rect">
            <a:avLst/>
          </a:prstGeom>
          <a:noFill/>
        </p:spPr>
        <p:txBody>
          <a:bodyPr wrap="square" rtlCol="0">
            <a:spAutoFit/>
          </a:bodyPr>
          <a:lstStyle/>
          <a:p>
            <a:r>
              <a:rPr lang="en-US" altLang="zh-CN" dirty="0" smtClean="0"/>
              <a:t>1080::8:800:200c:417a</a:t>
            </a:r>
            <a:endParaRPr lang="zh-CN" altLang="en-US" dirty="0"/>
          </a:p>
        </p:txBody>
      </p:sp>
      <p:cxnSp>
        <p:nvCxnSpPr>
          <p:cNvPr id="23" name="Straight Arrow Connector 22"/>
          <p:cNvCxnSpPr>
            <a:stCxn id="12" idx="3"/>
            <a:endCxn id="21" idx="1"/>
          </p:cNvCxnSpPr>
          <p:nvPr/>
        </p:nvCxnSpPr>
        <p:spPr>
          <a:xfrm flipV="1">
            <a:off x="8492802" y="3605319"/>
            <a:ext cx="684283" cy="538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28" name="TextBox 27"/>
          <p:cNvSpPr txBox="1"/>
          <p:nvPr/>
        </p:nvSpPr>
        <p:spPr>
          <a:xfrm>
            <a:off x="608519" y="3996376"/>
            <a:ext cx="2160000" cy="369332"/>
          </a:xfrm>
          <a:prstGeom prst="rect">
            <a:avLst/>
          </a:prstGeom>
          <a:noFill/>
        </p:spPr>
        <p:txBody>
          <a:bodyPr wrap="square" rtlCol="0">
            <a:spAutoFit/>
          </a:bodyPr>
          <a:lstStyle/>
          <a:p>
            <a:r>
              <a:rPr lang="en-US" altLang="zh-CN" dirty="0" smtClean="0"/>
              <a:t>ff01:0:0:0:0:0:0:101</a:t>
            </a:r>
            <a:endParaRPr lang="zh-CN" altLang="en-US" dirty="0"/>
          </a:p>
        </p:txBody>
      </p:sp>
      <p:sp>
        <p:nvSpPr>
          <p:cNvPr id="30" name="TextBox 29"/>
          <p:cNvSpPr txBox="1"/>
          <p:nvPr/>
        </p:nvSpPr>
        <p:spPr>
          <a:xfrm>
            <a:off x="3452801" y="3996376"/>
            <a:ext cx="1080000" cy="369332"/>
          </a:xfrm>
          <a:prstGeom prst="rect">
            <a:avLst/>
          </a:prstGeom>
          <a:noFill/>
        </p:spPr>
        <p:txBody>
          <a:bodyPr wrap="square" rtlCol="0">
            <a:spAutoFit/>
          </a:bodyPr>
          <a:lstStyle/>
          <a:p>
            <a:r>
              <a:rPr lang="en-US" altLang="zh-CN" dirty="0" smtClean="0"/>
              <a:t>ff01::101</a:t>
            </a:r>
            <a:endParaRPr lang="zh-CN" altLang="en-US" dirty="0"/>
          </a:p>
        </p:txBody>
      </p:sp>
      <p:cxnSp>
        <p:nvCxnSpPr>
          <p:cNvPr id="33" name="Straight Arrow Connector 32"/>
          <p:cNvCxnSpPr>
            <a:stCxn id="28" idx="3"/>
            <a:endCxn id="30" idx="1"/>
          </p:cNvCxnSpPr>
          <p:nvPr/>
        </p:nvCxnSpPr>
        <p:spPr>
          <a:xfrm>
            <a:off x="2768519" y="4181042"/>
            <a:ext cx="684282"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37" name="TextBox 36"/>
          <p:cNvSpPr txBox="1"/>
          <p:nvPr/>
        </p:nvSpPr>
        <p:spPr>
          <a:xfrm>
            <a:off x="608519" y="4572100"/>
            <a:ext cx="1620000" cy="369332"/>
          </a:xfrm>
          <a:prstGeom prst="rect">
            <a:avLst/>
          </a:prstGeom>
          <a:noFill/>
        </p:spPr>
        <p:txBody>
          <a:bodyPr wrap="square" rtlCol="0">
            <a:spAutoFit/>
          </a:bodyPr>
          <a:lstStyle/>
          <a:p>
            <a:r>
              <a:rPr lang="en-US" altLang="zh-CN" dirty="0" smtClean="0"/>
              <a:t>0:0:0:0:0:0:0:1</a:t>
            </a:r>
            <a:endParaRPr lang="zh-CN" altLang="en-US" dirty="0"/>
          </a:p>
        </p:txBody>
      </p:sp>
      <p:sp>
        <p:nvSpPr>
          <p:cNvPr id="40" name="TextBox 39"/>
          <p:cNvSpPr txBox="1"/>
          <p:nvPr/>
        </p:nvSpPr>
        <p:spPr>
          <a:xfrm>
            <a:off x="2912801" y="4572099"/>
            <a:ext cx="1620000" cy="369332"/>
          </a:xfrm>
          <a:prstGeom prst="rect">
            <a:avLst/>
          </a:prstGeom>
          <a:noFill/>
        </p:spPr>
        <p:txBody>
          <a:bodyPr wrap="square" rtlCol="0">
            <a:spAutoFit/>
          </a:bodyPr>
          <a:lstStyle/>
          <a:p>
            <a:r>
              <a:rPr lang="en-US" altLang="zh-CN" dirty="0" smtClean="0"/>
              <a:t>::1</a:t>
            </a:r>
            <a:endParaRPr lang="zh-CN" altLang="en-US" dirty="0"/>
          </a:p>
        </p:txBody>
      </p:sp>
      <p:cxnSp>
        <p:nvCxnSpPr>
          <p:cNvPr id="41" name="Straight Arrow Connector 40"/>
          <p:cNvCxnSpPr>
            <a:stCxn id="37" idx="3"/>
            <a:endCxn id="40" idx="1"/>
          </p:cNvCxnSpPr>
          <p:nvPr/>
        </p:nvCxnSpPr>
        <p:spPr>
          <a:xfrm flipV="1">
            <a:off x="2228519" y="4756765"/>
            <a:ext cx="684282" cy="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608518" y="5147823"/>
            <a:ext cx="2683321" cy="369332"/>
          </a:xfrm>
          <a:prstGeom prst="rect">
            <a:avLst/>
          </a:prstGeom>
          <a:noFill/>
        </p:spPr>
        <p:txBody>
          <a:bodyPr wrap="square" rtlCol="0">
            <a:spAutoFit/>
          </a:bodyPr>
          <a:lstStyle/>
          <a:p>
            <a:r>
              <a:rPr lang="en-US" altLang="zh-CN" dirty="0" smtClean="0"/>
              <a:t>0:0:0:0:0:ffff:13.1.68.3/96</a:t>
            </a:r>
            <a:endParaRPr lang="zh-CN" altLang="en-US" dirty="0"/>
          </a:p>
        </p:txBody>
      </p:sp>
      <p:sp>
        <p:nvSpPr>
          <p:cNvPr id="49" name="TextBox 48"/>
          <p:cNvSpPr txBox="1"/>
          <p:nvPr/>
        </p:nvSpPr>
        <p:spPr>
          <a:xfrm>
            <a:off x="4239425" y="5147823"/>
            <a:ext cx="2202414" cy="369332"/>
          </a:xfrm>
          <a:prstGeom prst="rect">
            <a:avLst/>
          </a:prstGeom>
          <a:noFill/>
        </p:spPr>
        <p:txBody>
          <a:bodyPr wrap="square" rtlCol="0">
            <a:spAutoFit/>
          </a:bodyPr>
          <a:lstStyle/>
          <a:p>
            <a:r>
              <a:rPr lang="en-US" altLang="zh-CN" dirty="0" smtClean="0"/>
              <a:t>::ffff:0d01:4403/96</a:t>
            </a:r>
            <a:endParaRPr lang="zh-CN" altLang="en-US" dirty="0"/>
          </a:p>
        </p:txBody>
      </p:sp>
      <p:cxnSp>
        <p:nvCxnSpPr>
          <p:cNvPr id="50" name="Straight Arrow Connector 49"/>
          <p:cNvCxnSpPr>
            <a:stCxn id="47" idx="3"/>
            <a:endCxn id="49" idx="1"/>
          </p:cNvCxnSpPr>
          <p:nvPr/>
        </p:nvCxnSpPr>
        <p:spPr>
          <a:xfrm>
            <a:off x="3291839" y="5332489"/>
            <a:ext cx="947586"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379145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2000" b="1" dirty="0"/>
              <a:t>地</a:t>
            </a:r>
            <a:r>
              <a:rPr lang="zh-CN" altLang="en-US" sz="2000" b="1" dirty="0" smtClean="0"/>
              <a:t>址划分</a:t>
            </a:r>
            <a:endParaRPr lang="en-US" altLang="zh-CN" sz="2000" b="1" dirty="0" smtClean="0"/>
          </a:p>
          <a:p>
            <a:pPr lvl="1"/>
            <a:r>
              <a:rPr lang="en-US" altLang="zh-CN" sz="1600" dirty="0" smtClean="0"/>
              <a:t>IPv6</a:t>
            </a:r>
            <a:r>
              <a:rPr lang="zh-CN" altLang="en-US" sz="1600" dirty="0" smtClean="0"/>
              <a:t>地址由前缀和接口标识组成</a:t>
            </a:r>
            <a:endParaRPr lang="en-US" altLang="zh-CN" sz="1600" dirty="0" smtClean="0"/>
          </a:p>
          <a:p>
            <a:pPr lvl="2"/>
            <a:r>
              <a:rPr lang="zh-CN" altLang="en-US" sz="1200" dirty="0"/>
              <a:t>子网前缀通常包含注册者、提供商和授权的信息、子网信息，相当于</a:t>
            </a:r>
            <a:r>
              <a:rPr lang="en-US" altLang="zh-CN" sz="1200" dirty="0"/>
              <a:t>IPv4</a:t>
            </a:r>
            <a:r>
              <a:rPr lang="zh-CN" altLang="en-US" sz="1200" dirty="0"/>
              <a:t>地址中的网络</a:t>
            </a:r>
            <a:r>
              <a:rPr lang="en-US" altLang="zh-CN" sz="1200" dirty="0"/>
              <a:t>ID</a:t>
            </a:r>
            <a:r>
              <a:rPr lang="zh-CN" altLang="en-US" sz="1200" dirty="0"/>
              <a:t>，由地址分配和管理机构定义和分配</a:t>
            </a:r>
            <a:endParaRPr lang="en-US" altLang="zh-CN" sz="1200" dirty="0"/>
          </a:p>
          <a:p>
            <a:pPr lvl="2"/>
            <a:r>
              <a:rPr lang="zh-CN" altLang="en-US" sz="1200" dirty="0"/>
              <a:t>接口标识相当于</a:t>
            </a:r>
            <a:r>
              <a:rPr lang="en-US" altLang="zh-CN" sz="1200" dirty="0"/>
              <a:t>IPv4</a:t>
            </a:r>
            <a:r>
              <a:rPr lang="zh-CN" altLang="en-US" sz="1200" dirty="0"/>
              <a:t>地址中的主机</a:t>
            </a:r>
            <a:r>
              <a:rPr lang="en-US" altLang="zh-CN" sz="1200" dirty="0"/>
              <a:t>ID</a:t>
            </a:r>
            <a:r>
              <a:rPr lang="zh-CN" altLang="en-US" sz="1200" dirty="0"/>
              <a:t>，由各操作系统实现生成</a:t>
            </a:r>
            <a:endParaRPr lang="en-US" altLang="zh-CN" sz="1200" dirty="0"/>
          </a:p>
          <a:p>
            <a:pPr lvl="1"/>
            <a:endParaRPr lang="en-US" altLang="zh-CN" sz="1600" dirty="0" smtClean="0"/>
          </a:p>
          <a:p>
            <a:pPr lvl="1"/>
            <a:endParaRPr lang="zh-CN" altLang="en-US" sz="2000" dirty="0"/>
          </a:p>
        </p:txBody>
      </p:sp>
      <p:sp>
        <p:nvSpPr>
          <p:cNvPr id="3" name="标题 2"/>
          <p:cNvSpPr>
            <a:spLocks noGrp="1"/>
          </p:cNvSpPr>
          <p:nvPr>
            <p:ph type="title"/>
          </p:nvPr>
        </p:nvSpPr>
        <p:spPr/>
        <p:txBody>
          <a:bodyPr/>
          <a:lstStyle/>
          <a:p>
            <a:r>
              <a:rPr lang="en-US" altLang="zh-CN" dirty="0" smtClean="0"/>
              <a:t>IPv6</a:t>
            </a:r>
            <a:r>
              <a:rPr lang="zh-CN" altLang="en-US" dirty="0" smtClean="0"/>
              <a:t>地址</a:t>
            </a:r>
            <a:endParaRPr lang="zh-CN" altLang="en-US" dirty="0"/>
          </a:p>
        </p:txBody>
      </p:sp>
      <p:sp>
        <p:nvSpPr>
          <p:cNvPr id="4" name="内容占位符 3"/>
          <p:cNvSpPr>
            <a:spLocks noGrp="1"/>
          </p:cNvSpPr>
          <p:nvPr>
            <p:ph sz="half" idx="10"/>
          </p:nvPr>
        </p:nvSpPr>
        <p:spPr/>
        <p:txBody>
          <a:bodyPr/>
          <a:lstStyle/>
          <a:p>
            <a:r>
              <a:rPr lang="en-US" altLang="zh-CN" dirty="0" smtClean="0"/>
              <a:t>IPv6 Address</a:t>
            </a:r>
            <a:endParaRPr lang="zh-CN" altLang="en-US" dirty="0"/>
          </a:p>
        </p:txBody>
      </p:sp>
      <p:graphicFrame>
        <p:nvGraphicFramePr>
          <p:cNvPr id="7" name="Table 6"/>
          <p:cNvGraphicFramePr>
            <a:graphicFrameLocks noGrp="1"/>
          </p:cNvGraphicFramePr>
          <p:nvPr>
            <p:extLst>
              <p:ext uri="{D42A27DB-BD31-4B8C-83A1-F6EECF244321}">
                <p14:modId xmlns:p14="http://schemas.microsoft.com/office/powerpoint/2010/main" val="2247568041"/>
              </p:ext>
            </p:extLst>
          </p:nvPr>
        </p:nvGraphicFramePr>
        <p:xfrm>
          <a:off x="842802" y="2947639"/>
          <a:ext cx="10440000" cy="2641600"/>
        </p:xfrm>
        <a:graphic>
          <a:graphicData uri="http://schemas.openxmlformats.org/drawingml/2006/table">
            <a:tbl>
              <a:tblPr firstRow="1" bandRow="1">
                <a:tableStyleId>{5C22544A-7EE6-4342-B048-85BDC9FD1C3A}</a:tableStyleId>
              </a:tblPr>
              <a:tblGrid>
                <a:gridCol w="3240000">
                  <a:extLst>
                    <a:ext uri="{9D8B030D-6E8A-4147-A177-3AD203B41FA5}">
                      <a16:colId xmlns:a16="http://schemas.microsoft.com/office/drawing/2014/main" val="2024588660"/>
                    </a:ext>
                  </a:extLst>
                </a:gridCol>
                <a:gridCol w="1440000">
                  <a:extLst>
                    <a:ext uri="{9D8B030D-6E8A-4147-A177-3AD203B41FA5}">
                      <a16:colId xmlns:a16="http://schemas.microsoft.com/office/drawing/2014/main" val="1085786526"/>
                    </a:ext>
                  </a:extLst>
                </a:gridCol>
                <a:gridCol w="5760000">
                  <a:extLst>
                    <a:ext uri="{9D8B030D-6E8A-4147-A177-3AD203B41FA5}">
                      <a16:colId xmlns:a16="http://schemas.microsoft.com/office/drawing/2014/main" val="3937215164"/>
                    </a:ext>
                  </a:extLst>
                </a:gridCol>
              </a:tblGrid>
              <a:tr h="370840">
                <a:tc>
                  <a:txBody>
                    <a:bodyPr/>
                    <a:lstStyle/>
                    <a:p>
                      <a:r>
                        <a:rPr lang="en-US" altLang="zh-CN" sz="1600" dirty="0" smtClean="0"/>
                        <a:t>Address/Prefix</a:t>
                      </a:r>
                      <a:endParaRPr lang="zh-CN" altLang="en-US" sz="1600" dirty="0"/>
                    </a:p>
                  </a:txBody>
                  <a:tcPr/>
                </a:tc>
                <a:tc>
                  <a:txBody>
                    <a:bodyPr/>
                    <a:lstStyle/>
                    <a:p>
                      <a:r>
                        <a:rPr lang="en-US" altLang="zh-CN" sz="1600" dirty="0" smtClean="0"/>
                        <a:t>Properties</a:t>
                      </a:r>
                      <a:endParaRPr lang="zh-CN" altLang="en-US" sz="1600" dirty="0"/>
                    </a:p>
                  </a:txBody>
                  <a:tcPr/>
                </a:tc>
                <a:tc>
                  <a:txBody>
                    <a:bodyPr/>
                    <a:lstStyle/>
                    <a:p>
                      <a:r>
                        <a:rPr lang="en-US" altLang="zh-CN" sz="1600" dirty="0" smtClean="0"/>
                        <a:t>Details</a:t>
                      </a:r>
                      <a:endParaRPr lang="zh-CN" altLang="en-US" sz="1600" dirty="0"/>
                    </a:p>
                  </a:txBody>
                  <a:tcPr/>
                </a:tc>
                <a:extLst>
                  <a:ext uri="{0D108BD9-81ED-4DB2-BD59-A6C34878D82A}">
                    <a16:rowId xmlns:a16="http://schemas.microsoft.com/office/drawing/2014/main" val="825709255"/>
                  </a:ext>
                </a:extLst>
              </a:tr>
              <a:tr h="370840">
                <a:tc>
                  <a:txBody>
                    <a:bodyPr/>
                    <a:lstStyle/>
                    <a:p>
                      <a:r>
                        <a:rPr lang="en-US" altLang="zh-CN" sz="1600" dirty="0" smtClean="0"/>
                        <a:t>::/128</a:t>
                      </a:r>
                      <a:endParaRPr lang="zh-CN" altLang="en-US" sz="1600" dirty="0"/>
                    </a:p>
                  </a:txBody>
                  <a:tcPr/>
                </a:tc>
                <a:tc>
                  <a:txBody>
                    <a:bodyPr/>
                    <a:lstStyle/>
                    <a:p>
                      <a:r>
                        <a:rPr lang="en-US" altLang="zh-CN" sz="1600" dirty="0" smtClean="0"/>
                        <a:t>Unspecified</a:t>
                      </a:r>
                      <a:endParaRPr lang="zh-CN" altLang="en-US" sz="1600" dirty="0"/>
                    </a:p>
                  </a:txBody>
                  <a:tcPr/>
                </a:tc>
                <a:tc>
                  <a:txBody>
                    <a:bodyPr/>
                    <a:lstStyle/>
                    <a:p>
                      <a:r>
                        <a:rPr lang="zh-CN" altLang="en-US" sz="1600" dirty="0" smtClean="0"/>
                        <a:t>只用于未分配</a:t>
                      </a:r>
                      <a:r>
                        <a:rPr lang="en-US" altLang="zh-CN" sz="1600" dirty="0" smtClean="0"/>
                        <a:t>IP</a:t>
                      </a:r>
                      <a:r>
                        <a:rPr lang="zh-CN" altLang="en-US" sz="1600" dirty="0" smtClean="0"/>
                        <a:t>地址或</a:t>
                      </a:r>
                      <a:r>
                        <a:rPr lang="en-US" altLang="zh-CN" sz="1600" dirty="0" smtClean="0"/>
                        <a:t>IP</a:t>
                      </a:r>
                      <a:r>
                        <a:rPr lang="zh-CN" altLang="en-US" sz="1600" dirty="0" smtClean="0"/>
                        <a:t>地址未知</a:t>
                      </a:r>
                      <a:endParaRPr lang="zh-CN" altLang="en-US" sz="1600" dirty="0"/>
                    </a:p>
                  </a:txBody>
                  <a:tcPr/>
                </a:tc>
                <a:extLst>
                  <a:ext uri="{0D108BD9-81ED-4DB2-BD59-A6C34878D82A}">
                    <a16:rowId xmlns:a16="http://schemas.microsoft.com/office/drawing/2014/main" val="1685743540"/>
                  </a:ext>
                </a:extLst>
              </a:tr>
              <a:tr h="370840">
                <a:tc>
                  <a:txBody>
                    <a:bodyPr/>
                    <a:lstStyle/>
                    <a:p>
                      <a:r>
                        <a:rPr lang="en-US" altLang="zh-CN" sz="1600" dirty="0" smtClean="0"/>
                        <a:t>::1/128</a:t>
                      </a:r>
                      <a:endParaRPr lang="zh-CN" altLang="en-US" sz="1600" dirty="0"/>
                    </a:p>
                  </a:txBody>
                  <a:tcPr/>
                </a:tc>
                <a:tc>
                  <a:txBody>
                    <a:bodyPr/>
                    <a:lstStyle/>
                    <a:p>
                      <a:r>
                        <a:rPr lang="en-US" altLang="zh-CN" sz="1600" dirty="0" smtClean="0"/>
                        <a:t>Loopback</a:t>
                      </a:r>
                      <a:endParaRPr lang="zh-CN" altLang="en-US" sz="1600" dirty="0"/>
                    </a:p>
                  </a:txBody>
                  <a:tcPr/>
                </a:tc>
                <a:tc>
                  <a:txBody>
                    <a:bodyPr/>
                    <a:lstStyle/>
                    <a:p>
                      <a:r>
                        <a:rPr lang="zh-CN" altLang="en-US" sz="1600" dirty="0" smtClean="0"/>
                        <a:t>回环地址</a:t>
                      </a:r>
                      <a:endParaRPr lang="zh-CN" altLang="en-US" sz="1600" dirty="0"/>
                    </a:p>
                  </a:txBody>
                  <a:tcPr/>
                </a:tc>
                <a:extLst>
                  <a:ext uri="{0D108BD9-81ED-4DB2-BD59-A6C34878D82A}">
                    <a16:rowId xmlns:a16="http://schemas.microsoft.com/office/drawing/2014/main" val="2248287818"/>
                  </a:ext>
                </a:extLst>
              </a:tr>
              <a:tr h="370840">
                <a:tc>
                  <a:txBody>
                    <a:bodyPr/>
                    <a:lstStyle/>
                    <a:p>
                      <a:r>
                        <a:rPr lang="en-US" altLang="zh-CN" sz="1600" dirty="0" smtClean="0"/>
                        <a:t>fe80::/10 - </a:t>
                      </a:r>
                      <a:r>
                        <a:rPr lang="en-US" altLang="zh-CN" sz="1600" dirty="0" err="1" smtClean="0"/>
                        <a:t>febf:ffff:ffff:ffff:ffff:ffff:ffff:ffff</a:t>
                      </a:r>
                      <a:r>
                        <a:rPr lang="en-US" altLang="zh-CN" sz="1600" dirty="0" smtClean="0"/>
                        <a:t>/10</a:t>
                      </a:r>
                    </a:p>
                  </a:txBody>
                  <a:tcPr/>
                </a:tc>
                <a:tc>
                  <a:txBody>
                    <a:bodyPr/>
                    <a:lstStyle/>
                    <a:p>
                      <a:r>
                        <a:rPr lang="en-US" altLang="zh-CN" sz="1600" dirty="0" smtClean="0"/>
                        <a:t>Link-local unicast</a:t>
                      </a:r>
                      <a:endParaRPr lang="zh-CN" altLang="en-US" sz="1600" dirty="0"/>
                    </a:p>
                  </a:txBody>
                  <a:tcPr/>
                </a:tc>
                <a:tc>
                  <a:txBody>
                    <a:bodyPr/>
                    <a:lstStyle/>
                    <a:p>
                      <a:r>
                        <a:rPr lang="zh-CN" altLang="en-US" sz="1600" dirty="0" smtClean="0"/>
                        <a:t>仅在</a:t>
                      </a:r>
                      <a:r>
                        <a:rPr lang="en-US" altLang="zh-CN" sz="1600" dirty="0" smtClean="0"/>
                        <a:t>Switched LAN</a:t>
                      </a:r>
                      <a:r>
                        <a:rPr lang="zh-CN" altLang="en-US" sz="1600" dirty="0" smtClean="0"/>
                        <a:t>内通信，路由器不路由到其他</a:t>
                      </a:r>
                      <a:r>
                        <a:rPr lang="en-US" altLang="zh-CN" sz="1600" dirty="0" smtClean="0"/>
                        <a:t>LAN</a:t>
                      </a:r>
                      <a:r>
                        <a:rPr lang="zh-CN" altLang="en-US" sz="1600" dirty="0" smtClean="0"/>
                        <a:t>。不需要</a:t>
                      </a:r>
                      <a:r>
                        <a:rPr lang="en-US" altLang="zh-CN" sz="1600" dirty="0" smtClean="0"/>
                        <a:t>DHCP</a:t>
                      </a:r>
                      <a:r>
                        <a:rPr lang="zh-CN" altLang="en-US" sz="1600" dirty="0" smtClean="0"/>
                        <a:t>，用于自动配置和邻居发现</a:t>
                      </a:r>
                      <a:endParaRPr lang="zh-CN" altLang="en-US" sz="1600" dirty="0"/>
                    </a:p>
                  </a:txBody>
                  <a:tcPr/>
                </a:tc>
                <a:extLst>
                  <a:ext uri="{0D108BD9-81ED-4DB2-BD59-A6C34878D82A}">
                    <a16:rowId xmlns:a16="http://schemas.microsoft.com/office/drawing/2014/main" val="1159997400"/>
                  </a:ext>
                </a:extLst>
              </a:tr>
              <a:tr h="370840">
                <a:tc>
                  <a:txBody>
                    <a:bodyPr/>
                    <a:lstStyle/>
                    <a:p>
                      <a:r>
                        <a:rPr lang="en-US" altLang="zh-CN" sz="1600" dirty="0" smtClean="0"/>
                        <a:t>ff00::/8-ffff:ffff:ffff:ffff:ffff:ffff:ffff:ffff/8</a:t>
                      </a:r>
                    </a:p>
                  </a:txBody>
                  <a:tcPr/>
                </a:tc>
                <a:tc>
                  <a:txBody>
                    <a:bodyPr/>
                    <a:lstStyle/>
                    <a:p>
                      <a:r>
                        <a:rPr lang="en-US" altLang="zh-CN" sz="1600" dirty="0" smtClean="0"/>
                        <a:t>Multicast</a:t>
                      </a:r>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2233567621"/>
                  </a:ext>
                </a:extLst>
              </a:tr>
              <a:tr h="370840">
                <a:tc>
                  <a:txBody>
                    <a:bodyPr/>
                    <a:lstStyle/>
                    <a:p>
                      <a:r>
                        <a:rPr lang="en-US" altLang="zh-CN" sz="1600" dirty="0" smtClean="0"/>
                        <a:t>Others</a:t>
                      </a:r>
                    </a:p>
                  </a:txBody>
                  <a:tcPr/>
                </a:tc>
                <a:tc>
                  <a:txBody>
                    <a:bodyPr/>
                    <a:lstStyle/>
                    <a:p>
                      <a:r>
                        <a:rPr lang="en-US" altLang="zh-CN" sz="1600" dirty="0" smtClean="0"/>
                        <a:t>Global unicast</a:t>
                      </a:r>
                      <a:endParaRPr lang="zh-CN" altLang="en-US" sz="1600" dirty="0"/>
                    </a:p>
                  </a:txBody>
                  <a:tcPr/>
                </a:tc>
                <a:tc>
                  <a:txBody>
                    <a:bodyPr/>
                    <a:lstStyle/>
                    <a:p>
                      <a:endParaRPr lang="zh-CN" altLang="en-US" sz="1600" dirty="0"/>
                    </a:p>
                  </a:txBody>
                  <a:tcPr/>
                </a:tc>
                <a:extLst>
                  <a:ext uri="{0D108BD9-81ED-4DB2-BD59-A6C34878D82A}">
                    <a16:rowId xmlns:a16="http://schemas.microsoft.com/office/drawing/2014/main" val="1767694653"/>
                  </a:ext>
                </a:extLst>
              </a:tr>
            </a:tbl>
          </a:graphicData>
        </a:graphic>
      </p:graphicFrame>
    </p:spTree>
    <p:extLst>
      <p:ext uri="{BB962C8B-B14F-4D97-AF65-F5344CB8AC3E}">
        <p14:creationId xmlns:p14="http://schemas.microsoft.com/office/powerpoint/2010/main" val="42669389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2000" b="1" dirty="0"/>
              <a:t>地</a:t>
            </a:r>
            <a:r>
              <a:rPr lang="zh-CN" altLang="en-US" sz="2000" b="1" dirty="0" smtClean="0"/>
              <a:t>址类型</a:t>
            </a:r>
            <a:endParaRPr lang="en-US" altLang="zh-CN" sz="2000" b="1" dirty="0" smtClean="0"/>
          </a:p>
          <a:p>
            <a:pPr lvl="1"/>
            <a:r>
              <a:rPr lang="zh-CN" altLang="en-US" sz="1600" dirty="0" smtClean="0"/>
              <a:t>单播（</a:t>
            </a:r>
            <a:r>
              <a:rPr lang="en-US" altLang="zh-CN" sz="1600" dirty="0" smtClean="0"/>
              <a:t>unicast</a:t>
            </a:r>
            <a:r>
              <a:rPr lang="zh-CN" altLang="en-US" sz="1600" dirty="0" smtClean="0"/>
              <a:t>）</a:t>
            </a:r>
            <a:endParaRPr lang="en-US" altLang="zh-CN" sz="1600" dirty="0" smtClean="0"/>
          </a:p>
          <a:p>
            <a:pPr lvl="2"/>
            <a:r>
              <a:rPr lang="zh-CN" altLang="en-US" sz="1200" dirty="0" smtClean="0"/>
              <a:t>某一个接口的唯一标识，发往这个单播地址的包被发送至这个地址标识的接口上</a:t>
            </a:r>
            <a:endParaRPr lang="en-US" altLang="zh-CN" sz="1200" dirty="0" smtClean="0"/>
          </a:p>
          <a:p>
            <a:pPr lvl="2"/>
            <a:r>
              <a:rPr lang="zh-CN" altLang="en-US" sz="1200" dirty="0" smtClean="0"/>
              <a:t>由前缀</a:t>
            </a:r>
            <a:r>
              <a:rPr lang="en-US" altLang="zh-CN" sz="1200" dirty="0" smtClean="0"/>
              <a:t>001</a:t>
            </a:r>
            <a:r>
              <a:rPr lang="zh-CN" altLang="en-US" sz="1200" dirty="0" smtClean="0"/>
              <a:t>标识</a:t>
            </a:r>
            <a:endParaRPr lang="en-US" altLang="zh-CN" sz="1200" dirty="0" smtClean="0"/>
          </a:p>
          <a:p>
            <a:pPr lvl="1"/>
            <a:r>
              <a:rPr lang="zh-CN" altLang="en-US" sz="1600" dirty="0"/>
              <a:t>组</a:t>
            </a:r>
            <a:r>
              <a:rPr lang="zh-CN" altLang="en-US" sz="1600" dirty="0" smtClean="0"/>
              <a:t>播（</a:t>
            </a:r>
            <a:r>
              <a:rPr lang="en-US" altLang="zh-CN" sz="1600" dirty="0" smtClean="0"/>
              <a:t>multicast</a:t>
            </a:r>
            <a:r>
              <a:rPr lang="zh-CN" altLang="en-US" sz="1600" dirty="0" smtClean="0"/>
              <a:t>）</a:t>
            </a:r>
            <a:endParaRPr lang="en-US" altLang="zh-CN" sz="1600" dirty="0" smtClean="0"/>
          </a:p>
          <a:p>
            <a:pPr lvl="2"/>
            <a:r>
              <a:rPr lang="zh-CN" altLang="en-US" sz="1200" dirty="0"/>
              <a:t>一</a:t>
            </a:r>
            <a:r>
              <a:rPr lang="zh-CN" altLang="en-US" sz="1200" dirty="0" smtClean="0"/>
              <a:t>组接口（一般属于不同节点）的标识符，发往这个组播地址的包被发送至这个地址标识的所有接口上</a:t>
            </a:r>
            <a:endParaRPr lang="en-US" altLang="zh-CN" sz="1200" dirty="0" smtClean="0"/>
          </a:p>
          <a:p>
            <a:pPr lvl="2"/>
            <a:r>
              <a:rPr lang="zh-CN" altLang="en-US" sz="1200" dirty="0" smtClean="0"/>
              <a:t>由前缀</a:t>
            </a:r>
            <a:r>
              <a:rPr lang="en-US" altLang="zh-CN" sz="1200" dirty="0" smtClean="0"/>
              <a:t>0xff</a:t>
            </a:r>
            <a:r>
              <a:rPr lang="zh-CN" altLang="en-US" sz="1200" dirty="0" smtClean="0"/>
              <a:t>标识</a:t>
            </a:r>
            <a:endParaRPr lang="en-US" altLang="zh-CN" sz="1200" dirty="0" smtClean="0"/>
          </a:p>
          <a:p>
            <a:pPr lvl="1"/>
            <a:r>
              <a:rPr lang="zh-CN" altLang="en-US" sz="1600" dirty="0"/>
              <a:t>任</a:t>
            </a:r>
            <a:r>
              <a:rPr lang="zh-CN" altLang="en-US" sz="1600" dirty="0" smtClean="0"/>
              <a:t>播（</a:t>
            </a:r>
            <a:r>
              <a:rPr lang="en-US" altLang="zh-CN" sz="1600" dirty="0" err="1" smtClean="0"/>
              <a:t>anycast</a:t>
            </a:r>
            <a:r>
              <a:rPr lang="zh-CN" altLang="en-US" sz="1600" dirty="0" smtClean="0"/>
              <a:t>）</a:t>
            </a:r>
            <a:endParaRPr lang="en-US" altLang="zh-CN" sz="1600" dirty="0" smtClean="0"/>
          </a:p>
          <a:p>
            <a:pPr lvl="2"/>
            <a:r>
              <a:rPr lang="zh-CN" altLang="en-US" sz="1200" dirty="0"/>
              <a:t>一组接</a:t>
            </a:r>
            <a:r>
              <a:rPr lang="zh-CN" altLang="en-US" sz="1200" dirty="0" smtClean="0"/>
              <a:t>口（一般属于不同节点）的标识符，发往这个组播地址的包被发送至这个地址标识的某一个接口（根据路由距离量度最近的一个）</a:t>
            </a:r>
            <a:endParaRPr lang="en-US" altLang="zh-CN" sz="1200" dirty="0" smtClean="0"/>
          </a:p>
          <a:p>
            <a:pPr lvl="2"/>
            <a:r>
              <a:rPr lang="zh-CN" altLang="en-US" sz="1200" dirty="0"/>
              <a:t>任</a:t>
            </a:r>
            <a:r>
              <a:rPr lang="zh-CN" altLang="en-US" sz="1200" dirty="0" smtClean="0"/>
              <a:t>播地址占据单播地址空间，一般</a:t>
            </a:r>
            <a:r>
              <a:rPr lang="zh-CN" altLang="en-US" sz="1200" dirty="0"/>
              <a:t>不</a:t>
            </a:r>
            <a:r>
              <a:rPr lang="zh-CN" altLang="en-US" sz="1200" dirty="0" smtClean="0"/>
              <a:t>能从字面区分</a:t>
            </a:r>
            <a:endParaRPr lang="en-US" altLang="zh-CN" sz="2000" dirty="0" smtClean="0"/>
          </a:p>
          <a:p>
            <a:pPr lvl="1"/>
            <a:r>
              <a:rPr lang="zh-CN" altLang="en-US" sz="1600" dirty="0"/>
              <a:t>任何一个</a:t>
            </a:r>
            <a:r>
              <a:rPr lang="en-US" altLang="zh-CN" sz="1600" dirty="0"/>
              <a:t>IPv6</a:t>
            </a:r>
            <a:r>
              <a:rPr lang="zh-CN" altLang="en-US" sz="1600" dirty="0"/>
              <a:t>节点都需要开</a:t>
            </a:r>
            <a:r>
              <a:rPr lang="zh-CN" altLang="en-US" sz="1600" dirty="0" smtClean="0"/>
              <a:t>启以下</a:t>
            </a:r>
            <a:r>
              <a:rPr lang="zh-CN" altLang="en-US" sz="1600" dirty="0"/>
              <a:t>地址</a:t>
            </a:r>
            <a:r>
              <a:rPr lang="zh-CN" altLang="en-US" sz="1600" dirty="0" smtClean="0"/>
              <a:t>：</a:t>
            </a:r>
            <a:endParaRPr lang="en-US" altLang="zh-CN" sz="1600" dirty="0" smtClean="0"/>
          </a:p>
          <a:p>
            <a:pPr lvl="2"/>
            <a:r>
              <a:rPr lang="zh-CN" altLang="en-US" sz="1200" dirty="0"/>
              <a:t>每</a:t>
            </a:r>
            <a:r>
              <a:rPr lang="zh-CN" altLang="en-US" sz="1200" dirty="0" smtClean="0"/>
              <a:t>个接口的链路本地地址</a:t>
            </a:r>
            <a:endParaRPr lang="en-US" altLang="zh-CN" sz="1200" dirty="0" smtClean="0"/>
          </a:p>
          <a:p>
            <a:pPr lvl="2"/>
            <a:r>
              <a:rPr lang="zh-CN" altLang="en-US" sz="1200" dirty="0"/>
              <a:t>环</a:t>
            </a:r>
            <a:r>
              <a:rPr lang="zh-CN" altLang="en-US" sz="1200" dirty="0" smtClean="0"/>
              <a:t>回地址</a:t>
            </a:r>
            <a:endParaRPr lang="en-US" altLang="zh-CN" sz="1200" dirty="0" smtClean="0"/>
          </a:p>
          <a:p>
            <a:pPr lvl="2"/>
            <a:r>
              <a:rPr lang="zh-CN" altLang="en-US" sz="1200" dirty="0" smtClean="0"/>
              <a:t>被分配的单播地址</a:t>
            </a:r>
            <a:endParaRPr lang="en-US" altLang="zh-CN" sz="1200" dirty="0" smtClean="0"/>
          </a:p>
          <a:p>
            <a:pPr lvl="2"/>
            <a:r>
              <a:rPr lang="zh-CN" altLang="en-US" sz="1200" dirty="0"/>
              <a:t>所</a:t>
            </a:r>
            <a:r>
              <a:rPr lang="zh-CN" altLang="en-US" sz="1200" dirty="0" smtClean="0"/>
              <a:t>有节点的组播地址</a:t>
            </a:r>
            <a:endParaRPr lang="en-US" altLang="zh-CN" sz="1200" dirty="0" smtClean="0"/>
          </a:p>
          <a:p>
            <a:pPr lvl="2"/>
            <a:r>
              <a:rPr lang="zh-CN" altLang="en-US" sz="1200" dirty="0"/>
              <a:t>所</a:t>
            </a:r>
            <a:r>
              <a:rPr lang="zh-CN" altLang="en-US" sz="1200" dirty="0" smtClean="0"/>
              <a:t>用的每个单播和任播地址的被请求节点组播地址</a:t>
            </a:r>
            <a:endParaRPr lang="en-US" altLang="zh-CN" sz="1200" dirty="0" smtClean="0"/>
          </a:p>
          <a:p>
            <a:pPr lvl="2"/>
            <a:r>
              <a:rPr lang="zh-CN" altLang="en-US" sz="1200" dirty="0"/>
              <a:t>主</a:t>
            </a:r>
            <a:r>
              <a:rPr lang="zh-CN" altLang="en-US" sz="1200" dirty="0" smtClean="0"/>
              <a:t>机所属的组播组的地址</a:t>
            </a:r>
            <a:endParaRPr lang="en-US" altLang="zh-CN" sz="1200" dirty="0" smtClean="0"/>
          </a:p>
        </p:txBody>
      </p:sp>
      <p:sp>
        <p:nvSpPr>
          <p:cNvPr id="3" name="标题 2"/>
          <p:cNvSpPr>
            <a:spLocks noGrp="1"/>
          </p:cNvSpPr>
          <p:nvPr>
            <p:ph type="title"/>
          </p:nvPr>
        </p:nvSpPr>
        <p:spPr/>
        <p:txBody>
          <a:bodyPr/>
          <a:lstStyle/>
          <a:p>
            <a:r>
              <a:rPr lang="en-US" altLang="zh-CN" dirty="0" smtClean="0"/>
              <a:t>IPv6</a:t>
            </a:r>
            <a:r>
              <a:rPr lang="zh-CN" altLang="en-US" dirty="0" smtClean="0"/>
              <a:t>地址</a:t>
            </a:r>
            <a:endParaRPr lang="zh-CN" altLang="en-US" dirty="0"/>
          </a:p>
        </p:txBody>
      </p:sp>
      <p:sp>
        <p:nvSpPr>
          <p:cNvPr id="4" name="内容占位符 3"/>
          <p:cNvSpPr>
            <a:spLocks noGrp="1"/>
          </p:cNvSpPr>
          <p:nvPr>
            <p:ph sz="half" idx="10"/>
          </p:nvPr>
        </p:nvSpPr>
        <p:spPr/>
        <p:txBody>
          <a:bodyPr/>
          <a:lstStyle/>
          <a:p>
            <a:r>
              <a:rPr lang="en-US" altLang="zh-CN" dirty="0" smtClean="0"/>
              <a:t>IPv6 Address</a:t>
            </a:r>
            <a:endParaRPr lang="zh-CN" altLang="en-US" dirty="0"/>
          </a:p>
        </p:txBody>
      </p:sp>
    </p:spTree>
    <p:extLst>
      <p:ext uri="{BB962C8B-B14F-4D97-AF65-F5344CB8AC3E}">
        <p14:creationId xmlns:p14="http://schemas.microsoft.com/office/powerpoint/2010/main" val="21913260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2000" b="1" dirty="0"/>
              <a:t>地</a:t>
            </a:r>
            <a:r>
              <a:rPr lang="zh-CN" altLang="en-US" sz="2000" b="1" dirty="0" smtClean="0"/>
              <a:t>址类型</a:t>
            </a:r>
            <a:endParaRPr lang="en-US" altLang="zh-CN" sz="2000" b="1" dirty="0" smtClean="0"/>
          </a:p>
          <a:p>
            <a:r>
              <a:rPr lang="zh-CN" altLang="en-US" sz="2000" dirty="0" smtClean="0"/>
              <a:t>单播</a:t>
            </a:r>
            <a:r>
              <a:rPr lang="en-US" altLang="zh-CN" sz="2000" dirty="0" smtClean="0"/>
              <a:t>(unicast</a:t>
            </a:r>
            <a:r>
              <a:rPr lang="en-US" altLang="zh-CN" sz="2000" dirty="0"/>
              <a:t>)</a:t>
            </a:r>
            <a:endParaRPr lang="en-US" altLang="zh-CN" sz="2000" dirty="0" smtClean="0"/>
          </a:p>
          <a:p>
            <a:pPr lvl="1"/>
            <a:r>
              <a:rPr lang="zh-CN" altLang="en-US" sz="1600" dirty="0" smtClean="0"/>
              <a:t>可聚合</a:t>
            </a:r>
            <a:r>
              <a:rPr lang="zh-CN" altLang="en-US" sz="1600" dirty="0"/>
              <a:t>全局</a:t>
            </a:r>
            <a:r>
              <a:rPr lang="zh-CN" altLang="en-US" sz="1600" dirty="0" smtClean="0"/>
              <a:t>单播地址</a:t>
            </a:r>
            <a:endParaRPr lang="en-US" altLang="zh-CN" sz="1600" dirty="0" smtClean="0"/>
          </a:p>
          <a:p>
            <a:pPr lvl="2"/>
            <a:r>
              <a:rPr lang="zh-CN" altLang="en-US" sz="1200" dirty="0"/>
              <a:t>全</a:t>
            </a:r>
            <a:r>
              <a:rPr lang="zh-CN" altLang="en-US" sz="1200" dirty="0" smtClean="0"/>
              <a:t>球唯一</a:t>
            </a:r>
            <a:r>
              <a:rPr lang="zh-CN" altLang="en-US" sz="1200" dirty="0"/>
              <a:t>地</a:t>
            </a:r>
            <a:r>
              <a:rPr lang="zh-CN" altLang="en-US" sz="1200" dirty="0" smtClean="0"/>
              <a:t>址（类似于</a:t>
            </a:r>
            <a:r>
              <a:rPr lang="en-US" altLang="zh-CN" sz="1200" dirty="0" smtClean="0"/>
              <a:t>IPv4</a:t>
            </a:r>
            <a:r>
              <a:rPr lang="zh-CN" altLang="en-US" sz="1200" dirty="0" smtClean="0"/>
              <a:t>中的全局单播地址）</a:t>
            </a:r>
            <a:endParaRPr lang="en-US" altLang="zh-CN" sz="1200" dirty="0" smtClean="0"/>
          </a:p>
          <a:p>
            <a:pPr lvl="2"/>
            <a:r>
              <a:rPr lang="zh-CN" altLang="en-US" sz="1200" dirty="0"/>
              <a:t>发</a:t>
            </a:r>
            <a:r>
              <a:rPr lang="zh-CN" altLang="en-US" sz="1200" dirty="0" smtClean="0"/>
              <a:t>往</a:t>
            </a:r>
            <a:r>
              <a:rPr lang="zh-CN" altLang="en-US" sz="1200" dirty="0"/>
              <a:t>该</a:t>
            </a:r>
            <a:r>
              <a:rPr lang="zh-CN" altLang="en-US" sz="1200" dirty="0" smtClean="0"/>
              <a:t>地址的数据包可被转发到全局网络的任何部分</a:t>
            </a:r>
            <a:endParaRPr lang="en-US" altLang="zh-CN" sz="1200" dirty="0" smtClean="0"/>
          </a:p>
          <a:p>
            <a:pPr lvl="2"/>
            <a:r>
              <a:rPr lang="zh-CN" altLang="en-US" sz="1200" dirty="0" smtClean="0"/>
              <a:t>地址范围：</a:t>
            </a:r>
            <a:r>
              <a:rPr lang="en-US" altLang="zh-CN" sz="1200" dirty="0"/>
              <a:t>2000::/64 - </a:t>
            </a:r>
            <a:r>
              <a:rPr lang="en-US" altLang="zh-CN" sz="1200" dirty="0" smtClean="0"/>
              <a:t>3fff:ffff:ffff:ffff:ffff:ffff:ffff:ffff/64</a:t>
            </a:r>
          </a:p>
          <a:p>
            <a:pPr lvl="2"/>
            <a:r>
              <a:rPr lang="zh-CN" altLang="en-US" sz="1200" dirty="0" smtClean="0"/>
              <a:t>一个设备可以有多个</a:t>
            </a:r>
            <a:r>
              <a:rPr lang="en-US" altLang="zh-CN" sz="1200" dirty="0" smtClean="0"/>
              <a:t>IPv6</a:t>
            </a:r>
            <a:r>
              <a:rPr lang="zh-CN" altLang="en-US" sz="1200" dirty="0" smtClean="0"/>
              <a:t>接口，接口</a:t>
            </a:r>
            <a:r>
              <a:rPr lang="en-US" altLang="zh-CN" sz="1200" dirty="0" smtClean="0"/>
              <a:t>ID</a:t>
            </a:r>
            <a:r>
              <a:rPr lang="zh-CN" altLang="en-US" sz="1200" dirty="0" smtClean="0"/>
              <a:t>可以用于标识接口，但是一个接口可以有多个</a:t>
            </a:r>
            <a:r>
              <a:rPr lang="en-US" altLang="zh-CN" sz="1200" dirty="0" smtClean="0"/>
              <a:t>IPv6</a:t>
            </a:r>
            <a:r>
              <a:rPr lang="zh-CN" altLang="en-US" sz="1200" dirty="0" smtClean="0"/>
              <a:t>地址</a:t>
            </a:r>
            <a:endParaRPr lang="en-US" altLang="zh-CN" sz="2400" dirty="0"/>
          </a:p>
          <a:p>
            <a:endParaRPr lang="en-US" altLang="zh-CN" sz="1600" dirty="0" smtClean="0"/>
          </a:p>
        </p:txBody>
      </p:sp>
      <p:sp>
        <p:nvSpPr>
          <p:cNvPr id="3" name="标题 2"/>
          <p:cNvSpPr>
            <a:spLocks noGrp="1"/>
          </p:cNvSpPr>
          <p:nvPr>
            <p:ph type="title"/>
          </p:nvPr>
        </p:nvSpPr>
        <p:spPr/>
        <p:txBody>
          <a:bodyPr/>
          <a:lstStyle/>
          <a:p>
            <a:r>
              <a:rPr lang="en-US" altLang="zh-CN" dirty="0" smtClean="0"/>
              <a:t>IPv6</a:t>
            </a:r>
            <a:r>
              <a:rPr lang="zh-CN" altLang="en-US" dirty="0" smtClean="0"/>
              <a:t>地址</a:t>
            </a:r>
            <a:endParaRPr lang="zh-CN" altLang="en-US" dirty="0"/>
          </a:p>
        </p:txBody>
      </p:sp>
      <p:sp>
        <p:nvSpPr>
          <p:cNvPr id="4" name="内容占位符 3"/>
          <p:cNvSpPr>
            <a:spLocks noGrp="1"/>
          </p:cNvSpPr>
          <p:nvPr>
            <p:ph sz="half" idx="10"/>
          </p:nvPr>
        </p:nvSpPr>
        <p:spPr/>
        <p:txBody>
          <a:bodyPr/>
          <a:lstStyle/>
          <a:p>
            <a:r>
              <a:rPr lang="en-US" altLang="zh-CN" dirty="0" smtClean="0"/>
              <a:t>IPv6 Address</a:t>
            </a:r>
            <a:endParaRPr lang="zh-CN" altLang="en-US" dirty="0"/>
          </a:p>
        </p:txBody>
      </p:sp>
      <p:graphicFrame>
        <p:nvGraphicFramePr>
          <p:cNvPr id="5" name="Table 4"/>
          <p:cNvGraphicFramePr>
            <a:graphicFrameLocks noGrp="1"/>
          </p:cNvGraphicFramePr>
          <p:nvPr>
            <p:extLst>
              <p:ext uri="{D42A27DB-BD31-4B8C-83A1-F6EECF244321}">
                <p14:modId xmlns:p14="http://schemas.microsoft.com/office/powerpoint/2010/main" val="3257121779"/>
              </p:ext>
            </p:extLst>
          </p:nvPr>
        </p:nvGraphicFramePr>
        <p:xfrm>
          <a:off x="302801" y="4099517"/>
          <a:ext cx="11520000" cy="7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4090118426"/>
                    </a:ext>
                  </a:extLst>
                </a:gridCol>
                <a:gridCol w="3600000">
                  <a:extLst>
                    <a:ext uri="{9D8B030D-6E8A-4147-A177-3AD203B41FA5}">
                      <a16:colId xmlns:a16="http://schemas.microsoft.com/office/drawing/2014/main" val="2910308295"/>
                    </a:ext>
                  </a:extLst>
                </a:gridCol>
                <a:gridCol w="1440000">
                  <a:extLst>
                    <a:ext uri="{9D8B030D-6E8A-4147-A177-3AD203B41FA5}">
                      <a16:colId xmlns:a16="http://schemas.microsoft.com/office/drawing/2014/main" val="1011652592"/>
                    </a:ext>
                  </a:extLst>
                </a:gridCol>
                <a:gridCol w="5760000">
                  <a:extLst>
                    <a:ext uri="{9D8B030D-6E8A-4147-A177-3AD203B41FA5}">
                      <a16:colId xmlns:a16="http://schemas.microsoft.com/office/drawing/2014/main" val="2273083799"/>
                    </a:ext>
                  </a:extLst>
                </a:gridCol>
              </a:tblGrid>
              <a:tr h="360000">
                <a:tc>
                  <a:txBody>
                    <a:bodyPr/>
                    <a:lstStyle/>
                    <a:p>
                      <a:pPr algn="ctr"/>
                      <a:r>
                        <a:rPr lang="en-US" altLang="zh-CN" sz="1600" dirty="0" smtClean="0"/>
                        <a:t>3</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45</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16</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64</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4163898615"/>
                  </a:ext>
                </a:extLst>
              </a:tr>
              <a:tr h="360000">
                <a:tc>
                  <a:txBody>
                    <a:bodyPr/>
                    <a:lstStyle/>
                    <a:p>
                      <a:pPr algn="ctr"/>
                      <a:r>
                        <a:rPr lang="en-US" altLang="zh-CN" sz="1600" dirty="0" smtClean="0"/>
                        <a:t>001</a:t>
                      </a:r>
                      <a:endParaRPr lang="zh-CN" altLang="en-US" sz="1600" dirty="0"/>
                    </a:p>
                  </a:txBody>
                  <a:tcPr/>
                </a:tc>
                <a:tc>
                  <a:txBody>
                    <a:bodyPr/>
                    <a:lstStyle/>
                    <a:p>
                      <a:pPr algn="ctr"/>
                      <a:r>
                        <a:rPr lang="zh-CN" altLang="en-US" sz="1600" dirty="0" smtClean="0"/>
                        <a:t>全局路由前缀</a:t>
                      </a:r>
                      <a:endParaRPr lang="zh-CN" altLang="en-US" sz="1600" dirty="0"/>
                    </a:p>
                  </a:txBody>
                  <a:tcPr/>
                </a:tc>
                <a:tc>
                  <a:txBody>
                    <a:bodyPr/>
                    <a:lstStyle/>
                    <a:p>
                      <a:pPr algn="ctr"/>
                      <a:r>
                        <a:rPr lang="zh-CN" altLang="en-US" sz="1600" dirty="0" smtClean="0"/>
                        <a:t>子网</a:t>
                      </a:r>
                      <a:r>
                        <a:rPr lang="en-US" altLang="zh-CN" sz="1600" dirty="0" smtClean="0"/>
                        <a:t>ID</a:t>
                      </a:r>
                      <a:endParaRPr lang="zh-CN" altLang="en-US" sz="1600" dirty="0"/>
                    </a:p>
                  </a:txBody>
                  <a:tcPr/>
                </a:tc>
                <a:tc>
                  <a:txBody>
                    <a:bodyPr/>
                    <a:lstStyle/>
                    <a:p>
                      <a:pPr algn="ctr"/>
                      <a:r>
                        <a:rPr lang="zh-CN" altLang="en-US" sz="1600" dirty="0" smtClean="0"/>
                        <a:t>接口</a:t>
                      </a:r>
                      <a:r>
                        <a:rPr lang="en-US" altLang="zh-CN" sz="1600" dirty="0" smtClean="0"/>
                        <a:t>ID</a:t>
                      </a:r>
                      <a:endParaRPr lang="zh-CN" altLang="en-US" sz="1600" dirty="0"/>
                    </a:p>
                  </a:txBody>
                  <a:tcPr/>
                </a:tc>
                <a:extLst>
                  <a:ext uri="{0D108BD9-81ED-4DB2-BD59-A6C34878D82A}">
                    <a16:rowId xmlns:a16="http://schemas.microsoft.com/office/drawing/2014/main" val="147485642"/>
                  </a:ext>
                </a:extLst>
              </a:tr>
            </a:tbl>
          </a:graphicData>
        </a:graphic>
      </p:graphicFrame>
    </p:spTree>
    <p:extLst>
      <p:ext uri="{BB962C8B-B14F-4D97-AF65-F5344CB8AC3E}">
        <p14:creationId xmlns:p14="http://schemas.microsoft.com/office/powerpoint/2010/main" val="24831638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2000" b="1" dirty="0"/>
              <a:t>地</a:t>
            </a:r>
            <a:r>
              <a:rPr lang="zh-CN" altLang="en-US" sz="2000" b="1" dirty="0" smtClean="0"/>
              <a:t>址类型</a:t>
            </a:r>
            <a:endParaRPr lang="en-US" altLang="zh-CN" sz="2000" b="1" dirty="0" smtClean="0"/>
          </a:p>
          <a:p>
            <a:r>
              <a:rPr lang="zh-CN" altLang="en-US" sz="2000" dirty="0" smtClean="0"/>
              <a:t>单播</a:t>
            </a:r>
            <a:r>
              <a:rPr lang="en-US" altLang="zh-CN" sz="2000" dirty="0" smtClean="0"/>
              <a:t>(unicast)</a:t>
            </a:r>
          </a:p>
          <a:p>
            <a:pPr lvl="1"/>
            <a:r>
              <a:rPr lang="zh-CN" altLang="en-US" sz="1600" dirty="0" smtClean="0"/>
              <a:t>链路本地地址</a:t>
            </a:r>
            <a:r>
              <a:rPr lang="en-US" altLang="zh-CN" sz="1600" dirty="0" smtClean="0"/>
              <a:t>(Link-local Address)</a:t>
            </a:r>
          </a:p>
          <a:p>
            <a:pPr lvl="2"/>
            <a:r>
              <a:rPr lang="zh-CN" altLang="en-US" sz="1200" dirty="0" smtClean="0"/>
              <a:t>用于单个链路，可进行自动配置、邻居发现或在没有路由器时进行单个链</a:t>
            </a:r>
            <a:r>
              <a:rPr lang="zh-CN" altLang="en-US" sz="1200" dirty="0"/>
              <a:t>路</a:t>
            </a:r>
            <a:r>
              <a:rPr lang="zh-CN" altLang="en-US" sz="1200" dirty="0" smtClean="0"/>
              <a:t>编址</a:t>
            </a:r>
            <a:endParaRPr lang="en-US" altLang="zh-CN" sz="1200" dirty="0" smtClean="0"/>
          </a:p>
          <a:p>
            <a:pPr lvl="2"/>
            <a:r>
              <a:rPr lang="zh-CN" altLang="en-US" sz="1200" dirty="0"/>
              <a:t>包含</a:t>
            </a:r>
            <a:r>
              <a:rPr lang="zh-CN" altLang="en-US" sz="1200" dirty="0" smtClean="0"/>
              <a:t>链路本地地址（</a:t>
            </a:r>
            <a:r>
              <a:rPr lang="en-US" altLang="zh-CN" sz="1200" dirty="0" smtClean="0"/>
              <a:t>Source or Destination</a:t>
            </a:r>
            <a:r>
              <a:rPr lang="zh-CN" altLang="en-US" sz="1200" dirty="0" smtClean="0"/>
              <a:t>）的数据包不被转发到其他链路</a:t>
            </a:r>
            <a:endParaRPr lang="en-US" altLang="zh-CN" sz="1200" dirty="0" smtClean="0"/>
          </a:p>
          <a:p>
            <a:pPr lvl="2"/>
            <a:r>
              <a:rPr lang="zh-CN" altLang="en-US" sz="1200" dirty="0" smtClean="0"/>
              <a:t>地址范围：</a:t>
            </a:r>
            <a:r>
              <a:rPr lang="en-US" altLang="zh-CN" sz="1200" dirty="0"/>
              <a:t>fe80::/64 – fe80::</a:t>
            </a:r>
            <a:r>
              <a:rPr lang="en-US" altLang="zh-CN" sz="1200" dirty="0" err="1" smtClean="0"/>
              <a:t>ffff:ffff:ffff:ffff</a:t>
            </a:r>
            <a:r>
              <a:rPr lang="en-US" altLang="zh-CN" sz="1200" dirty="0" smtClean="0"/>
              <a:t>/64</a:t>
            </a:r>
          </a:p>
          <a:p>
            <a:pPr lvl="2"/>
            <a:endParaRPr lang="en-US" altLang="zh-CN" sz="1200" dirty="0"/>
          </a:p>
          <a:p>
            <a:pPr lvl="2"/>
            <a:endParaRPr lang="en-US" altLang="zh-CN" sz="1200" dirty="0" smtClean="0"/>
          </a:p>
          <a:p>
            <a:pPr lvl="2"/>
            <a:endParaRPr lang="en-US" altLang="zh-CN" sz="1200" dirty="0"/>
          </a:p>
          <a:p>
            <a:pPr lvl="2"/>
            <a:r>
              <a:rPr lang="zh-CN" altLang="en-US" sz="1200" dirty="0"/>
              <a:t>链路本地地址可手工配置，也可自动生成，自动生成方式</a:t>
            </a:r>
            <a:r>
              <a:rPr lang="en-US" altLang="zh-CN" sz="1200" dirty="0"/>
              <a:t>——</a:t>
            </a:r>
            <a:r>
              <a:rPr lang="en-US" altLang="zh-CN" sz="1200" dirty="0" smtClean="0"/>
              <a:t>EUI64</a:t>
            </a:r>
            <a:r>
              <a:rPr lang="zh-CN" altLang="en-US" sz="1200" dirty="0" smtClean="0"/>
              <a:t>（</a:t>
            </a:r>
            <a:r>
              <a:rPr lang="en-US" altLang="zh-CN" sz="1200" dirty="0" smtClean="0"/>
              <a:t>windows7</a:t>
            </a:r>
            <a:r>
              <a:rPr lang="zh-CN" altLang="en-US" sz="1200" dirty="0" smtClean="0"/>
              <a:t>以后不支持，</a:t>
            </a:r>
            <a:r>
              <a:rPr lang="en-US" altLang="zh-CN" sz="1200" dirty="0" err="1" smtClean="0"/>
              <a:t>linux</a:t>
            </a:r>
            <a:r>
              <a:rPr lang="zh-CN" altLang="en-US" sz="1200" dirty="0" smtClean="0"/>
              <a:t>支持）</a:t>
            </a:r>
            <a:endParaRPr lang="en-US" altLang="zh-CN" sz="2400" dirty="0" smtClean="0"/>
          </a:p>
          <a:p>
            <a:endParaRPr lang="en-US" altLang="zh-CN" sz="1600" dirty="0" smtClean="0"/>
          </a:p>
        </p:txBody>
      </p:sp>
      <p:sp>
        <p:nvSpPr>
          <p:cNvPr id="3" name="标题 2"/>
          <p:cNvSpPr>
            <a:spLocks noGrp="1"/>
          </p:cNvSpPr>
          <p:nvPr>
            <p:ph type="title"/>
          </p:nvPr>
        </p:nvSpPr>
        <p:spPr/>
        <p:txBody>
          <a:bodyPr/>
          <a:lstStyle/>
          <a:p>
            <a:r>
              <a:rPr lang="en-US" altLang="zh-CN" dirty="0" smtClean="0"/>
              <a:t>IPv6</a:t>
            </a:r>
            <a:r>
              <a:rPr lang="zh-CN" altLang="en-US" dirty="0" smtClean="0"/>
              <a:t>地址</a:t>
            </a:r>
            <a:endParaRPr lang="zh-CN" altLang="en-US" dirty="0"/>
          </a:p>
        </p:txBody>
      </p:sp>
      <p:sp>
        <p:nvSpPr>
          <p:cNvPr id="4" name="内容占位符 3"/>
          <p:cNvSpPr>
            <a:spLocks noGrp="1"/>
          </p:cNvSpPr>
          <p:nvPr>
            <p:ph sz="half" idx="10"/>
          </p:nvPr>
        </p:nvSpPr>
        <p:spPr/>
        <p:txBody>
          <a:bodyPr/>
          <a:lstStyle/>
          <a:p>
            <a:r>
              <a:rPr lang="en-US" altLang="zh-CN" dirty="0" smtClean="0"/>
              <a:t>IPv6 Address</a:t>
            </a:r>
            <a:endParaRPr lang="zh-CN" altLang="en-US" dirty="0"/>
          </a:p>
        </p:txBody>
      </p:sp>
      <p:graphicFrame>
        <p:nvGraphicFramePr>
          <p:cNvPr id="5" name="Table 4"/>
          <p:cNvGraphicFramePr>
            <a:graphicFrameLocks noGrp="1"/>
          </p:cNvGraphicFramePr>
          <p:nvPr>
            <p:extLst/>
          </p:nvPr>
        </p:nvGraphicFramePr>
        <p:xfrm>
          <a:off x="302801" y="3117741"/>
          <a:ext cx="11520000" cy="720000"/>
        </p:xfrm>
        <a:graphic>
          <a:graphicData uri="http://schemas.openxmlformats.org/drawingml/2006/table">
            <a:tbl>
              <a:tblPr firstRow="1" bandRow="1">
                <a:tableStyleId>{5940675A-B579-460E-94D1-54222C63F5DA}</a:tableStyleId>
              </a:tblPr>
              <a:tblGrid>
                <a:gridCol w="1440000">
                  <a:extLst>
                    <a:ext uri="{9D8B030D-6E8A-4147-A177-3AD203B41FA5}">
                      <a16:colId xmlns:a16="http://schemas.microsoft.com/office/drawing/2014/main" val="4090118426"/>
                    </a:ext>
                  </a:extLst>
                </a:gridCol>
                <a:gridCol w="4320000">
                  <a:extLst>
                    <a:ext uri="{9D8B030D-6E8A-4147-A177-3AD203B41FA5}">
                      <a16:colId xmlns:a16="http://schemas.microsoft.com/office/drawing/2014/main" val="4252971219"/>
                    </a:ext>
                  </a:extLst>
                </a:gridCol>
                <a:gridCol w="5760000">
                  <a:extLst>
                    <a:ext uri="{9D8B030D-6E8A-4147-A177-3AD203B41FA5}">
                      <a16:colId xmlns:a16="http://schemas.microsoft.com/office/drawing/2014/main" val="2273083799"/>
                    </a:ext>
                  </a:extLst>
                </a:gridCol>
              </a:tblGrid>
              <a:tr h="360000">
                <a:tc>
                  <a:txBody>
                    <a:bodyPr/>
                    <a:lstStyle/>
                    <a:p>
                      <a:pPr algn="ctr"/>
                      <a:r>
                        <a:rPr lang="en-US" altLang="zh-CN" sz="1600" dirty="0" smtClean="0"/>
                        <a:t>10</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54</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64</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4163898615"/>
                  </a:ext>
                </a:extLst>
              </a:tr>
              <a:tr h="360000">
                <a:tc>
                  <a:txBody>
                    <a:bodyPr/>
                    <a:lstStyle/>
                    <a:p>
                      <a:pPr algn="ctr"/>
                      <a:r>
                        <a:rPr lang="en-US" altLang="zh-CN" sz="1600" dirty="0" smtClean="0"/>
                        <a:t>1111 1110 10</a:t>
                      </a:r>
                      <a:endParaRPr lang="zh-CN" altLang="en-US" sz="1600" dirty="0"/>
                    </a:p>
                  </a:txBody>
                  <a:tcPr/>
                </a:tc>
                <a:tc>
                  <a:txBody>
                    <a:bodyPr/>
                    <a:lstStyle/>
                    <a:p>
                      <a:pPr algn="ctr"/>
                      <a:r>
                        <a:rPr lang="en-US" altLang="zh-CN" sz="1600" dirty="0" smtClean="0"/>
                        <a:t>0</a:t>
                      </a:r>
                      <a:endParaRPr lang="zh-CN" altLang="en-US" sz="1600" dirty="0"/>
                    </a:p>
                  </a:txBody>
                  <a:tcPr/>
                </a:tc>
                <a:tc>
                  <a:txBody>
                    <a:bodyPr/>
                    <a:lstStyle/>
                    <a:p>
                      <a:pPr algn="ctr"/>
                      <a:r>
                        <a:rPr lang="zh-CN" altLang="en-US" sz="1600" dirty="0" smtClean="0"/>
                        <a:t>接口</a:t>
                      </a:r>
                      <a:r>
                        <a:rPr lang="en-US" altLang="zh-CN" sz="1600" dirty="0" smtClean="0"/>
                        <a:t>ID</a:t>
                      </a:r>
                      <a:endParaRPr lang="zh-CN" altLang="en-US" sz="1600" dirty="0"/>
                    </a:p>
                  </a:txBody>
                  <a:tcPr/>
                </a:tc>
                <a:extLst>
                  <a:ext uri="{0D108BD9-81ED-4DB2-BD59-A6C34878D82A}">
                    <a16:rowId xmlns:a16="http://schemas.microsoft.com/office/drawing/2014/main" val="147485642"/>
                  </a:ext>
                </a:extLst>
              </a:tr>
            </a:tbl>
          </a:graphicData>
        </a:graphic>
      </p:graphicFrame>
      <p:graphicFrame>
        <p:nvGraphicFramePr>
          <p:cNvPr id="7" name="Table 6"/>
          <p:cNvGraphicFramePr>
            <a:graphicFrameLocks noGrp="1"/>
          </p:cNvGraphicFramePr>
          <p:nvPr>
            <p:extLst/>
          </p:nvPr>
        </p:nvGraphicFramePr>
        <p:xfrm>
          <a:off x="3182801" y="4152024"/>
          <a:ext cx="5760000" cy="360000"/>
        </p:xfrm>
        <a:graphic>
          <a:graphicData uri="http://schemas.openxmlformats.org/drawingml/2006/table">
            <a:tbl>
              <a:tblPr firstRow="1" bandRow="1">
                <a:tableStyleId>{5940675A-B579-460E-94D1-54222C63F5DA}</a:tableStyleId>
              </a:tblPr>
              <a:tblGrid>
                <a:gridCol w="960000">
                  <a:extLst>
                    <a:ext uri="{9D8B030D-6E8A-4147-A177-3AD203B41FA5}">
                      <a16:colId xmlns:a16="http://schemas.microsoft.com/office/drawing/2014/main" val="2273083799"/>
                    </a:ext>
                  </a:extLst>
                </a:gridCol>
                <a:gridCol w="960000">
                  <a:extLst>
                    <a:ext uri="{9D8B030D-6E8A-4147-A177-3AD203B41FA5}">
                      <a16:colId xmlns:a16="http://schemas.microsoft.com/office/drawing/2014/main" val="2331103232"/>
                    </a:ext>
                  </a:extLst>
                </a:gridCol>
                <a:gridCol w="960000">
                  <a:extLst>
                    <a:ext uri="{9D8B030D-6E8A-4147-A177-3AD203B41FA5}">
                      <a16:colId xmlns:a16="http://schemas.microsoft.com/office/drawing/2014/main" val="4294055605"/>
                    </a:ext>
                  </a:extLst>
                </a:gridCol>
                <a:gridCol w="960000">
                  <a:extLst>
                    <a:ext uri="{9D8B030D-6E8A-4147-A177-3AD203B41FA5}">
                      <a16:colId xmlns:a16="http://schemas.microsoft.com/office/drawing/2014/main" val="2664374851"/>
                    </a:ext>
                  </a:extLst>
                </a:gridCol>
                <a:gridCol w="960000">
                  <a:extLst>
                    <a:ext uri="{9D8B030D-6E8A-4147-A177-3AD203B41FA5}">
                      <a16:colId xmlns:a16="http://schemas.microsoft.com/office/drawing/2014/main" val="207726414"/>
                    </a:ext>
                  </a:extLst>
                </a:gridCol>
                <a:gridCol w="960000">
                  <a:extLst>
                    <a:ext uri="{9D8B030D-6E8A-4147-A177-3AD203B41FA5}">
                      <a16:colId xmlns:a16="http://schemas.microsoft.com/office/drawing/2014/main" val="275531054"/>
                    </a:ext>
                  </a:extLst>
                </a:gridCol>
              </a:tblGrid>
              <a:tr h="360000">
                <a:tc>
                  <a:txBody>
                    <a:bodyPr/>
                    <a:lstStyle/>
                    <a:p>
                      <a:pPr algn="ctr"/>
                      <a:r>
                        <a:rPr lang="en-US" altLang="zh-CN" sz="1600" dirty="0" smtClean="0"/>
                        <a:t>94</a:t>
                      </a:r>
                      <a:endParaRPr lang="zh-CN" altLang="en-US" sz="1600" dirty="0"/>
                    </a:p>
                  </a:txBody>
                  <a:tcPr/>
                </a:tc>
                <a:tc>
                  <a:txBody>
                    <a:bodyPr/>
                    <a:lstStyle/>
                    <a:p>
                      <a:pPr algn="ctr"/>
                      <a:r>
                        <a:rPr lang="en-US" altLang="zh-CN" sz="1600" dirty="0" smtClean="0"/>
                        <a:t>B8</a:t>
                      </a:r>
                      <a:endParaRPr lang="zh-CN" altLang="en-US" sz="1600" dirty="0"/>
                    </a:p>
                  </a:txBody>
                  <a:tcPr/>
                </a:tc>
                <a:tc>
                  <a:txBody>
                    <a:bodyPr/>
                    <a:lstStyle/>
                    <a:p>
                      <a:pPr algn="ctr"/>
                      <a:r>
                        <a:rPr lang="en-US" altLang="zh-CN" sz="1600" dirty="0" smtClean="0"/>
                        <a:t>6D</a:t>
                      </a:r>
                      <a:endParaRPr lang="zh-CN" altLang="en-US" sz="1600" dirty="0"/>
                    </a:p>
                  </a:txBody>
                  <a:tcPr/>
                </a:tc>
                <a:tc>
                  <a:txBody>
                    <a:bodyPr/>
                    <a:lstStyle/>
                    <a:p>
                      <a:pPr algn="ctr"/>
                      <a:r>
                        <a:rPr lang="en-US" altLang="zh-CN" sz="1600" dirty="0" smtClean="0"/>
                        <a:t>3C</a:t>
                      </a:r>
                      <a:endParaRPr lang="zh-CN" altLang="en-US" sz="1600" dirty="0"/>
                    </a:p>
                  </a:txBody>
                  <a:tcPr/>
                </a:tc>
                <a:tc>
                  <a:txBody>
                    <a:bodyPr/>
                    <a:lstStyle/>
                    <a:p>
                      <a:pPr algn="ctr"/>
                      <a:r>
                        <a:rPr lang="en-US" altLang="zh-CN" sz="1600" dirty="0" smtClean="0"/>
                        <a:t>53</a:t>
                      </a:r>
                      <a:endParaRPr lang="zh-CN" altLang="en-US" sz="1600" dirty="0"/>
                    </a:p>
                  </a:txBody>
                  <a:tcPr/>
                </a:tc>
                <a:tc>
                  <a:txBody>
                    <a:bodyPr/>
                    <a:lstStyle/>
                    <a:p>
                      <a:pPr algn="ctr"/>
                      <a:r>
                        <a:rPr lang="en-US" altLang="zh-CN" sz="1600" dirty="0" smtClean="0"/>
                        <a:t>AC</a:t>
                      </a:r>
                      <a:endParaRPr lang="zh-CN" altLang="en-US" sz="1600" dirty="0"/>
                    </a:p>
                  </a:txBody>
                  <a:tcPr/>
                </a:tc>
                <a:extLst>
                  <a:ext uri="{0D108BD9-81ED-4DB2-BD59-A6C34878D82A}">
                    <a16:rowId xmlns:a16="http://schemas.microsoft.com/office/drawing/2014/main" val="147485642"/>
                  </a:ext>
                </a:extLst>
              </a:tr>
            </a:tbl>
          </a:graphicData>
        </a:graphic>
      </p:graphicFrame>
      <p:graphicFrame>
        <p:nvGraphicFramePr>
          <p:cNvPr id="8" name="Table 7"/>
          <p:cNvGraphicFramePr>
            <a:graphicFrameLocks noGrp="1"/>
          </p:cNvGraphicFramePr>
          <p:nvPr>
            <p:extLst/>
          </p:nvPr>
        </p:nvGraphicFramePr>
        <p:xfrm>
          <a:off x="2224238" y="4749043"/>
          <a:ext cx="2880000" cy="360000"/>
        </p:xfrm>
        <a:graphic>
          <a:graphicData uri="http://schemas.openxmlformats.org/drawingml/2006/table">
            <a:tbl>
              <a:tblPr firstRow="1" bandRow="1">
                <a:tableStyleId>{5940675A-B579-460E-94D1-54222C63F5DA}</a:tableStyleId>
              </a:tblPr>
              <a:tblGrid>
                <a:gridCol w="960000">
                  <a:extLst>
                    <a:ext uri="{9D8B030D-6E8A-4147-A177-3AD203B41FA5}">
                      <a16:colId xmlns:a16="http://schemas.microsoft.com/office/drawing/2014/main" val="3940159591"/>
                    </a:ext>
                  </a:extLst>
                </a:gridCol>
                <a:gridCol w="960000">
                  <a:extLst>
                    <a:ext uri="{9D8B030D-6E8A-4147-A177-3AD203B41FA5}">
                      <a16:colId xmlns:a16="http://schemas.microsoft.com/office/drawing/2014/main" val="427038472"/>
                    </a:ext>
                  </a:extLst>
                </a:gridCol>
                <a:gridCol w="960000">
                  <a:extLst>
                    <a:ext uri="{9D8B030D-6E8A-4147-A177-3AD203B41FA5}">
                      <a16:colId xmlns:a16="http://schemas.microsoft.com/office/drawing/2014/main" val="1665022990"/>
                    </a:ext>
                  </a:extLst>
                </a:gridCol>
              </a:tblGrid>
              <a:tr h="360000">
                <a:tc>
                  <a:txBody>
                    <a:bodyPr/>
                    <a:lstStyle/>
                    <a:p>
                      <a:pPr algn="ctr"/>
                      <a:r>
                        <a:rPr lang="en-US" altLang="zh-CN" sz="1600" dirty="0" smtClean="0"/>
                        <a:t>94</a:t>
                      </a:r>
                      <a:endParaRPr lang="zh-CN" altLang="en-US" sz="1600" dirty="0"/>
                    </a:p>
                  </a:txBody>
                  <a:tcPr/>
                </a:tc>
                <a:tc>
                  <a:txBody>
                    <a:bodyPr/>
                    <a:lstStyle/>
                    <a:p>
                      <a:pPr algn="ctr"/>
                      <a:r>
                        <a:rPr lang="en-US" altLang="zh-CN" sz="1600" dirty="0" smtClean="0"/>
                        <a:t>B8</a:t>
                      </a:r>
                      <a:endParaRPr lang="zh-CN" altLang="en-US" sz="1600" dirty="0"/>
                    </a:p>
                  </a:txBody>
                  <a:tcPr/>
                </a:tc>
                <a:tc>
                  <a:txBody>
                    <a:bodyPr/>
                    <a:lstStyle/>
                    <a:p>
                      <a:pPr algn="ctr"/>
                      <a:r>
                        <a:rPr lang="en-US" altLang="zh-CN" sz="1600" dirty="0" smtClean="0"/>
                        <a:t>6D</a:t>
                      </a:r>
                      <a:endParaRPr lang="zh-CN" altLang="en-US" sz="1600" dirty="0"/>
                    </a:p>
                  </a:txBody>
                  <a:tcPr/>
                </a:tc>
                <a:extLst>
                  <a:ext uri="{0D108BD9-81ED-4DB2-BD59-A6C34878D82A}">
                    <a16:rowId xmlns:a16="http://schemas.microsoft.com/office/drawing/2014/main" val="1732079097"/>
                  </a:ext>
                </a:extLst>
              </a:tr>
            </a:tbl>
          </a:graphicData>
        </a:graphic>
      </p:graphicFrame>
      <p:graphicFrame>
        <p:nvGraphicFramePr>
          <p:cNvPr id="9" name="Table 8"/>
          <p:cNvGraphicFramePr>
            <a:graphicFrameLocks noGrp="1"/>
          </p:cNvGraphicFramePr>
          <p:nvPr>
            <p:extLst/>
          </p:nvPr>
        </p:nvGraphicFramePr>
        <p:xfrm>
          <a:off x="7017619" y="4749043"/>
          <a:ext cx="2880000" cy="360000"/>
        </p:xfrm>
        <a:graphic>
          <a:graphicData uri="http://schemas.openxmlformats.org/drawingml/2006/table">
            <a:tbl>
              <a:tblPr firstRow="1" bandRow="1">
                <a:tableStyleId>{5940675A-B579-460E-94D1-54222C63F5DA}</a:tableStyleId>
              </a:tblPr>
              <a:tblGrid>
                <a:gridCol w="960000">
                  <a:extLst>
                    <a:ext uri="{9D8B030D-6E8A-4147-A177-3AD203B41FA5}">
                      <a16:colId xmlns:a16="http://schemas.microsoft.com/office/drawing/2014/main" val="3092540318"/>
                    </a:ext>
                  </a:extLst>
                </a:gridCol>
                <a:gridCol w="960000">
                  <a:extLst>
                    <a:ext uri="{9D8B030D-6E8A-4147-A177-3AD203B41FA5}">
                      <a16:colId xmlns:a16="http://schemas.microsoft.com/office/drawing/2014/main" val="1928505305"/>
                    </a:ext>
                  </a:extLst>
                </a:gridCol>
                <a:gridCol w="960000">
                  <a:extLst>
                    <a:ext uri="{9D8B030D-6E8A-4147-A177-3AD203B41FA5}">
                      <a16:colId xmlns:a16="http://schemas.microsoft.com/office/drawing/2014/main" val="200983026"/>
                    </a:ext>
                  </a:extLst>
                </a:gridCol>
              </a:tblGrid>
              <a:tr h="360000">
                <a:tc>
                  <a:txBody>
                    <a:bodyPr/>
                    <a:lstStyle/>
                    <a:p>
                      <a:pPr algn="ctr"/>
                      <a:r>
                        <a:rPr lang="en-US" altLang="zh-CN" sz="1600" dirty="0" smtClean="0"/>
                        <a:t>3C</a:t>
                      </a:r>
                      <a:endParaRPr lang="zh-CN" altLang="en-US" sz="1600" dirty="0"/>
                    </a:p>
                  </a:txBody>
                  <a:tcPr/>
                </a:tc>
                <a:tc>
                  <a:txBody>
                    <a:bodyPr/>
                    <a:lstStyle/>
                    <a:p>
                      <a:pPr algn="ctr"/>
                      <a:r>
                        <a:rPr lang="en-US" altLang="zh-CN" sz="1600" dirty="0" smtClean="0"/>
                        <a:t>53</a:t>
                      </a:r>
                      <a:endParaRPr lang="zh-CN" altLang="en-US" sz="1600" dirty="0"/>
                    </a:p>
                  </a:txBody>
                  <a:tcPr/>
                </a:tc>
                <a:tc>
                  <a:txBody>
                    <a:bodyPr/>
                    <a:lstStyle/>
                    <a:p>
                      <a:pPr algn="ctr"/>
                      <a:r>
                        <a:rPr lang="en-US" altLang="zh-CN" sz="1600" dirty="0" smtClean="0"/>
                        <a:t>AC</a:t>
                      </a:r>
                      <a:endParaRPr lang="zh-CN" altLang="en-US" sz="1600" dirty="0"/>
                    </a:p>
                  </a:txBody>
                  <a:tcPr/>
                </a:tc>
                <a:extLst>
                  <a:ext uri="{0D108BD9-81ED-4DB2-BD59-A6C34878D82A}">
                    <a16:rowId xmlns:a16="http://schemas.microsoft.com/office/drawing/2014/main" val="2923013818"/>
                  </a:ext>
                </a:extLst>
              </a:tr>
            </a:tbl>
          </a:graphicData>
        </a:graphic>
      </p:graphicFrame>
      <p:graphicFrame>
        <p:nvGraphicFramePr>
          <p:cNvPr id="10" name="Table 9"/>
          <p:cNvGraphicFramePr>
            <a:graphicFrameLocks noGrp="1"/>
          </p:cNvGraphicFramePr>
          <p:nvPr>
            <p:extLst/>
          </p:nvPr>
        </p:nvGraphicFramePr>
        <p:xfrm>
          <a:off x="5104238" y="5321854"/>
          <a:ext cx="1920000" cy="360000"/>
        </p:xfrm>
        <a:graphic>
          <a:graphicData uri="http://schemas.openxmlformats.org/drawingml/2006/table">
            <a:tbl>
              <a:tblPr firstRow="1" bandRow="1">
                <a:tableStyleId>{5940675A-B579-460E-94D1-54222C63F5DA}</a:tableStyleId>
              </a:tblPr>
              <a:tblGrid>
                <a:gridCol w="960000">
                  <a:extLst>
                    <a:ext uri="{9D8B030D-6E8A-4147-A177-3AD203B41FA5}">
                      <a16:colId xmlns:a16="http://schemas.microsoft.com/office/drawing/2014/main" val="1315812035"/>
                    </a:ext>
                  </a:extLst>
                </a:gridCol>
                <a:gridCol w="960000">
                  <a:extLst>
                    <a:ext uri="{9D8B030D-6E8A-4147-A177-3AD203B41FA5}">
                      <a16:colId xmlns:a16="http://schemas.microsoft.com/office/drawing/2014/main" val="3721634726"/>
                    </a:ext>
                  </a:extLst>
                </a:gridCol>
              </a:tblGrid>
              <a:tr h="360000">
                <a:tc>
                  <a:txBody>
                    <a:bodyPr/>
                    <a:lstStyle/>
                    <a:p>
                      <a:pPr algn="ctr"/>
                      <a:r>
                        <a:rPr lang="en-US" altLang="zh-CN" sz="1600" dirty="0" smtClean="0"/>
                        <a:t>FF</a:t>
                      </a:r>
                      <a:endParaRPr lang="zh-CN" altLang="en-US" sz="1600" dirty="0"/>
                    </a:p>
                  </a:txBody>
                  <a:tcPr/>
                </a:tc>
                <a:tc>
                  <a:txBody>
                    <a:bodyPr/>
                    <a:lstStyle/>
                    <a:p>
                      <a:pPr algn="ctr"/>
                      <a:r>
                        <a:rPr lang="en-US" altLang="zh-CN" sz="1600" dirty="0" smtClean="0"/>
                        <a:t>FE</a:t>
                      </a:r>
                      <a:endParaRPr lang="zh-CN" altLang="en-US" sz="1600" dirty="0"/>
                    </a:p>
                  </a:txBody>
                  <a:tcPr/>
                </a:tc>
                <a:extLst>
                  <a:ext uri="{0D108BD9-81ED-4DB2-BD59-A6C34878D82A}">
                    <a16:rowId xmlns:a16="http://schemas.microsoft.com/office/drawing/2014/main" val="2050950246"/>
                  </a:ext>
                </a:extLst>
              </a:tr>
            </a:tbl>
          </a:graphicData>
        </a:graphic>
      </p:graphicFrame>
      <p:cxnSp>
        <p:nvCxnSpPr>
          <p:cNvPr id="11" name="Straight Arrow Connector 10"/>
          <p:cNvCxnSpPr/>
          <p:nvPr/>
        </p:nvCxnSpPr>
        <p:spPr>
          <a:xfrm flipH="1" flipV="1">
            <a:off x="5582975" y="4929043"/>
            <a:ext cx="1" cy="29584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p:nvPr/>
        </p:nvCxnSpPr>
        <p:spPr>
          <a:xfrm flipH="1" flipV="1">
            <a:off x="6538880" y="4929043"/>
            <a:ext cx="1" cy="295849"/>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Straight Connector 18"/>
          <p:cNvCxnSpPr/>
          <p:nvPr/>
        </p:nvCxnSpPr>
        <p:spPr>
          <a:xfrm flipH="1">
            <a:off x="2224239" y="4512024"/>
            <a:ext cx="958562" cy="237019"/>
          </a:xfrm>
          <a:prstGeom prst="line">
            <a:avLst/>
          </a:prstGeom>
          <a:ln w="12700"/>
        </p:spPr>
        <p:style>
          <a:lnRef idx="1">
            <a:schemeClr val="dk1"/>
          </a:lnRef>
          <a:fillRef idx="0">
            <a:schemeClr val="dk1"/>
          </a:fillRef>
          <a:effectRef idx="0">
            <a:schemeClr val="dk1"/>
          </a:effectRef>
          <a:fontRef idx="minor">
            <a:schemeClr val="tx1"/>
          </a:fontRef>
        </p:style>
      </p:cxnSp>
      <p:cxnSp>
        <p:nvCxnSpPr>
          <p:cNvPr id="22" name="Straight Connector 21"/>
          <p:cNvCxnSpPr>
            <a:stCxn id="7" idx="2"/>
          </p:cNvCxnSpPr>
          <p:nvPr/>
        </p:nvCxnSpPr>
        <p:spPr>
          <a:xfrm flipH="1">
            <a:off x="5104238" y="4512024"/>
            <a:ext cx="958563" cy="237019"/>
          </a:xfrm>
          <a:prstGeom prst="line">
            <a:avLst/>
          </a:prstGeom>
          <a:ln w="12700"/>
        </p:spPr>
        <p:style>
          <a:lnRef idx="1">
            <a:schemeClr val="dk1"/>
          </a:lnRef>
          <a:fillRef idx="0">
            <a:schemeClr val="dk1"/>
          </a:fillRef>
          <a:effectRef idx="0">
            <a:schemeClr val="dk1"/>
          </a:effectRef>
          <a:fontRef idx="minor">
            <a:schemeClr val="tx1"/>
          </a:fontRef>
        </p:style>
      </p:cxnSp>
      <p:cxnSp>
        <p:nvCxnSpPr>
          <p:cNvPr id="25" name="Straight Connector 24"/>
          <p:cNvCxnSpPr>
            <a:endCxn id="7" idx="2"/>
          </p:cNvCxnSpPr>
          <p:nvPr/>
        </p:nvCxnSpPr>
        <p:spPr>
          <a:xfrm flipH="1" flipV="1">
            <a:off x="6062801" y="4512024"/>
            <a:ext cx="961437" cy="231697"/>
          </a:xfrm>
          <a:prstGeom prst="line">
            <a:avLst/>
          </a:prstGeom>
          <a:ln w="12700"/>
        </p:spPr>
        <p:style>
          <a:lnRef idx="1">
            <a:schemeClr val="dk1"/>
          </a:lnRef>
          <a:fillRef idx="0">
            <a:schemeClr val="dk1"/>
          </a:fillRef>
          <a:effectRef idx="0">
            <a:schemeClr val="dk1"/>
          </a:effectRef>
          <a:fontRef idx="minor">
            <a:schemeClr val="tx1"/>
          </a:fontRef>
        </p:style>
      </p:cxnSp>
      <p:cxnSp>
        <p:nvCxnSpPr>
          <p:cNvPr id="28" name="Straight Connector 27"/>
          <p:cNvCxnSpPr/>
          <p:nvPr/>
        </p:nvCxnSpPr>
        <p:spPr>
          <a:xfrm flipH="1" flipV="1">
            <a:off x="8942801" y="4517346"/>
            <a:ext cx="954819" cy="226376"/>
          </a:xfrm>
          <a:prstGeom prst="line">
            <a:avLst/>
          </a:prstGeom>
          <a:ln w="12700"/>
        </p:spPr>
        <p:style>
          <a:lnRef idx="1">
            <a:schemeClr val="dk1"/>
          </a:lnRef>
          <a:fillRef idx="0">
            <a:schemeClr val="dk1"/>
          </a:fillRef>
          <a:effectRef idx="0">
            <a:schemeClr val="dk1"/>
          </a:effectRef>
          <a:fontRef idx="minor">
            <a:schemeClr val="tx1"/>
          </a:fontRef>
        </p:style>
      </p:cxnSp>
      <p:graphicFrame>
        <p:nvGraphicFramePr>
          <p:cNvPr id="33" name="Table 32"/>
          <p:cNvGraphicFramePr>
            <a:graphicFrameLocks noGrp="1"/>
          </p:cNvGraphicFramePr>
          <p:nvPr>
            <p:extLst/>
          </p:nvPr>
        </p:nvGraphicFramePr>
        <p:xfrm>
          <a:off x="1743520" y="5321854"/>
          <a:ext cx="1920000" cy="365760"/>
        </p:xfrm>
        <a:graphic>
          <a:graphicData uri="http://schemas.openxmlformats.org/drawingml/2006/table">
            <a:tbl>
              <a:tblPr firstRow="1" bandRow="1">
                <a:tableStyleId>{5940675A-B579-460E-94D1-54222C63F5DA}</a:tableStyleId>
              </a:tblPr>
              <a:tblGrid>
                <a:gridCol w="240000">
                  <a:extLst>
                    <a:ext uri="{9D8B030D-6E8A-4147-A177-3AD203B41FA5}">
                      <a16:colId xmlns:a16="http://schemas.microsoft.com/office/drawing/2014/main" val="4197756388"/>
                    </a:ext>
                  </a:extLst>
                </a:gridCol>
                <a:gridCol w="240000">
                  <a:extLst>
                    <a:ext uri="{9D8B030D-6E8A-4147-A177-3AD203B41FA5}">
                      <a16:colId xmlns:a16="http://schemas.microsoft.com/office/drawing/2014/main" val="3705575942"/>
                    </a:ext>
                  </a:extLst>
                </a:gridCol>
                <a:gridCol w="240000">
                  <a:extLst>
                    <a:ext uri="{9D8B030D-6E8A-4147-A177-3AD203B41FA5}">
                      <a16:colId xmlns:a16="http://schemas.microsoft.com/office/drawing/2014/main" val="2297912373"/>
                    </a:ext>
                  </a:extLst>
                </a:gridCol>
                <a:gridCol w="240000">
                  <a:extLst>
                    <a:ext uri="{9D8B030D-6E8A-4147-A177-3AD203B41FA5}">
                      <a16:colId xmlns:a16="http://schemas.microsoft.com/office/drawing/2014/main" val="69207002"/>
                    </a:ext>
                  </a:extLst>
                </a:gridCol>
                <a:gridCol w="240000">
                  <a:extLst>
                    <a:ext uri="{9D8B030D-6E8A-4147-A177-3AD203B41FA5}">
                      <a16:colId xmlns:a16="http://schemas.microsoft.com/office/drawing/2014/main" val="1151783787"/>
                    </a:ext>
                  </a:extLst>
                </a:gridCol>
                <a:gridCol w="240000">
                  <a:extLst>
                    <a:ext uri="{9D8B030D-6E8A-4147-A177-3AD203B41FA5}">
                      <a16:colId xmlns:a16="http://schemas.microsoft.com/office/drawing/2014/main" val="4239361996"/>
                    </a:ext>
                  </a:extLst>
                </a:gridCol>
                <a:gridCol w="240000">
                  <a:extLst>
                    <a:ext uri="{9D8B030D-6E8A-4147-A177-3AD203B41FA5}">
                      <a16:colId xmlns:a16="http://schemas.microsoft.com/office/drawing/2014/main" val="2597304181"/>
                    </a:ext>
                  </a:extLst>
                </a:gridCol>
                <a:gridCol w="240000">
                  <a:extLst>
                    <a:ext uri="{9D8B030D-6E8A-4147-A177-3AD203B41FA5}">
                      <a16:colId xmlns:a16="http://schemas.microsoft.com/office/drawing/2014/main" val="2068449532"/>
                    </a:ext>
                  </a:extLst>
                </a:gridCol>
              </a:tblGrid>
              <a:tr h="360000">
                <a:tc>
                  <a:txBody>
                    <a:bodyPr/>
                    <a:lstStyle/>
                    <a:p>
                      <a:pPr algn="ctr"/>
                      <a:r>
                        <a:rPr lang="en-US" altLang="zh-CN" sz="1600" dirty="0" smtClean="0"/>
                        <a:t>1</a:t>
                      </a:r>
                      <a:endParaRPr lang="zh-CN" altLang="en-US" sz="1600" dirty="0"/>
                    </a:p>
                  </a:txBody>
                  <a:tcPr/>
                </a:tc>
                <a:tc>
                  <a:txBody>
                    <a:bodyPr/>
                    <a:lstStyle/>
                    <a:p>
                      <a:pPr algn="ctr"/>
                      <a:r>
                        <a:rPr lang="en-US" altLang="zh-CN" sz="1600" dirty="0" smtClean="0"/>
                        <a:t>0</a:t>
                      </a:r>
                      <a:endParaRPr lang="zh-CN" altLang="en-US" sz="1600" dirty="0"/>
                    </a:p>
                  </a:txBody>
                  <a:tcPr/>
                </a:tc>
                <a:tc>
                  <a:txBody>
                    <a:bodyPr/>
                    <a:lstStyle/>
                    <a:p>
                      <a:pPr algn="ctr"/>
                      <a:r>
                        <a:rPr lang="en-US" altLang="zh-CN" sz="1600" dirty="0" smtClean="0"/>
                        <a:t>0</a:t>
                      </a:r>
                      <a:endParaRPr lang="zh-CN" altLang="en-US" sz="1600" dirty="0"/>
                    </a:p>
                  </a:txBody>
                  <a:tcPr/>
                </a:tc>
                <a:tc>
                  <a:txBody>
                    <a:bodyPr/>
                    <a:lstStyle/>
                    <a:p>
                      <a:pPr algn="ctr"/>
                      <a:r>
                        <a:rPr lang="en-US" altLang="zh-CN" sz="1600" dirty="0" smtClean="0"/>
                        <a:t>1</a:t>
                      </a:r>
                      <a:endParaRPr lang="zh-CN" altLang="en-US" sz="1600" dirty="0"/>
                    </a:p>
                  </a:txBody>
                  <a:tcPr/>
                </a:tc>
                <a:tc>
                  <a:txBody>
                    <a:bodyPr/>
                    <a:lstStyle/>
                    <a:p>
                      <a:pPr algn="ctr"/>
                      <a:r>
                        <a:rPr lang="en-US" altLang="zh-CN" sz="1600" dirty="0" smtClean="0"/>
                        <a:t>0</a:t>
                      </a:r>
                      <a:endParaRPr lang="zh-CN" altLang="en-US" sz="1600" dirty="0"/>
                    </a:p>
                  </a:txBody>
                  <a:tcPr/>
                </a:tc>
                <a:tc>
                  <a:txBody>
                    <a:bodyPr/>
                    <a:lstStyle/>
                    <a:p>
                      <a:pPr algn="ctr"/>
                      <a:r>
                        <a:rPr lang="en-US" altLang="zh-CN" sz="1600" dirty="0" smtClean="0"/>
                        <a:t>1</a:t>
                      </a:r>
                      <a:endParaRPr lang="zh-CN" altLang="en-US" sz="1600" dirty="0"/>
                    </a:p>
                  </a:txBody>
                  <a:tcPr/>
                </a:tc>
                <a:tc>
                  <a:txBody>
                    <a:bodyPr/>
                    <a:lstStyle/>
                    <a:p>
                      <a:pPr algn="ctr"/>
                      <a:r>
                        <a:rPr lang="en-US" altLang="zh-CN" dirty="0" smtClean="0"/>
                        <a:t>1</a:t>
                      </a:r>
                      <a:endParaRPr lang="zh-CN" altLang="en-US" dirty="0"/>
                    </a:p>
                  </a:txBody>
                  <a:tcPr>
                    <a:solidFill>
                      <a:srgbClr val="FF0000"/>
                    </a:solidFill>
                  </a:tcPr>
                </a:tc>
                <a:tc>
                  <a:txBody>
                    <a:bodyPr/>
                    <a:lstStyle/>
                    <a:p>
                      <a:pPr algn="ctr"/>
                      <a:r>
                        <a:rPr lang="en-US" altLang="zh-CN" sz="1600" dirty="0" smtClean="0"/>
                        <a:t>0</a:t>
                      </a:r>
                      <a:endParaRPr lang="zh-CN" altLang="en-US" sz="1600" dirty="0"/>
                    </a:p>
                  </a:txBody>
                  <a:tcPr/>
                </a:tc>
                <a:extLst>
                  <a:ext uri="{0D108BD9-81ED-4DB2-BD59-A6C34878D82A}">
                    <a16:rowId xmlns:a16="http://schemas.microsoft.com/office/drawing/2014/main" val="3667674218"/>
                  </a:ext>
                </a:extLst>
              </a:tr>
            </a:tbl>
          </a:graphicData>
        </a:graphic>
      </p:graphicFrame>
      <p:cxnSp>
        <p:nvCxnSpPr>
          <p:cNvPr id="36" name="Straight Connector 35"/>
          <p:cNvCxnSpPr/>
          <p:nvPr/>
        </p:nvCxnSpPr>
        <p:spPr>
          <a:xfrm flipH="1">
            <a:off x="1743521" y="5109043"/>
            <a:ext cx="480716" cy="212811"/>
          </a:xfrm>
          <a:prstGeom prst="line">
            <a:avLst/>
          </a:prstGeom>
          <a:ln w="12700"/>
        </p:spPr>
        <p:style>
          <a:lnRef idx="1">
            <a:schemeClr val="dk1"/>
          </a:lnRef>
          <a:fillRef idx="0">
            <a:schemeClr val="dk1"/>
          </a:fillRef>
          <a:effectRef idx="0">
            <a:schemeClr val="dk1"/>
          </a:effectRef>
          <a:fontRef idx="minor">
            <a:schemeClr val="tx1"/>
          </a:fontRef>
        </p:style>
      </p:cxnSp>
      <p:cxnSp>
        <p:nvCxnSpPr>
          <p:cNvPr id="39" name="Straight Connector 38"/>
          <p:cNvCxnSpPr/>
          <p:nvPr/>
        </p:nvCxnSpPr>
        <p:spPr>
          <a:xfrm>
            <a:off x="3182801" y="5109043"/>
            <a:ext cx="481437" cy="212811"/>
          </a:xfrm>
          <a:prstGeom prst="line">
            <a:avLst/>
          </a:prstGeom>
          <a:ln w="12700"/>
        </p:spPr>
        <p:style>
          <a:lnRef idx="1">
            <a:schemeClr val="dk1"/>
          </a:lnRef>
          <a:fillRef idx="0">
            <a:schemeClr val="dk1"/>
          </a:fillRef>
          <a:effectRef idx="0">
            <a:schemeClr val="dk1"/>
          </a:effectRef>
          <a:fontRef idx="minor">
            <a:schemeClr val="tx1"/>
          </a:fontRef>
        </p:style>
      </p:cxnSp>
      <p:graphicFrame>
        <p:nvGraphicFramePr>
          <p:cNvPr id="45" name="Table 44"/>
          <p:cNvGraphicFramePr>
            <a:graphicFrameLocks noGrp="1"/>
          </p:cNvGraphicFramePr>
          <p:nvPr>
            <p:extLst/>
          </p:nvPr>
        </p:nvGraphicFramePr>
        <p:xfrm>
          <a:off x="2225753" y="5886063"/>
          <a:ext cx="7674096" cy="360000"/>
        </p:xfrm>
        <a:graphic>
          <a:graphicData uri="http://schemas.openxmlformats.org/drawingml/2006/table">
            <a:tbl>
              <a:tblPr firstRow="1" bandRow="1">
                <a:tableStyleId>{5940675A-B579-460E-94D1-54222C63F5DA}</a:tableStyleId>
              </a:tblPr>
              <a:tblGrid>
                <a:gridCol w="959262">
                  <a:extLst>
                    <a:ext uri="{9D8B030D-6E8A-4147-A177-3AD203B41FA5}">
                      <a16:colId xmlns:a16="http://schemas.microsoft.com/office/drawing/2014/main" val="3940159591"/>
                    </a:ext>
                  </a:extLst>
                </a:gridCol>
                <a:gridCol w="959262">
                  <a:extLst>
                    <a:ext uri="{9D8B030D-6E8A-4147-A177-3AD203B41FA5}">
                      <a16:colId xmlns:a16="http://schemas.microsoft.com/office/drawing/2014/main" val="427038472"/>
                    </a:ext>
                  </a:extLst>
                </a:gridCol>
                <a:gridCol w="959262">
                  <a:extLst>
                    <a:ext uri="{9D8B030D-6E8A-4147-A177-3AD203B41FA5}">
                      <a16:colId xmlns:a16="http://schemas.microsoft.com/office/drawing/2014/main" val="1665022990"/>
                    </a:ext>
                  </a:extLst>
                </a:gridCol>
                <a:gridCol w="959262">
                  <a:extLst>
                    <a:ext uri="{9D8B030D-6E8A-4147-A177-3AD203B41FA5}">
                      <a16:colId xmlns:a16="http://schemas.microsoft.com/office/drawing/2014/main" val="2711132375"/>
                    </a:ext>
                  </a:extLst>
                </a:gridCol>
                <a:gridCol w="959262">
                  <a:extLst>
                    <a:ext uri="{9D8B030D-6E8A-4147-A177-3AD203B41FA5}">
                      <a16:colId xmlns:a16="http://schemas.microsoft.com/office/drawing/2014/main" val="2750966575"/>
                    </a:ext>
                  </a:extLst>
                </a:gridCol>
                <a:gridCol w="959262">
                  <a:extLst>
                    <a:ext uri="{9D8B030D-6E8A-4147-A177-3AD203B41FA5}">
                      <a16:colId xmlns:a16="http://schemas.microsoft.com/office/drawing/2014/main" val="682394051"/>
                    </a:ext>
                  </a:extLst>
                </a:gridCol>
                <a:gridCol w="959262">
                  <a:extLst>
                    <a:ext uri="{9D8B030D-6E8A-4147-A177-3AD203B41FA5}">
                      <a16:colId xmlns:a16="http://schemas.microsoft.com/office/drawing/2014/main" val="3516530118"/>
                    </a:ext>
                  </a:extLst>
                </a:gridCol>
                <a:gridCol w="959262">
                  <a:extLst>
                    <a:ext uri="{9D8B030D-6E8A-4147-A177-3AD203B41FA5}">
                      <a16:colId xmlns:a16="http://schemas.microsoft.com/office/drawing/2014/main" val="2168848801"/>
                    </a:ext>
                  </a:extLst>
                </a:gridCol>
              </a:tblGrid>
              <a:tr h="360000">
                <a:tc>
                  <a:txBody>
                    <a:bodyPr/>
                    <a:lstStyle/>
                    <a:p>
                      <a:pPr algn="ctr"/>
                      <a:r>
                        <a:rPr lang="en-US" altLang="zh-CN" sz="1600" dirty="0" smtClean="0"/>
                        <a:t>96</a:t>
                      </a:r>
                      <a:endParaRPr lang="zh-CN" altLang="en-US" sz="1600" dirty="0"/>
                    </a:p>
                  </a:txBody>
                  <a:tcPr/>
                </a:tc>
                <a:tc>
                  <a:txBody>
                    <a:bodyPr/>
                    <a:lstStyle/>
                    <a:p>
                      <a:pPr algn="ctr"/>
                      <a:r>
                        <a:rPr lang="en-US" altLang="zh-CN" sz="1600" dirty="0" smtClean="0"/>
                        <a:t>b8</a:t>
                      </a:r>
                      <a:endParaRPr lang="zh-CN" altLang="en-US" sz="1600" dirty="0"/>
                    </a:p>
                  </a:txBody>
                  <a:tcPr/>
                </a:tc>
                <a:tc>
                  <a:txBody>
                    <a:bodyPr/>
                    <a:lstStyle/>
                    <a:p>
                      <a:pPr algn="ctr"/>
                      <a:r>
                        <a:rPr lang="en-US" altLang="zh-CN" sz="1600" dirty="0" smtClean="0"/>
                        <a:t>6d</a:t>
                      </a:r>
                      <a:endParaRPr lang="zh-CN" altLang="en-US" sz="1600" dirty="0"/>
                    </a:p>
                  </a:txBody>
                  <a:tcPr/>
                </a:tc>
                <a:tc>
                  <a:txBody>
                    <a:bodyPr/>
                    <a:lstStyle/>
                    <a:p>
                      <a:pPr algn="ctr"/>
                      <a:r>
                        <a:rPr lang="en-US" altLang="zh-CN" sz="1600" dirty="0" err="1" smtClean="0"/>
                        <a:t>ff</a:t>
                      </a:r>
                      <a:endParaRPr lang="zh-CN" altLang="en-US" sz="1600" dirty="0"/>
                    </a:p>
                  </a:txBody>
                  <a:tcPr/>
                </a:tc>
                <a:tc>
                  <a:txBody>
                    <a:bodyPr/>
                    <a:lstStyle/>
                    <a:p>
                      <a:pPr algn="ctr"/>
                      <a:r>
                        <a:rPr lang="en-US" altLang="zh-CN" sz="1600" dirty="0" err="1" smtClean="0"/>
                        <a:t>fe</a:t>
                      </a:r>
                      <a:endParaRPr lang="zh-CN" altLang="en-US" sz="1600" dirty="0"/>
                    </a:p>
                  </a:txBody>
                  <a:tcPr/>
                </a:tc>
                <a:tc>
                  <a:txBody>
                    <a:bodyPr/>
                    <a:lstStyle/>
                    <a:p>
                      <a:pPr algn="ctr"/>
                      <a:r>
                        <a:rPr lang="en-US" altLang="zh-CN" sz="1600" dirty="0" smtClean="0"/>
                        <a:t>3c</a:t>
                      </a:r>
                      <a:endParaRPr lang="zh-CN" altLang="en-US" sz="1600" dirty="0"/>
                    </a:p>
                  </a:txBody>
                  <a:tcPr/>
                </a:tc>
                <a:tc>
                  <a:txBody>
                    <a:bodyPr/>
                    <a:lstStyle/>
                    <a:p>
                      <a:pPr algn="ctr"/>
                      <a:r>
                        <a:rPr lang="en-US" altLang="zh-CN" sz="1600" dirty="0" smtClean="0"/>
                        <a:t>53</a:t>
                      </a:r>
                      <a:endParaRPr lang="zh-CN" altLang="en-US" sz="1600" dirty="0"/>
                    </a:p>
                  </a:txBody>
                  <a:tcPr/>
                </a:tc>
                <a:tc>
                  <a:txBody>
                    <a:bodyPr/>
                    <a:lstStyle/>
                    <a:p>
                      <a:pPr algn="ctr"/>
                      <a:r>
                        <a:rPr lang="en-US" altLang="zh-CN" sz="1600" dirty="0" smtClean="0"/>
                        <a:t>ac</a:t>
                      </a:r>
                      <a:endParaRPr lang="zh-CN" altLang="en-US" sz="1600" dirty="0"/>
                    </a:p>
                  </a:txBody>
                  <a:tcPr/>
                </a:tc>
                <a:extLst>
                  <a:ext uri="{0D108BD9-81ED-4DB2-BD59-A6C34878D82A}">
                    <a16:rowId xmlns:a16="http://schemas.microsoft.com/office/drawing/2014/main" val="1732079097"/>
                  </a:ext>
                </a:extLst>
              </a:tr>
            </a:tbl>
          </a:graphicData>
        </a:graphic>
      </p:graphicFrame>
      <p:sp>
        <p:nvSpPr>
          <p:cNvPr id="46" name="Rectangle 45"/>
          <p:cNvSpPr/>
          <p:nvPr/>
        </p:nvSpPr>
        <p:spPr>
          <a:xfrm>
            <a:off x="306675" y="4147358"/>
            <a:ext cx="636649" cy="369332"/>
          </a:xfrm>
          <a:prstGeom prst="rect">
            <a:avLst/>
          </a:prstGeom>
        </p:spPr>
        <p:txBody>
          <a:bodyPr wrap="none">
            <a:spAutoFit/>
          </a:bodyPr>
          <a:lstStyle/>
          <a:p>
            <a:pPr algn="ctr"/>
            <a:r>
              <a:rPr lang="en-US" altLang="zh-CN" dirty="0" smtClean="0"/>
              <a:t>MAC</a:t>
            </a:r>
            <a:endParaRPr lang="zh-CN" altLang="en-US" dirty="0"/>
          </a:p>
        </p:txBody>
      </p:sp>
      <p:sp>
        <p:nvSpPr>
          <p:cNvPr id="47" name="Rectangle 46"/>
          <p:cNvSpPr/>
          <p:nvPr/>
        </p:nvSpPr>
        <p:spPr>
          <a:xfrm>
            <a:off x="276739" y="5715581"/>
            <a:ext cx="1920590" cy="646331"/>
          </a:xfrm>
          <a:prstGeom prst="rect">
            <a:avLst/>
          </a:prstGeom>
        </p:spPr>
        <p:txBody>
          <a:bodyPr wrap="none">
            <a:spAutoFit/>
          </a:bodyPr>
          <a:lstStyle/>
          <a:p>
            <a:pPr algn="ctr"/>
            <a:r>
              <a:rPr lang="en-US" altLang="zh-CN" dirty="0" smtClean="0"/>
              <a:t>Link-local Address </a:t>
            </a:r>
          </a:p>
          <a:p>
            <a:pPr algn="ctr"/>
            <a:r>
              <a:rPr lang="en-US" altLang="zh-CN" dirty="0" smtClean="0"/>
              <a:t>Interface ID</a:t>
            </a:r>
            <a:endParaRPr lang="zh-CN" altLang="en-US" dirty="0"/>
          </a:p>
        </p:txBody>
      </p:sp>
    </p:spTree>
    <p:extLst>
      <p:ext uri="{BB962C8B-B14F-4D97-AF65-F5344CB8AC3E}">
        <p14:creationId xmlns:p14="http://schemas.microsoft.com/office/powerpoint/2010/main" val="334467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500"/>
                                        <p:tgtEl>
                                          <p:spTgt spid="19"/>
                                        </p:tgtEl>
                                      </p:cBhvr>
                                    </p:animEffect>
                                  </p:childTnLst>
                                </p:cTn>
                              </p:par>
                              <p:par>
                                <p:cTn id="8" presetID="22" presetClass="entr" presetSubtype="1"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up)">
                                      <p:cBhvr>
                                        <p:cTn id="10" dur="500"/>
                                        <p:tgtEl>
                                          <p:spTgt spid="22"/>
                                        </p:tgtEl>
                                      </p:cBhvr>
                                    </p:animEffect>
                                  </p:childTnLst>
                                </p:cTn>
                              </p:par>
                              <p:par>
                                <p:cTn id="11" presetID="22" presetClass="entr" presetSubtype="1"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par>
                                <p:cTn id="14" presetID="22" presetClass="entr" presetSubtype="1" fill="hold"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wipe(up)">
                                      <p:cBhvr>
                                        <p:cTn id="16" dur="500"/>
                                        <p:tgtEl>
                                          <p:spTgt spid="28"/>
                                        </p:tgtEl>
                                      </p:cBhvr>
                                    </p:animEffect>
                                  </p:childTnLst>
                                </p:cTn>
                              </p:par>
                              <p:par>
                                <p:cTn id="17" presetID="22" presetClass="entr" presetSubtype="1"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par>
                                <p:cTn id="20" presetID="22" presetClass="entr" presetSubtype="1"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3"/>
                                        </p:tgtEl>
                                        <p:attrNameLst>
                                          <p:attrName>style.visibility</p:attrName>
                                        </p:attrNameLst>
                                      </p:cBhvr>
                                      <p:to>
                                        <p:strVal val="visible"/>
                                      </p:to>
                                    </p:set>
                                    <p:anim calcmode="lin" valueType="num">
                                      <p:cBhvr additive="base">
                                        <p:cTn id="39" dur="500" fill="hold"/>
                                        <p:tgtEl>
                                          <p:spTgt spid="33"/>
                                        </p:tgtEl>
                                        <p:attrNameLst>
                                          <p:attrName>ppt_x</p:attrName>
                                        </p:attrNameLst>
                                      </p:cBhvr>
                                      <p:tavLst>
                                        <p:tav tm="0">
                                          <p:val>
                                            <p:strVal val="#ppt_x"/>
                                          </p:val>
                                        </p:tav>
                                        <p:tav tm="100000">
                                          <p:val>
                                            <p:strVal val="#ppt_x"/>
                                          </p:val>
                                        </p:tav>
                                      </p:tavLst>
                                    </p:anim>
                                    <p:anim calcmode="lin" valueType="num">
                                      <p:cBhvr additive="base">
                                        <p:cTn id="40" dur="500" fill="hold"/>
                                        <p:tgtEl>
                                          <p:spTgt spid="33"/>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6"/>
                                        </p:tgtEl>
                                        <p:attrNameLst>
                                          <p:attrName>style.visibility</p:attrName>
                                        </p:attrNameLst>
                                      </p:cBhvr>
                                      <p:to>
                                        <p:strVal val="visible"/>
                                      </p:to>
                                    </p:set>
                                    <p:anim calcmode="lin" valueType="num">
                                      <p:cBhvr additive="base">
                                        <p:cTn id="43" dur="500" fill="hold"/>
                                        <p:tgtEl>
                                          <p:spTgt spid="36"/>
                                        </p:tgtEl>
                                        <p:attrNameLst>
                                          <p:attrName>ppt_x</p:attrName>
                                        </p:attrNameLst>
                                      </p:cBhvr>
                                      <p:tavLst>
                                        <p:tav tm="0">
                                          <p:val>
                                            <p:strVal val="#ppt_x"/>
                                          </p:val>
                                        </p:tav>
                                        <p:tav tm="100000">
                                          <p:val>
                                            <p:strVal val="#ppt_x"/>
                                          </p:val>
                                        </p:tav>
                                      </p:tavLst>
                                    </p:anim>
                                    <p:anim calcmode="lin" valueType="num">
                                      <p:cBhvr additive="base">
                                        <p:cTn id="44" dur="500" fill="hold"/>
                                        <p:tgtEl>
                                          <p:spTgt spid="36"/>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9"/>
                                        </p:tgtEl>
                                        <p:attrNameLst>
                                          <p:attrName>style.visibility</p:attrName>
                                        </p:attrNameLst>
                                      </p:cBhvr>
                                      <p:to>
                                        <p:strVal val="visible"/>
                                      </p:to>
                                    </p:set>
                                    <p:anim calcmode="lin" valueType="num">
                                      <p:cBhvr additive="base">
                                        <p:cTn id="47" dur="500" fill="hold"/>
                                        <p:tgtEl>
                                          <p:spTgt spid="39"/>
                                        </p:tgtEl>
                                        <p:attrNameLst>
                                          <p:attrName>ppt_x</p:attrName>
                                        </p:attrNameLst>
                                      </p:cBhvr>
                                      <p:tavLst>
                                        <p:tav tm="0">
                                          <p:val>
                                            <p:strVal val="#ppt_x"/>
                                          </p:val>
                                        </p:tav>
                                        <p:tav tm="100000">
                                          <p:val>
                                            <p:strVal val="#ppt_x"/>
                                          </p:val>
                                        </p:tav>
                                      </p:tavLst>
                                    </p:anim>
                                    <p:anim calcmode="lin" valueType="num">
                                      <p:cBhvr additive="base">
                                        <p:cTn id="4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2000" b="1" dirty="0"/>
              <a:t>地</a:t>
            </a:r>
            <a:r>
              <a:rPr lang="zh-CN" altLang="en-US" sz="2000" b="1" dirty="0" smtClean="0"/>
              <a:t>址类型</a:t>
            </a:r>
            <a:endParaRPr lang="en-US" altLang="zh-CN" sz="2000" b="1" dirty="0" smtClean="0"/>
          </a:p>
          <a:p>
            <a:r>
              <a:rPr lang="zh-CN" altLang="en-US" sz="2000" dirty="0"/>
              <a:t>组</a:t>
            </a:r>
            <a:r>
              <a:rPr lang="zh-CN" altLang="en-US" sz="2000" dirty="0" smtClean="0"/>
              <a:t>播</a:t>
            </a:r>
            <a:r>
              <a:rPr lang="en-US" altLang="zh-CN" sz="2000" dirty="0" smtClean="0"/>
              <a:t>(multicast)</a:t>
            </a:r>
          </a:p>
          <a:p>
            <a:pPr lvl="1"/>
            <a:r>
              <a:rPr lang="zh-CN" altLang="en-US" sz="1600" dirty="0"/>
              <a:t>任</a:t>
            </a:r>
            <a:r>
              <a:rPr lang="zh-CN" altLang="en-US" sz="1600" dirty="0" smtClean="0"/>
              <a:t>意节点可以加入任意组播组，可以在任意时刻离开或加入，可以同时加入多个组</a:t>
            </a:r>
            <a:endParaRPr lang="en-US" altLang="zh-CN" sz="1600" dirty="0" smtClean="0"/>
          </a:p>
        </p:txBody>
      </p:sp>
      <p:sp>
        <p:nvSpPr>
          <p:cNvPr id="3" name="标题 2"/>
          <p:cNvSpPr>
            <a:spLocks noGrp="1"/>
          </p:cNvSpPr>
          <p:nvPr>
            <p:ph type="title"/>
          </p:nvPr>
        </p:nvSpPr>
        <p:spPr/>
        <p:txBody>
          <a:bodyPr/>
          <a:lstStyle/>
          <a:p>
            <a:r>
              <a:rPr lang="en-US" altLang="zh-CN" dirty="0" smtClean="0"/>
              <a:t>IPv6</a:t>
            </a:r>
            <a:r>
              <a:rPr lang="zh-CN" altLang="en-US" dirty="0" smtClean="0"/>
              <a:t>地址</a:t>
            </a:r>
            <a:endParaRPr lang="zh-CN" altLang="en-US" dirty="0"/>
          </a:p>
        </p:txBody>
      </p:sp>
      <p:sp>
        <p:nvSpPr>
          <p:cNvPr id="4" name="内容占位符 3"/>
          <p:cNvSpPr>
            <a:spLocks noGrp="1"/>
          </p:cNvSpPr>
          <p:nvPr>
            <p:ph sz="half" idx="10"/>
          </p:nvPr>
        </p:nvSpPr>
        <p:spPr/>
        <p:txBody>
          <a:bodyPr/>
          <a:lstStyle/>
          <a:p>
            <a:r>
              <a:rPr lang="en-US" altLang="zh-CN" dirty="0" smtClean="0"/>
              <a:t>IPv6 Address</a:t>
            </a:r>
            <a:endParaRPr lang="zh-CN" altLang="en-US" dirty="0"/>
          </a:p>
        </p:txBody>
      </p:sp>
      <p:graphicFrame>
        <p:nvGraphicFramePr>
          <p:cNvPr id="5" name="Table 4"/>
          <p:cNvGraphicFramePr>
            <a:graphicFrameLocks noGrp="1"/>
          </p:cNvGraphicFramePr>
          <p:nvPr>
            <p:extLst>
              <p:ext uri="{D42A27DB-BD31-4B8C-83A1-F6EECF244321}">
                <p14:modId xmlns:p14="http://schemas.microsoft.com/office/powerpoint/2010/main" val="1356695745"/>
              </p:ext>
            </p:extLst>
          </p:nvPr>
        </p:nvGraphicFramePr>
        <p:xfrm>
          <a:off x="302802" y="2463229"/>
          <a:ext cx="11520000" cy="720000"/>
        </p:xfrm>
        <a:graphic>
          <a:graphicData uri="http://schemas.openxmlformats.org/drawingml/2006/table">
            <a:tbl>
              <a:tblPr firstRow="1" bandRow="1">
                <a:tableStyleId>{5940675A-B579-460E-94D1-54222C63F5DA}</a:tableStyleId>
              </a:tblPr>
              <a:tblGrid>
                <a:gridCol w="1080000">
                  <a:extLst>
                    <a:ext uri="{9D8B030D-6E8A-4147-A177-3AD203B41FA5}">
                      <a16:colId xmlns:a16="http://schemas.microsoft.com/office/drawing/2014/main" val="4090118426"/>
                    </a:ext>
                  </a:extLst>
                </a:gridCol>
                <a:gridCol w="720000">
                  <a:extLst>
                    <a:ext uri="{9D8B030D-6E8A-4147-A177-3AD203B41FA5}">
                      <a16:colId xmlns:a16="http://schemas.microsoft.com/office/drawing/2014/main" val="4252971219"/>
                    </a:ext>
                  </a:extLst>
                </a:gridCol>
                <a:gridCol w="720000">
                  <a:extLst>
                    <a:ext uri="{9D8B030D-6E8A-4147-A177-3AD203B41FA5}">
                      <a16:colId xmlns:a16="http://schemas.microsoft.com/office/drawing/2014/main" val="1039816206"/>
                    </a:ext>
                  </a:extLst>
                </a:gridCol>
                <a:gridCol w="3240000">
                  <a:extLst>
                    <a:ext uri="{9D8B030D-6E8A-4147-A177-3AD203B41FA5}">
                      <a16:colId xmlns:a16="http://schemas.microsoft.com/office/drawing/2014/main" val="1917265855"/>
                    </a:ext>
                  </a:extLst>
                </a:gridCol>
                <a:gridCol w="5760000">
                  <a:extLst>
                    <a:ext uri="{9D8B030D-6E8A-4147-A177-3AD203B41FA5}">
                      <a16:colId xmlns:a16="http://schemas.microsoft.com/office/drawing/2014/main" val="2273083799"/>
                    </a:ext>
                  </a:extLst>
                </a:gridCol>
              </a:tblGrid>
              <a:tr h="360000">
                <a:tc>
                  <a:txBody>
                    <a:bodyPr/>
                    <a:lstStyle/>
                    <a:p>
                      <a:pPr algn="ctr"/>
                      <a:r>
                        <a:rPr lang="en-US" altLang="zh-CN" sz="1600" dirty="0" smtClean="0"/>
                        <a:t>8</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4</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4</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48</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64</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4163898615"/>
                  </a:ext>
                </a:extLst>
              </a:tr>
              <a:tr h="360000">
                <a:tc>
                  <a:txBody>
                    <a:bodyPr/>
                    <a:lstStyle/>
                    <a:p>
                      <a:pPr algn="ctr"/>
                      <a:r>
                        <a:rPr lang="en-US" altLang="zh-CN" sz="1600" dirty="0" smtClean="0"/>
                        <a:t>1111 1111</a:t>
                      </a:r>
                      <a:endParaRPr lang="zh-CN" altLang="en-US" sz="1600" dirty="0"/>
                    </a:p>
                  </a:txBody>
                  <a:tcPr/>
                </a:tc>
                <a:tc>
                  <a:txBody>
                    <a:bodyPr/>
                    <a:lstStyle/>
                    <a:p>
                      <a:pPr algn="ctr"/>
                      <a:r>
                        <a:rPr lang="en-US" altLang="zh-CN" sz="1600" dirty="0" smtClean="0"/>
                        <a:t>Flag</a:t>
                      </a:r>
                      <a:endParaRPr lang="zh-CN" altLang="en-US" sz="1600" dirty="0"/>
                    </a:p>
                  </a:txBody>
                  <a:tcPr/>
                </a:tc>
                <a:tc>
                  <a:txBody>
                    <a:bodyPr/>
                    <a:lstStyle/>
                    <a:p>
                      <a:pPr algn="ctr"/>
                      <a:r>
                        <a:rPr lang="en-US" altLang="zh-CN" sz="1600" dirty="0" smtClean="0"/>
                        <a:t>Scope</a:t>
                      </a:r>
                      <a:endParaRPr lang="zh-CN" altLang="en-US" sz="1600" dirty="0"/>
                    </a:p>
                  </a:txBody>
                  <a:tcPr/>
                </a:tc>
                <a:tc>
                  <a:txBody>
                    <a:bodyPr/>
                    <a:lstStyle/>
                    <a:p>
                      <a:pPr algn="ctr"/>
                      <a:r>
                        <a:rPr lang="en-US" altLang="zh-CN" sz="1600" dirty="0" smtClean="0"/>
                        <a:t>0</a:t>
                      </a:r>
                      <a:endParaRPr lang="zh-CN" altLang="en-US" sz="1600" dirty="0"/>
                    </a:p>
                  </a:txBody>
                  <a:tcPr/>
                </a:tc>
                <a:tc>
                  <a:txBody>
                    <a:bodyPr/>
                    <a:lstStyle/>
                    <a:p>
                      <a:pPr algn="ctr"/>
                      <a:r>
                        <a:rPr lang="zh-CN" altLang="en-US" sz="1600" dirty="0" smtClean="0"/>
                        <a:t>接口</a:t>
                      </a:r>
                      <a:r>
                        <a:rPr lang="en-US" altLang="zh-CN" sz="1600" dirty="0" smtClean="0"/>
                        <a:t>ID</a:t>
                      </a:r>
                      <a:endParaRPr lang="zh-CN" altLang="en-US" sz="1600" dirty="0"/>
                    </a:p>
                  </a:txBody>
                  <a:tcPr/>
                </a:tc>
                <a:extLst>
                  <a:ext uri="{0D108BD9-81ED-4DB2-BD59-A6C34878D82A}">
                    <a16:rowId xmlns:a16="http://schemas.microsoft.com/office/drawing/2014/main" val="147485642"/>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631969767"/>
              </p:ext>
            </p:extLst>
          </p:nvPr>
        </p:nvGraphicFramePr>
        <p:xfrm>
          <a:off x="302802" y="3479078"/>
          <a:ext cx="1800000" cy="108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333151061"/>
                    </a:ext>
                  </a:extLst>
                </a:gridCol>
                <a:gridCol w="1080000">
                  <a:extLst>
                    <a:ext uri="{9D8B030D-6E8A-4147-A177-3AD203B41FA5}">
                      <a16:colId xmlns:a16="http://schemas.microsoft.com/office/drawing/2014/main" val="830885023"/>
                    </a:ext>
                  </a:extLst>
                </a:gridCol>
              </a:tblGrid>
              <a:tr h="360000">
                <a:tc gridSpan="2">
                  <a:txBody>
                    <a:bodyPr/>
                    <a:lstStyle/>
                    <a:p>
                      <a:pPr algn="ctr"/>
                      <a:r>
                        <a:rPr lang="en-US" altLang="zh-CN" sz="1600" dirty="0" smtClean="0"/>
                        <a:t>Flag</a:t>
                      </a:r>
                      <a:endParaRPr lang="zh-CN" altLang="en-US" sz="1600" dirty="0"/>
                    </a:p>
                  </a:txBody>
                  <a:tcPr/>
                </a:tc>
                <a:tc hMerge="1">
                  <a:txBody>
                    <a:bodyPr/>
                    <a:lstStyle/>
                    <a:p>
                      <a:pPr algn="ctr"/>
                      <a:endParaRPr lang="zh-CN" altLang="en-US" sz="1600" dirty="0"/>
                    </a:p>
                  </a:txBody>
                  <a:tcPr/>
                </a:tc>
                <a:extLst>
                  <a:ext uri="{0D108BD9-81ED-4DB2-BD59-A6C34878D82A}">
                    <a16:rowId xmlns:a16="http://schemas.microsoft.com/office/drawing/2014/main" val="758566700"/>
                  </a:ext>
                </a:extLst>
              </a:tr>
              <a:tr h="360000">
                <a:tc>
                  <a:txBody>
                    <a:bodyPr/>
                    <a:lstStyle/>
                    <a:p>
                      <a:pPr algn="ctr"/>
                      <a:r>
                        <a:rPr lang="en-US" altLang="zh-CN" sz="1600" dirty="0" smtClean="0"/>
                        <a:t>0</a:t>
                      </a:r>
                      <a:endParaRPr lang="zh-CN" altLang="en-US" sz="1600" dirty="0"/>
                    </a:p>
                  </a:txBody>
                  <a:tcPr/>
                </a:tc>
                <a:tc>
                  <a:txBody>
                    <a:bodyPr/>
                    <a:lstStyle/>
                    <a:p>
                      <a:pPr algn="ctr"/>
                      <a:r>
                        <a:rPr lang="zh-CN" altLang="en-US" sz="1600" dirty="0" smtClean="0"/>
                        <a:t>永久</a:t>
                      </a:r>
                      <a:endParaRPr lang="zh-CN" altLang="en-US" sz="1600" dirty="0"/>
                    </a:p>
                  </a:txBody>
                  <a:tcPr/>
                </a:tc>
                <a:extLst>
                  <a:ext uri="{0D108BD9-81ED-4DB2-BD59-A6C34878D82A}">
                    <a16:rowId xmlns:a16="http://schemas.microsoft.com/office/drawing/2014/main" val="129112524"/>
                  </a:ext>
                </a:extLst>
              </a:tr>
              <a:tr h="360000">
                <a:tc>
                  <a:txBody>
                    <a:bodyPr/>
                    <a:lstStyle/>
                    <a:p>
                      <a:pPr algn="ctr"/>
                      <a:r>
                        <a:rPr lang="en-US" altLang="zh-CN" sz="1600" dirty="0" smtClean="0"/>
                        <a:t>1</a:t>
                      </a:r>
                      <a:endParaRPr lang="zh-CN" altLang="en-US" sz="1600" dirty="0"/>
                    </a:p>
                  </a:txBody>
                  <a:tcPr/>
                </a:tc>
                <a:tc>
                  <a:txBody>
                    <a:bodyPr/>
                    <a:lstStyle/>
                    <a:p>
                      <a:pPr algn="ctr"/>
                      <a:r>
                        <a:rPr lang="zh-CN" altLang="en-US" sz="1600" dirty="0" smtClean="0"/>
                        <a:t>暂时</a:t>
                      </a:r>
                      <a:endParaRPr lang="zh-CN" altLang="en-US" sz="1600" dirty="0"/>
                    </a:p>
                  </a:txBody>
                  <a:tcPr/>
                </a:tc>
                <a:extLst>
                  <a:ext uri="{0D108BD9-81ED-4DB2-BD59-A6C34878D82A}">
                    <a16:rowId xmlns:a16="http://schemas.microsoft.com/office/drawing/2014/main" val="206389294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4059816485"/>
              </p:ext>
            </p:extLst>
          </p:nvPr>
        </p:nvGraphicFramePr>
        <p:xfrm>
          <a:off x="2565084" y="3473811"/>
          <a:ext cx="2160000" cy="25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333151061"/>
                    </a:ext>
                  </a:extLst>
                </a:gridCol>
                <a:gridCol w="1440000">
                  <a:extLst>
                    <a:ext uri="{9D8B030D-6E8A-4147-A177-3AD203B41FA5}">
                      <a16:colId xmlns:a16="http://schemas.microsoft.com/office/drawing/2014/main" val="830885023"/>
                    </a:ext>
                  </a:extLst>
                </a:gridCol>
              </a:tblGrid>
              <a:tr h="360000">
                <a:tc gridSpan="2">
                  <a:txBody>
                    <a:bodyPr/>
                    <a:lstStyle/>
                    <a:p>
                      <a:pPr algn="ctr"/>
                      <a:r>
                        <a:rPr lang="en-US" altLang="zh-CN" sz="1600" dirty="0" smtClean="0"/>
                        <a:t>scope</a:t>
                      </a:r>
                      <a:endParaRPr lang="zh-CN" altLang="en-US" sz="1600" dirty="0"/>
                    </a:p>
                  </a:txBody>
                  <a:tcPr/>
                </a:tc>
                <a:tc hMerge="1">
                  <a:txBody>
                    <a:bodyPr/>
                    <a:lstStyle/>
                    <a:p>
                      <a:pPr algn="ctr"/>
                      <a:endParaRPr lang="zh-CN" altLang="en-US" sz="1600" dirty="0"/>
                    </a:p>
                  </a:txBody>
                  <a:tcPr/>
                </a:tc>
                <a:extLst>
                  <a:ext uri="{0D108BD9-81ED-4DB2-BD59-A6C34878D82A}">
                    <a16:rowId xmlns:a16="http://schemas.microsoft.com/office/drawing/2014/main" val="758566700"/>
                  </a:ext>
                </a:extLst>
              </a:tr>
              <a:tr h="360000">
                <a:tc>
                  <a:txBody>
                    <a:bodyPr/>
                    <a:lstStyle/>
                    <a:p>
                      <a:pPr algn="ctr"/>
                      <a:r>
                        <a:rPr lang="en-US" altLang="zh-CN" sz="1600" dirty="0" smtClean="0"/>
                        <a:t>1</a:t>
                      </a:r>
                      <a:endParaRPr lang="zh-CN" altLang="en-US" sz="1600" dirty="0"/>
                    </a:p>
                  </a:txBody>
                  <a:tcPr/>
                </a:tc>
                <a:tc>
                  <a:txBody>
                    <a:bodyPr/>
                    <a:lstStyle/>
                    <a:p>
                      <a:pPr algn="ctr"/>
                      <a:r>
                        <a:rPr lang="zh-CN" altLang="en-US" sz="1600" dirty="0" smtClean="0"/>
                        <a:t>接口本地范围</a:t>
                      </a:r>
                      <a:endParaRPr lang="zh-CN" altLang="en-US" sz="1600" dirty="0"/>
                    </a:p>
                  </a:txBody>
                  <a:tcPr/>
                </a:tc>
                <a:extLst>
                  <a:ext uri="{0D108BD9-81ED-4DB2-BD59-A6C34878D82A}">
                    <a16:rowId xmlns:a16="http://schemas.microsoft.com/office/drawing/2014/main" val="129112524"/>
                  </a:ext>
                </a:extLst>
              </a:tr>
              <a:tr h="360000">
                <a:tc>
                  <a:txBody>
                    <a:bodyPr/>
                    <a:lstStyle/>
                    <a:p>
                      <a:pPr algn="ctr"/>
                      <a:r>
                        <a:rPr lang="en-US" altLang="zh-CN" sz="1600" dirty="0" smtClean="0"/>
                        <a:t>2</a:t>
                      </a:r>
                      <a:endParaRPr lang="zh-CN" altLang="en-US" sz="1600" dirty="0"/>
                    </a:p>
                  </a:txBody>
                  <a:tcPr/>
                </a:tc>
                <a:tc>
                  <a:txBody>
                    <a:bodyPr/>
                    <a:lstStyle/>
                    <a:p>
                      <a:pPr algn="ctr"/>
                      <a:r>
                        <a:rPr lang="zh-CN" altLang="en-US" sz="1600" dirty="0" smtClean="0"/>
                        <a:t>链路本地范围</a:t>
                      </a:r>
                      <a:endParaRPr lang="zh-CN" altLang="en-US" sz="1600" dirty="0"/>
                    </a:p>
                  </a:txBody>
                  <a:tcPr/>
                </a:tc>
                <a:extLst>
                  <a:ext uri="{0D108BD9-81ED-4DB2-BD59-A6C34878D82A}">
                    <a16:rowId xmlns:a16="http://schemas.microsoft.com/office/drawing/2014/main" val="2063892942"/>
                  </a:ext>
                </a:extLst>
              </a:tr>
              <a:tr h="360000">
                <a:tc>
                  <a:txBody>
                    <a:bodyPr/>
                    <a:lstStyle/>
                    <a:p>
                      <a:pPr algn="ctr"/>
                      <a:r>
                        <a:rPr lang="en-US" altLang="zh-CN" sz="1600" dirty="0" smtClean="0"/>
                        <a:t>5</a:t>
                      </a:r>
                      <a:endParaRPr lang="zh-CN" altLang="en-US" sz="1600" dirty="0"/>
                    </a:p>
                  </a:txBody>
                  <a:tcPr/>
                </a:tc>
                <a:tc>
                  <a:txBody>
                    <a:bodyPr/>
                    <a:lstStyle/>
                    <a:p>
                      <a:pPr algn="ctr"/>
                      <a:r>
                        <a:rPr lang="zh-CN" altLang="en-US" sz="1600" dirty="0" smtClean="0"/>
                        <a:t>站点本地范围</a:t>
                      </a:r>
                      <a:endParaRPr lang="zh-CN" altLang="en-US" sz="1600" dirty="0"/>
                    </a:p>
                  </a:txBody>
                  <a:tcPr/>
                </a:tc>
                <a:extLst>
                  <a:ext uri="{0D108BD9-81ED-4DB2-BD59-A6C34878D82A}">
                    <a16:rowId xmlns:a16="http://schemas.microsoft.com/office/drawing/2014/main" val="593826800"/>
                  </a:ext>
                </a:extLst>
              </a:tr>
              <a:tr h="360000">
                <a:tc>
                  <a:txBody>
                    <a:bodyPr/>
                    <a:lstStyle/>
                    <a:p>
                      <a:pPr algn="ctr"/>
                      <a:r>
                        <a:rPr lang="en-US" altLang="zh-CN" sz="1600" dirty="0" smtClean="0"/>
                        <a:t>8</a:t>
                      </a:r>
                      <a:endParaRPr lang="zh-CN" altLang="en-US" sz="1600" dirty="0"/>
                    </a:p>
                  </a:txBody>
                  <a:tcPr/>
                </a:tc>
                <a:tc>
                  <a:txBody>
                    <a:bodyPr/>
                    <a:lstStyle/>
                    <a:p>
                      <a:pPr algn="ctr"/>
                      <a:r>
                        <a:rPr lang="zh-CN" altLang="en-US" sz="1600" dirty="0" smtClean="0"/>
                        <a:t>组织本地范围</a:t>
                      </a:r>
                      <a:endParaRPr lang="zh-CN" altLang="en-US" sz="1600" dirty="0"/>
                    </a:p>
                  </a:txBody>
                  <a:tcPr/>
                </a:tc>
                <a:extLst>
                  <a:ext uri="{0D108BD9-81ED-4DB2-BD59-A6C34878D82A}">
                    <a16:rowId xmlns:a16="http://schemas.microsoft.com/office/drawing/2014/main" val="2749449402"/>
                  </a:ext>
                </a:extLst>
              </a:tr>
              <a:tr h="360000">
                <a:tc>
                  <a:txBody>
                    <a:bodyPr/>
                    <a:lstStyle/>
                    <a:p>
                      <a:pPr algn="ctr"/>
                      <a:r>
                        <a:rPr lang="en-US" altLang="zh-CN" sz="1600" dirty="0" smtClean="0"/>
                        <a:t>E</a:t>
                      </a:r>
                      <a:endParaRPr lang="zh-CN" altLang="en-US" sz="1600" dirty="0"/>
                    </a:p>
                  </a:txBody>
                  <a:tcPr/>
                </a:tc>
                <a:tc>
                  <a:txBody>
                    <a:bodyPr/>
                    <a:lstStyle/>
                    <a:p>
                      <a:pPr algn="ctr"/>
                      <a:r>
                        <a:rPr lang="zh-CN" altLang="en-US" sz="1600" dirty="0" smtClean="0"/>
                        <a:t>全局范围</a:t>
                      </a:r>
                      <a:endParaRPr lang="zh-CN" altLang="en-US" sz="1600" dirty="0"/>
                    </a:p>
                  </a:txBody>
                  <a:tcPr/>
                </a:tc>
                <a:extLst>
                  <a:ext uri="{0D108BD9-81ED-4DB2-BD59-A6C34878D82A}">
                    <a16:rowId xmlns:a16="http://schemas.microsoft.com/office/drawing/2014/main" val="3097930758"/>
                  </a:ext>
                </a:extLst>
              </a:tr>
              <a:tr h="360000">
                <a:tc>
                  <a:txBody>
                    <a:bodyPr/>
                    <a:lstStyle/>
                    <a:p>
                      <a:pPr algn="ctr"/>
                      <a:r>
                        <a:rPr lang="en-US" altLang="zh-CN" sz="1600" dirty="0" smtClean="0"/>
                        <a:t>0,3,F</a:t>
                      </a:r>
                      <a:endParaRPr lang="zh-CN" altLang="en-US" sz="1600" dirty="0"/>
                    </a:p>
                  </a:txBody>
                  <a:tcPr/>
                </a:tc>
                <a:tc>
                  <a:txBody>
                    <a:bodyPr/>
                    <a:lstStyle/>
                    <a:p>
                      <a:pPr algn="ctr"/>
                      <a:r>
                        <a:rPr lang="zh-CN" altLang="en-US" sz="1600" dirty="0" smtClean="0"/>
                        <a:t>保留</a:t>
                      </a:r>
                      <a:endParaRPr lang="zh-CN" altLang="en-US" sz="1600" dirty="0"/>
                    </a:p>
                  </a:txBody>
                  <a:tcPr/>
                </a:tc>
                <a:extLst>
                  <a:ext uri="{0D108BD9-81ED-4DB2-BD59-A6C34878D82A}">
                    <a16:rowId xmlns:a16="http://schemas.microsoft.com/office/drawing/2014/main" val="964406025"/>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2550723671"/>
              </p:ext>
            </p:extLst>
          </p:nvPr>
        </p:nvGraphicFramePr>
        <p:xfrm>
          <a:off x="5187366" y="3473811"/>
          <a:ext cx="6635436" cy="2520000"/>
        </p:xfrm>
        <a:graphic>
          <a:graphicData uri="http://schemas.openxmlformats.org/drawingml/2006/table">
            <a:tbl>
              <a:tblPr firstRow="1" bandRow="1">
                <a:tableStyleId>{5940675A-B579-460E-94D1-54222C63F5DA}</a:tableStyleId>
              </a:tblPr>
              <a:tblGrid>
                <a:gridCol w="1080000">
                  <a:extLst>
                    <a:ext uri="{9D8B030D-6E8A-4147-A177-3AD203B41FA5}">
                      <a16:colId xmlns:a16="http://schemas.microsoft.com/office/drawing/2014/main" val="333151061"/>
                    </a:ext>
                  </a:extLst>
                </a:gridCol>
                <a:gridCol w="1041718">
                  <a:extLst>
                    <a:ext uri="{9D8B030D-6E8A-4147-A177-3AD203B41FA5}">
                      <a16:colId xmlns:a16="http://schemas.microsoft.com/office/drawing/2014/main" val="830885023"/>
                    </a:ext>
                  </a:extLst>
                </a:gridCol>
                <a:gridCol w="1440000">
                  <a:extLst>
                    <a:ext uri="{9D8B030D-6E8A-4147-A177-3AD203B41FA5}">
                      <a16:colId xmlns:a16="http://schemas.microsoft.com/office/drawing/2014/main" val="1381536915"/>
                    </a:ext>
                  </a:extLst>
                </a:gridCol>
                <a:gridCol w="3073718">
                  <a:extLst>
                    <a:ext uri="{9D8B030D-6E8A-4147-A177-3AD203B41FA5}">
                      <a16:colId xmlns:a16="http://schemas.microsoft.com/office/drawing/2014/main" val="2641771226"/>
                    </a:ext>
                  </a:extLst>
                </a:gridCol>
              </a:tblGrid>
              <a:tr h="360000">
                <a:tc gridSpan="4">
                  <a:txBody>
                    <a:bodyPr/>
                    <a:lstStyle/>
                    <a:p>
                      <a:pPr algn="ctr"/>
                      <a:r>
                        <a:rPr lang="zh-CN" altLang="en-US" sz="1600" dirty="0" smtClean="0"/>
                        <a:t>组播指定地址</a:t>
                      </a:r>
                      <a:endParaRPr lang="zh-CN" altLang="en-US" sz="1600" dirty="0"/>
                    </a:p>
                  </a:txBody>
                  <a:tcPr/>
                </a:tc>
                <a:tc hMerge="1">
                  <a:txBody>
                    <a:bodyPr/>
                    <a:lstStyle/>
                    <a:p>
                      <a:pPr algn="ctr"/>
                      <a:endParaRPr lang="zh-CN" altLang="en-US" sz="1600" dirty="0"/>
                    </a:p>
                  </a:txBody>
                  <a:tcPr/>
                </a:tc>
                <a:tc hMerge="1">
                  <a:txBody>
                    <a:bodyPr/>
                    <a:lstStyle/>
                    <a:p>
                      <a:pPr algn="ctr"/>
                      <a:endParaRPr lang="zh-CN" altLang="en-US" sz="1600" dirty="0"/>
                    </a:p>
                  </a:txBody>
                  <a:tcPr/>
                </a:tc>
                <a:tc hMerge="1">
                  <a:txBody>
                    <a:bodyPr/>
                    <a:lstStyle/>
                    <a:p>
                      <a:pPr algn="ctr"/>
                      <a:endParaRPr lang="zh-CN" altLang="en-US" sz="1600" dirty="0"/>
                    </a:p>
                  </a:txBody>
                  <a:tcPr/>
                </a:tc>
                <a:extLst>
                  <a:ext uri="{0D108BD9-81ED-4DB2-BD59-A6C34878D82A}">
                    <a16:rowId xmlns:a16="http://schemas.microsoft.com/office/drawing/2014/main" val="758566700"/>
                  </a:ext>
                </a:extLst>
              </a:tr>
              <a:tr h="360000">
                <a:tc>
                  <a:txBody>
                    <a:bodyPr/>
                    <a:lstStyle/>
                    <a:p>
                      <a:pPr algn="ctr"/>
                      <a:r>
                        <a:rPr lang="zh-CN" altLang="en-US" sz="1600" dirty="0" smtClean="0"/>
                        <a:t>组播地址</a:t>
                      </a:r>
                      <a:endParaRPr lang="zh-CN" altLang="en-US" sz="1600" dirty="0"/>
                    </a:p>
                  </a:txBody>
                  <a:tcPr/>
                </a:tc>
                <a:tc>
                  <a:txBody>
                    <a:bodyPr/>
                    <a:lstStyle/>
                    <a:p>
                      <a:pPr algn="ctr"/>
                      <a:r>
                        <a:rPr lang="zh-CN" altLang="en-US" sz="1600" dirty="0" smtClean="0"/>
                        <a:t>范围</a:t>
                      </a:r>
                      <a:endParaRPr lang="zh-CN" altLang="en-US" sz="1600" dirty="0"/>
                    </a:p>
                  </a:txBody>
                  <a:tcPr/>
                </a:tc>
                <a:tc>
                  <a:txBody>
                    <a:bodyPr/>
                    <a:lstStyle/>
                    <a:p>
                      <a:pPr algn="ctr"/>
                      <a:r>
                        <a:rPr lang="zh-CN" altLang="en-US" sz="1600" dirty="0" smtClean="0"/>
                        <a:t>含义</a:t>
                      </a:r>
                      <a:endParaRPr lang="zh-CN" altLang="en-US" sz="1600" dirty="0"/>
                    </a:p>
                  </a:txBody>
                  <a:tcPr/>
                </a:tc>
                <a:tc>
                  <a:txBody>
                    <a:bodyPr/>
                    <a:lstStyle/>
                    <a:p>
                      <a:pPr algn="ctr"/>
                      <a:r>
                        <a:rPr lang="zh-CN" altLang="en-US" sz="1600" dirty="0" smtClean="0"/>
                        <a:t>描述</a:t>
                      </a:r>
                      <a:endParaRPr lang="zh-CN" altLang="en-US" sz="1600" dirty="0"/>
                    </a:p>
                  </a:txBody>
                  <a:tcPr/>
                </a:tc>
                <a:extLst>
                  <a:ext uri="{0D108BD9-81ED-4DB2-BD59-A6C34878D82A}">
                    <a16:rowId xmlns:a16="http://schemas.microsoft.com/office/drawing/2014/main" val="129112524"/>
                  </a:ext>
                </a:extLst>
              </a:tr>
              <a:tr h="360000">
                <a:tc>
                  <a:txBody>
                    <a:bodyPr/>
                    <a:lstStyle/>
                    <a:p>
                      <a:pPr algn="ctr"/>
                      <a:r>
                        <a:rPr lang="en-US" altLang="zh-CN" sz="1600" dirty="0" smtClean="0"/>
                        <a:t>ff01::1</a:t>
                      </a:r>
                      <a:endParaRPr lang="zh-CN" altLang="en-US" sz="1600" dirty="0"/>
                    </a:p>
                  </a:txBody>
                  <a:tcPr/>
                </a:tc>
                <a:tc>
                  <a:txBody>
                    <a:bodyPr/>
                    <a:lstStyle/>
                    <a:p>
                      <a:pPr algn="ctr"/>
                      <a:r>
                        <a:rPr lang="zh-CN" altLang="en-US" sz="1600" dirty="0" smtClean="0"/>
                        <a:t>接口本地</a:t>
                      </a:r>
                      <a:endParaRPr lang="zh-CN" altLang="en-US" sz="1600" dirty="0"/>
                    </a:p>
                  </a:txBody>
                  <a:tcPr/>
                </a:tc>
                <a:tc>
                  <a:txBody>
                    <a:bodyPr/>
                    <a:lstStyle/>
                    <a:p>
                      <a:pPr algn="ctr"/>
                      <a:r>
                        <a:rPr lang="zh-CN" altLang="en-US" sz="1600" dirty="0" smtClean="0"/>
                        <a:t>所有节点</a:t>
                      </a:r>
                      <a:endParaRPr lang="zh-CN" altLang="en-US" sz="1600" dirty="0"/>
                    </a:p>
                  </a:txBody>
                  <a:tcPr/>
                </a:tc>
                <a:tc>
                  <a:txBody>
                    <a:bodyPr/>
                    <a:lstStyle/>
                    <a:p>
                      <a:pPr algn="ctr"/>
                      <a:r>
                        <a:rPr lang="zh-CN" altLang="en-US" sz="1600" dirty="0" smtClean="0"/>
                        <a:t>在接口本地范围内的所有节点</a:t>
                      </a:r>
                      <a:endParaRPr lang="zh-CN" altLang="en-US" sz="1600" dirty="0"/>
                    </a:p>
                  </a:txBody>
                  <a:tcPr/>
                </a:tc>
                <a:extLst>
                  <a:ext uri="{0D108BD9-81ED-4DB2-BD59-A6C34878D82A}">
                    <a16:rowId xmlns:a16="http://schemas.microsoft.com/office/drawing/2014/main" val="2063892942"/>
                  </a:ext>
                </a:extLst>
              </a:tr>
              <a:tr h="360000">
                <a:tc>
                  <a:txBody>
                    <a:bodyPr/>
                    <a:lstStyle/>
                    <a:p>
                      <a:pPr algn="ctr"/>
                      <a:r>
                        <a:rPr lang="en-US" altLang="zh-CN" sz="1600" dirty="0" smtClean="0"/>
                        <a:t>ff01::2</a:t>
                      </a:r>
                      <a:endParaRPr lang="zh-CN" altLang="en-US" sz="1600" dirty="0"/>
                    </a:p>
                  </a:txBody>
                  <a:tcPr/>
                </a:tc>
                <a:tc>
                  <a:txBody>
                    <a:bodyPr/>
                    <a:lstStyle/>
                    <a:p>
                      <a:pPr algn="ctr"/>
                      <a:r>
                        <a:rPr lang="zh-CN" altLang="en-US" sz="1600" dirty="0" smtClean="0"/>
                        <a:t>接口本地</a:t>
                      </a:r>
                      <a:endParaRPr lang="zh-CN" altLang="en-US" sz="1600" dirty="0"/>
                    </a:p>
                  </a:txBody>
                  <a:tcPr/>
                </a:tc>
                <a:tc>
                  <a:txBody>
                    <a:bodyPr/>
                    <a:lstStyle/>
                    <a:p>
                      <a:pPr algn="ctr"/>
                      <a:r>
                        <a:rPr lang="zh-CN" altLang="en-US" sz="1600" dirty="0" smtClean="0"/>
                        <a:t>所有路由器</a:t>
                      </a:r>
                      <a:endParaRPr lang="zh-CN" altLang="en-US" sz="1600" dirty="0"/>
                    </a:p>
                  </a:txBody>
                  <a:tcPr/>
                </a:tc>
                <a:tc>
                  <a:txBody>
                    <a:bodyPr/>
                    <a:lstStyle/>
                    <a:p>
                      <a:pPr algn="ctr"/>
                      <a:r>
                        <a:rPr lang="zh-CN" altLang="en-US" sz="1600" dirty="0" smtClean="0"/>
                        <a:t>在接口本地范围内的所有路由器</a:t>
                      </a:r>
                      <a:endParaRPr lang="zh-CN" altLang="en-US" sz="1600" dirty="0"/>
                    </a:p>
                  </a:txBody>
                  <a:tcPr/>
                </a:tc>
                <a:extLst>
                  <a:ext uri="{0D108BD9-81ED-4DB2-BD59-A6C34878D82A}">
                    <a16:rowId xmlns:a16="http://schemas.microsoft.com/office/drawing/2014/main" val="593826800"/>
                  </a:ext>
                </a:extLst>
              </a:tr>
              <a:tr h="360000">
                <a:tc>
                  <a:txBody>
                    <a:bodyPr/>
                    <a:lstStyle/>
                    <a:p>
                      <a:pPr algn="ctr"/>
                      <a:r>
                        <a:rPr lang="en-US" altLang="zh-CN" sz="1600" dirty="0" smtClean="0"/>
                        <a:t>ff02::1</a:t>
                      </a:r>
                      <a:endParaRPr lang="zh-CN" altLang="en-US" sz="1600" dirty="0"/>
                    </a:p>
                  </a:txBody>
                  <a:tcPr/>
                </a:tc>
                <a:tc>
                  <a:txBody>
                    <a:bodyPr/>
                    <a:lstStyle/>
                    <a:p>
                      <a:pPr algn="ctr"/>
                      <a:r>
                        <a:rPr lang="zh-CN" altLang="en-US" sz="1600" dirty="0" smtClean="0"/>
                        <a:t>链路本地</a:t>
                      </a:r>
                      <a:endParaRPr lang="zh-CN" altLang="en-US" sz="1600" dirty="0"/>
                    </a:p>
                  </a:txBody>
                  <a:tcPr/>
                </a:tc>
                <a:tc>
                  <a:txBody>
                    <a:bodyPr/>
                    <a:lstStyle/>
                    <a:p>
                      <a:pPr algn="ctr"/>
                      <a:r>
                        <a:rPr lang="zh-CN" altLang="en-US" sz="1600" dirty="0" smtClean="0"/>
                        <a:t>所有节点</a:t>
                      </a:r>
                      <a:endParaRPr lang="zh-CN" altLang="en-US" sz="1600" dirty="0"/>
                    </a:p>
                  </a:txBody>
                  <a:tcPr/>
                </a:tc>
                <a:tc>
                  <a:txBody>
                    <a:bodyPr/>
                    <a:lstStyle/>
                    <a:p>
                      <a:pPr algn="ctr"/>
                      <a:r>
                        <a:rPr lang="zh-CN" altLang="en-US" sz="1600" dirty="0" smtClean="0"/>
                        <a:t>在链路本地范围内的所有节点</a:t>
                      </a:r>
                      <a:endParaRPr lang="zh-CN" altLang="en-US" sz="1600" dirty="0"/>
                    </a:p>
                  </a:txBody>
                  <a:tcPr/>
                </a:tc>
                <a:extLst>
                  <a:ext uri="{0D108BD9-81ED-4DB2-BD59-A6C34878D82A}">
                    <a16:rowId xmlns:a16="http://schemas.microsoft.com/office/drawing/2014/main" val="2749449402"/>
                  </a:ext>
                </a:extLst>
              </a:tr>
              <a:tr h="360000">
                <a:tc>
                  <a:txBody>
                    <a:bodyPr/>
                    <a:lstStyle/>
                    <a:p>
                      <a:pPr algn="ctr"/>
                      <a:r>
                        <a:rPr lang="en-US" altLang="zh-CN" sz="1600" dirty="0" smtClean="0"/>
                        <a:t>ff02::2</a:t>
                      </a:r>
                      <a:endParaRPr lang="zh-CN" altLang="en-US" sz="1600" dirty="0"/>
                    </a:p>
                  </a:txBody>
                  <a:tcPr/>
                </a:tc>
                <a:tc>
                  <a:txBody>
                    <a:bodyPr/>
                    <a:lstStyle/>
                    <a:p>
                      <a:pPr algn="ctr"/>
                      <a:r>
                        <a:rPr lang="zh-CN" altLang="en-US" sz="1600" dirty="0" smtClean="0"/>
                        <a:t>链路本地</a:t>
                      </a:r>
                      <a:endParaRPr lang="zh-CN" altLang="en-US" sz="1600" dirty="0"/>
                    </a:p>
                  </a:txBody>
                  <a:tcPr/>
                </a:tc>
                <a:tc>
                  <a:txBody>
                    <a:bodyPr/>
                    <a:lstStyle/>
                    <a:p>
                      <a:pPr algn="ctr"/>
                      <a:r>
                        <a:rPr lang="zh-CN" altLang="en-US" sz="1600" dirty="0" smtClean="0"/>
                        <a:t>所有路由器</a:t>
                      </a:r>
                      <a:endParaRPr lang="zh-CN" altLang="en-US" sz="1600" dirty="0"/>
                    </a:p>
                  </a:txBody>
                  <a:tcPr/>
                </a:tc>
                <a:tc>
                  <a:txBody>
                    <a:bodyPr/>
                    <a:lstStyle/>
                    <a:p>
                      <a:pPr algn="ctr"/>
                      <a:r>
                        <a:rPr lang="zh-CN" altLang="en-US" sz="1600" dirty="0" smtClean="0"/>
                        <a:t>在链路本地范围内的所有路由器</a:t>
                      </a:r>
                      <a:endParaRPr lang="zh-CN" altLang="en-US" sz="1600" dirty="0"/>
                    </a:p>
                  </a:txBody>
                  <a:tcPr/>
                </a:tc>
                <a:extLst>
                  <a:ext uri="{0D108BD9-81ED-4DB2-BD59-A6C34878D82A}">
                    <a16:rowId xmlns:a16="http://schemas.microsoft.com/office/drawing/2014/main" val="3097930758"/>
                  </a:ext>
                </a:extLst>
              </a:tr>
              <a:tr h="360000">
                <a:tc>
                  <a:txBody>
                    <a:bodyPr/>
                    <a:lstStyle/>
                    <a:p>
                      <a:pPr algn="ctr"/>
                      <a:r>
                        <a:rPr lang="en-US" altLang="zh-CN" sz="1600" dirty="0" smtClean="0"/>
                        <a:t>Ff05::2</a:t>
                      </a:r>
                      <a:endParaRPr lang="zh-CN" altLang="en-US" sz="1600" dirty="0"/>
                    </a:p>
                  </a:txBody>
                  <a:tcPr/>
                </a:tc>
                <a:tc>
                  <a:txBody>
                    <a:bodyPr/>
                    <a:lstStyle/>
                    <a:p>
                      <a:pPr algn="ctr"/>
                      <a:r>
                        <a:rPr lang="zh-CN" altLang="en-US" sz="1600" dirty="0" smtClean="0"/>
                        <a:t>站点</a:t>
                      </a:r>
                      <a:endParaRPr lang="zh-CN" altLang="en-US" sz="1600" dirty="0"/>
                    </a:p>
                  </a:txBody>
                  <a:tcPr/>
                </a:tc>
                <a:tc>
                  <a:txBody>
                    <a:bodyPr/>
                    <a:lstStyle/>
                    <a:p>
                      <a:pPr algn="ctr"/>
                      <a:r>
                        <a:rPr lang="zh-CN" altLang="en-US" sz="1600" dirty="0" smtClean="0"/>
                        <a:t>所有路由器</a:t>
                      </a:r>
                      <a:endParaRPr lang="zh-CN" altLang="en-US" sz="1600" dirty="0"/>
                    </a:p>
                  </a:txBody>
                  <a:tcPr/>
                </a:tc>
                <a:tc>
                  <a:txBody>
                    <a:bodyPr/>
                    <a:lstStyle/>
                    <a:p>
                      <a:pPr algn="ctr"/>
                      <a:r>
                        <a:rPr lang="zh-CN" altLang="en-US" sz="1600" dirty="0" smtClean="0"/>
                        <a:t>在站点范围内的所有路由器</a:t>
                      </a:r>
                      <a:endParaRPr lang="zh-CN" altLang="en-US" sz="1600" dirty="0"/>
                    </a:p>
                  </a:txBody>
                  <a:tcPr/>
                </a:tc>
                <a:extLst>
                  <a:ext uri="{0D108BD9-81ED-4DB2-BD59-A6C34878D82A}">
                    <a16:rowId xmlns:a16="http://schemas.microsoft.com/office/drawing/2014/main" val="964406025"/>
                  </a:ext>
                </a:extLst>
              </a:tr>
            </a:tbl>
          </a:graphicData>
        </a:graphic>
      </p:graphicFrame>
    </p:spTree>
    <p:extLst>
      <p:ext uri="{BB962C8B-B14F-4D97-AF65-F5344CB8AC3E}">
        <p14:creationId xmlns:p14="http://schemas.microsoft.com/office/powerpoint/2010/main" val="31856451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zh-CN" altLang="en-US" sz="2000" b="1" dirty="0"/>
              <a:t>地</a:t>
            </a:r>
            <a:r>
              <a:rPr lang="zh-CN" altLang="en-US" sz="2000" b="1" dirty="0" smtClean="0"/>
              <a:t>址类型</a:t>
            </a:r>
            <a:endParaRPr lang="en-US" altLang="zh-CN" sz="2000" b="1" dirty="0" smtClean="0"/>
          </a:p>
          <a:p>
            <a:r>
              <a:rPr lang="zh-CN" altLang="en-US" sz="2000" dirty="0"/>
              <a:t>组</a:t>
            </a:r>
            <a:r>
              <a:rPr lang="zh-CN" altLang="en-US" sz="2000" dirty="0" smtClean="0"/>
              <a:t>播</a:t>
            </a:r>
            <a:r>
              <a:rPr lang="en-US" altLang="zh-CN" sz="2000" dirty="0" smtClean="0"/>
              <a:t>(multicast)</a:t>
            </a:r>
          </a:p>
          <a:p>
            <a:pPr lvl="1"/>
            <a:r>
              <a:rPr lang="zh-CN" altLang="en-US" sz="1600" dirty="0" smtClean="0"/>
              <a:t>被请求节点组播地址： 每个</a:t>
            </a:r>
            <a:r>
              <a:rPr lang="en-US" altLang="zh-CN" sz="1600" dirty="0" smtClean="0"/>
              <a:t>IPv6</a:t>
            </a:r>
            <a:r>
              <a:rPr lang="zh-CN" altLang="en-US" sz="1600" dirty="0" smtClean="0"/>
              <a:t>地址都会对应一个被请求节点地址，接口会在链路层监听此地址，所以地址解析请求只需要发往</a:t>
            </a:r>
            <a:r>
              <a:rPr lang="en-US" altLang="zh-CN" sz="1600" dirty="0" smtClean="0"/>
              <a:t>IP</a:t>
            </a:r>
            <a:r>
              <a:rPr lang="zh-CN" altLang="en-US" sz="1600" dirty="0" smtClean="0"/>
              <a:t>地址对应的请求节点地址。</a:t>
            </a:r>
            <a:endParaRPr lang="en-US" altLang="zh-CN" sz="1600" dirty="0" smtClean="0"/>
          </a:p>
          <a:p>
            <a:pPr lvl="1"/>
            <a:endParaRPr lang="en-US" altLang="zh-CN" sz="1600" dirty="0"/>
          </a:p>
          <a:p>
            <a:pPr lvl="1"/>
            <a:endParaRPr lang="en-US" altLang="zh-CN" sz="1600" dirty="0" smtClean="0"/>
          </a:p>
          <a:p>
            <a:pPr lvl="1"/>
            <a:endParaRPr lang="en-US" altLang="zh-CN" sz="1600" dirty="0"/>
          </a:p>
          <a:p>
            <a:pPr lvl="1"/>
            <a:r>
              <a:rPr lang="zh-CN" altLang="en-US" sz="1600" dirty="0" smtClean="0"/>
              <a:t>对</a:t>
            </a:r>
            <a:r>
              <a:rPr lang="zh-CN" altLang="en-US" sz="1600" dirty="0"/>
              <a:t>应方</a:t>
            </a:r>
            <a:r>
              <a:rPr lang="zh-CN" altLang="en-US" sz="1600" dirty="0" smtClean="0"/>
              <a:t>式：</a:t>
            </a:r>
            <a:endParaRPr lang="en-US" altLang="zh-CN" sz="1600" dirty="0" smtClean="0"/>
          </a:p>
          <a:p>
            <a:pPr lvl="1"/>
            <a:r>
              <a:rPr lang="zh-CN" altLang="en-US" sz="1600" dirty="0"/>
              <a:t>目</a:t>
            </a:r>
            <a:r>
              <a:rPr lang="zh-CN" altLang="en-US" sz="1600" dirty="0" smtClean="0"/>
              <a:t>的</a:t>
            </a:r>
            <a:r>
              <a:rPr lang="en-US" altLang="zh-CN" sz="1600" dirty="0" smtClean="0"/>
              <a:t>MAC = 33:33:&lt;IPv6</a:t>
            </a:r>
            <a:r>
              <a:rPr lang="zh-CN" altLang="en-US" sz="1600" dirty="0" smtClean="0"/>
              <a:t>组播地址的最后</a:t>
            </a:r>
            <a:r>
              <a:rPr lang="en-US" altLang="zh-CN" sz="1600" dirty="0" smtClean="0"/>
              <a:t>8</a:t>
            </a:r>
            <a:r>
              <a:rPr lang="zh-CN" altLang="en-US" sz="1600" dirty="0" smtClean="0"/>
              <a:t>位</a:t>
            </a:r>
            <a:r>
              <a:rPr lang="en-US" altLang="zh-CN" sz="1600" dirty="0" smtClean="0"/>
              <a:t>16</a:t>
            </a:r>
            <a:r>
              <a:rPr lang="zh-CN" altLang="en-US" sz="1600" dirty="0"/>
              <a:t>进</a:t>
            </a:r>
            <a:r>
              <a:rPr lang="zh-CN" altLang="en-US" sz="1600" dirty="0" smtClean="0"/>
              <a:t>制数</a:t>
            </a:r>
            <a:r>
              <a:rPr lang="en-US" altLang="zh-CN" sz="1600" dirty="0" smtClean="0"/>
              <a:t>&gt;</a:t>
            </a:r>
          </a:p>
          <a:p>
            <a:pPr lvl="1"/>
            <a:r>
              <a:rPr lang="zh-CN" altLang="en-US" sz="1600" dirty="0"/>
              <a:t>例</a:t>
            </a:r>
            <a:r>
              <a:rPr lang="zh-CN" altLang="en-US" sz="1600" dirty="0" smtClean="0"/>
              <a:t>如：</a:t>
            </a:r>
            <a:r>
              <a:rPr lang="en-US" altLang="zh-CN" sz="1600" dirty="0" smtClean="0"/>
              <a:t>IPv6</a:t>
            </a:r>
            <a:r>
              <a:rPr lang="zh-CN" altLang="en-US" sz="1600" dirty="0" smtClean="0"/>
              <a:t>被请求节点组播地址为   </a:t>
            </a:r>
            <a:r>
              <a:rPr lang="en-US" altLang="zh-CN" sz="1600" dirty="0" smtClean="0"/>
              <a:t>ff02::1:ff17:fc0f</a:t>
            </a:r>
          </a:p>
          <a:p>
            <a:pPr marL="457200" lvl="1" indent="0">
              <a:buNone/>
            </a:pPr>
            <a:r>
              <a:rPr lang="zh-CN" altLang="en-US" sz="1600" dirty="0" smtClean="0"/>
              <a:t>              对应的</a:t>
            </a:r>
            <a:r>
              <a:rPr lang="en-US" altLang="zh-CN" sz="1600" dirty="0" smtClean="0"/>
              <a:t>MAC</a:t>
            </a:r>
            <a:r>
              <a:rPr lang="zh-CN" altLang="en-US" sz="1600" dirty="0" smtClean="0"/>
              <a:t>地址为            </a:t>
            </a:r>
            <a:r>
              <a:rPr lang="en-US" altLang="zh-CN" sz="1600" dirty="0" smtClean="0"/>
              <a:t>33:33:FF:17:FC:0F</a:t>
            </a:r>
          </a:p>
        </p:txBody>
      </p:sp>
      <p:sp>
        <p:nvSpPr>
          <p:cNvPr id="3" name="标题 2"/>
          <p:cNvSpPr>
            <a:spLocks noGrp="1"/>
          </p:cNvSpPr>
          <p:nvPr>
            <p:ph type="title"/>
          </p:nvPr>
        </p:nvSpPr>
        <p:spPr/>
        <p:txBody>
          <a:bodyPr/>
          <a:lstStyle/>
          <a:p>
            <a:r>
              <a:rPr lang="en-US" altLang="zh-CN" dirty="0" smtClean="0"/>
              <a:t>IPv6</a:t>
            </a:r>
            <a:r>
              <a:rPr lang="zh-CN" altLang="en-US" dirty="0" smtClean="0"/>
              <a:t>地址</a:t>
            </a:r>
            <a:endParaRPr lang="zh-CN" altLang="en-US" dirty="0"/>
          </a:p>
        </p:txBody>
      </p:sp>
      <p:sp>
        <p:nvSpPr>
          <p:cNvPr id="4" name="内容占位符 3"/>
          <p:cNvSpPr>
            <a:spLocks noGrp="1"/>
          </p:cNvSpPr>
          <p:nvPr>
            <p:ph sz="half" idx="10"/>
          </p:nvPr>
        </p:nvSpPr>
        <p:spPr/>
        <p:txBody>
          <a:bodyPr/>
          <a:lstStyle/>
          <a:p>
            <a:r>
              <a:rPr lang="en-US" altLang="zh-CN" dirty="0" smtClean="0"/>
              <a:t>IPv6 Address</a:t>
            </a:r>
            <a:endParaRPr lang="zh-CN" altLang="en-US" dirty="0"/>
          </a:p>
        </p:txBody>
      </p:sp>
      <p:graphicFrame>
        <p:nvGraphicFramePr>
          <p:cNvPr id="9" name="Table 8"/>
          <p:cNvGraphicFramePr>
            <a:graphicFrameLocks noGrp="1"/>
          </p:cNvGraphicFramePr>
          <p:nvPr>
            <p:extLst>
              <p:ext uri="{D42A27DB-BD31-4B8C-83A1-F6EECF244321}">
                <p14:modId xmlns:p14="http://schemas.microsoft.com/office/powerpoint/2010/main" val="3115233254"/>
              </p:ext>
            </p:extLst>
          </p:nvPr>
        </p:nvGraphicFramePr>
        <p:xfrm>
          <a:off x="302802" y="2761612"/>
          <a:ext cx="11520000" cy="720000"/>
        </p:xfrm>
        <a:graphic>
          <a:graphicData uri="http://schemas.openxmlformats.org/drawingml/2006/table">
            <a:tbl>
              <a:tblPr firstRow="1" bandRow="1">
                <a:tableStyleId>{5940675A-B579-460E-94D1-54222C63F5DA}</a:tableStyleId>
              </a:tblPr>
              <a:tblGrid>
                <a:gridCol w="1440000">
                  <a:extLst>
                    <a:ext uri="{9D8B030D-6E8A-4147-A177-3AD203B41FA5}">
                      <a16:colId xmlns:a16="http://schemas.microsoft.com/office/drawing/2014/main" val="4090118426"/>
                    </a:ext>
                  </a:extLst>
                </a:gridCol>
                <a:gridCol w="5760000">
                  <a:extLst>
                    <a:ext uri="{9D8B030D-6E8A-4147-A177-3AD203B41FA5}">
                      <a16:colId xmlns:a16="http://schemas.microsoft.com/office/drawing/2014/main" val="4252971219"/>
                    </a:ext>
                  </a:extLst>
                </a:gridCol>
                <a:gridCol w="2160000">
                  <a:extLst>
                    <a:ext uri="{9D8B030D-6E8A-4147-A177-3AD203B41FA5}">
                      <a16:colId xmlns:a16="http://schemas.microsoft.com/office/drawing/2014/main" val="2273083799"/>
                    </a:ext>
                  </a:extLst>
                </a:gridCol>
                <a:gridCol w="2160000">
                  <a:extLst>
                    <a:ext uri="{9D8B030D-6E8A-4147-A177-3AD203B41FA5}">
                      <a16:colId xmlns:a16="http://schemas.microsoft.com/office/drawing/2014/main" val="4259328564"/>
                    </a:ext>
                  </a:extLst>
                </a:gridCol>
              </a:tblGrid>
              <a:tr h="360000">
                <a:tc>
                  <a:txBody>
                    <a:bodyPr/>
                    <a:lstStyle/>
                    <a:p>
                      <a:pPr algn="ctr"/>
                      <a:r>
                        <a:rPr lang="en-US" altLang="zh-CN" sz="1600" dirty="0" smtClean="0"/>
                        <a:t>16</a:t>
                      </a:r>
                      <a:r>
                        <a:rPr lang="zh-CN" altLang="en-US" sz="1600" dirty="0" smtClean="0"/>
                        <a:t>位</a:t>
                      </a:r>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64</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24</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tc>
                  <a:txBody>
                    <a:bodyPr/>
                    <a:lstStyle/>
                    <a:p>
                      <a:pPr algn="ctr"/>
                      <a:r>
                        <a:rPr lang="en-US" altLang="zh-CN" sz="1600" dirty="0" smtClean="0"/>
                        <a:t>24</a:t>
                      </a:r>
                      <a:r>
                        <a:rPr lang="zh-CN" altLang="en-US" sz="1600" dirty="0" smtClean="0"/>
                        <a:t>位</a:t>
                      </a:r>
                      <a:endParaRPr lang="zh-CN" altLang="en-US" sz="1600" dirty="0"/>
                    </a:p>
                  </a:txBody>
                  <a:tcP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4163898615"/>
                  </a:ext>
                </a:extLst>
              </a:tr>
              <a:tr h="360000">
                <a:tc>
                  <a:txBody>
                    <a:bodyPr/>
                    <a:lstStyle/>
                    <a:p>
                      <a:pPr algn="ctr"/>
                      <a:r>
                        <a:rPr lang="en-US" altLang="zh-CN" sz="1600" dirty="0" smtClean="0"/>
                        <a:t>ff02</a:t>
                      </a:r>
                      <a:endParaRPr lang="zh-CN" altLang="en-US" sz="1600" dirty="0"/>
                    </a:p>
                  </a:txBody>
                  <a:tcPr/>
                </a:tc>
                <a:tc>
                  <a:txBody>
                    <a:bodyPr/>
                    <a:lstStyle/>
                    <a:p>
                      <a:pPr algn="ctr"/>
                      <a:r>
                        <a:rPr lang="en-US" altLang="zh-CN" sz="1600" dirty="0" smtClean="0"/>
                        <a:t>:0:0:0:0:</a:t>
                      </a:r>
                      <a:endParaRPr lang="zh-CN" altLang="en-US" sz="1600" dirty="0"/>
                    </a:p>
                  </a:txBody>
                  <a:tcPr/>
                </a:tc>
                <a:tc>
                  <a:txBody>
                    <a:bodyPr/>
                    <a:lstStyle/>
                    <a:p>
                      <a:pPr algn="ctr"/>
                      <a:r>
                        <a:rPr lang="en-US" altLang="zh-CN" sz="1600" dirty="0" smtClean="0"/>
                        <a:t>1:ff</a:t>
                      </a:r>
                      <a:endParaRPr lang="zh-CN" altLang="en-US" sz="1600" dirty="0"/>
                    </a:p>
                  </a:txBody>
                  <a:tcPr/>
                </a:tc>
                <a:tc>
                  <a:txBody>
                    <a:bodyPr/>
                    <a:lstStyle/>
                    <a:p>
                      <a:pPr algn="ctr"/>
                      <a:r>
                        <a:rPr lang="en-US" altLang="zh-CN" sz="1600" dirty="0" err="1" smtClean="0"/>
                        <a:t>xx:xxxx</a:t>
                      </a:r>
                      <a:endParaRPr lang="zh-CN" altLang="en-US" sz="1600" dirty="0"/>
                    </a:p>
                  </a:txBody>
                  <a:tcPr/>
                </a:tc>
                <a:extLst>
                  <a:ext uri="{0D108BD9-81ED-4DB2-BD59-A6C34878D82A}">
                    <a16:rowId xmlns:a16="http://schemas.microsoft.com/office/drawing/2014/main" val="147485642"/>
                  </a:ext>
                </a:extLst>
              </a:tr>
            </a:tbl>
          </a:graphicData>
        </a:graphic>
      </p:graphicFrame>
    </p:spTree>
    <p:extLst>
      <p:ext uri="{BB962C8B-B14F-4D97-AF65-F5344CB8AC3E}">
        <p14:creationId xmlns:p14="http://schemas.microsoft.com/office/powerpoint/2010/main" val="14648297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IPv6</a:t>
            </a:r>
            <a:r>
              <a:rPr lang="zh-CN" altLang="en-US" dirty="0"/>
              <a:t>首部</a:t>
            </a:r>
          </a:p>
        </p:txBody>
      </p:sp>
      <p:sp>
        <p:nvSpPr>
          <p:cNvPr id="3" name="副标题 2"/>
          <p:cNvSpPr>
            <a:spLocks noGrp="1"/>
          </p:cNvSpPr>
          <p:nvPr>
            <p:ph type="subTitle" idx="1"/>
          </p:nvPr>
        </p:nvSpPr>
        <p:spPr/>
        <p:txBody>
          <a:bodyPr/>
          <a:lstStyle/>
          <a:p>
            <a:r>
              <a:rPr lang="en-US" altLang="zh-CN" dirty="0"/>
              <a:t>IPv6 Header</a:t>
            </a:r>
          </a:p>
        </p:txBody>
      </p:sp>
    </p:spTree>
    <p:extLst>
      <p:ext uri="{BB962C8B-B14F-4D97-AF65-F5344CB8AC3E}">
        <p14:creationId xmlns:p14="http://schemas.microsoft.com/office/powerpoint/2010/main" val="38966176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2"/>
          <a:stretch>
            <a:fillRect/>
          </a:stretch>
        </p:blipFill>
        <p:spPr>
          <a:xfrm>
            <a:off x="6167543" y="1679522"/>
            <a:ext cx="5939790" cy="1626507"/>
          </a:xfrm>
          <a:prstGeom prst="rect">
            <a:avLst/>
          </a:prstGeom>
        </p:spPr>
      </p:pic>
      <p:sp>
        <p:nvSpPr>
          <p:cNvPr id="2" name="内容占位符 1"/>
          <p:cNvSpPr>
            <a:spLocks noGrp="1"/>
          </p:cNvSpPr>
          <p:nvPr>
            <p:ph sz="half" idx="1"/>
          </p:nvPr>
        </p:nvSpPr>
        <p:spPr/>
        <p:txBody>
          <a:bodyPr>
            <a:normAutofit/>
          </a:bodyPr>
          <a:lstStyle/>
          <a:p>
            <a:r>
              <a:rPr lang="en-US" altLang="zh-CN" sz="2000" b="1" dirty="0" smtClean="0"/>
              <a:t>IPv6</a:t>
            </a:r>
            <a:r>
              <a:rPr lang="zh-CN" altLang="en-US" sz="2000" b="1" dirty="0" smtClean="0"/>
              <a:t>首部格式</a:t>
            </a:r>
            <a:endParaRPr lang="en-US" altLang="zh-CN" sz="2000" b="1" dirty="0" smtClean="0"/>
          </a:p>
          <a:p>
            <a:endParaRPr lang="zh-CN" altLang="en-US" sz="2000" dirty="0" smtClean="0"/>
          </a:p>
          <a:p>
            <a:endParaRPr lang="en-US" altLang="zh-CN" sz="2000" dirty="0" smtClean="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8" name="Picture 7"/>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074" y="1679522"/>
            <a:ext cx="5939790" cy="2485390"/>
          </a:xfrm>
          <a:prstGeom prst="rect">
            <a:avLst/>
          </a:prstGeom>
          <a:noFill/>
        </p:spPr>
      </p:pic>
      <p:graphicFrame>
        <p:nvGraphicFramePr>
          <p:cNvPr id="5" name="Table 4"/>
          <p:cNvGraphicFramePr>
            <a:graphicFrameLocks noGrp="1"/>
          </p:cNvGraphicFramePr>
          <p:nvPr>
            <p:extLst>
              <p:ext uri="{D42A27DB-BD31-4B8C-83A1-F6EECF244321}">
                <p14:modId xmlns:p14="http://schemas.microsoft.com/office/powerpoint/2010/main" val="834851786"/>
              </p:ext>
            </p:extLst>
          </p:nvPr>
        </p:nvGraphicFramePr>
        <p:xfrm>
          <a:off x="842802" y="4253305"/>
          <a:ext cx="10440000" cy="1920240"/>
        </p:xfrm>
        <a:graphic>
          <a:graphicData uri="http://schemas.openxmlformats.org/drawingml/2006/table">
            <a:tbl>
              <a:tblPr firstCol="1" bandRow="1">
                <a:tableStyleId>{5C22544A-7EE6-4342-B048-85BDC9FD1C3A}</a:tableStyleId>
              </a:tblPr>
              <a:tblGrid>
                <a:gridCol w="1440000">
                  <a:extLst>
                    <a:ext uri="{9D8B030D-6E8A-4147-A177-3AD203B41FA5}">
                      <a16:colId xmlns:a16="http://schemas.microsoft.com/office/drawing/2014/main" val="423239010"/>
                    </a:ext>
                  </a:extLst>
                </a:gridCol>
                <a:gridCol w="9000000">
                  <a:extLst>
                    <a:ext uri="{9D8B030D-6E8A-4147-A177-3AD203B41FA5}">
                      <a16:colId xmlns:a16="http://schemas.microsoft.com/office/drawing/2014/main" val="2938029264"/>
                    </a:ext>
                  </a:extLst>
                </a:gridCol>
              </a:tblGrid>
              <a:tr h="0">
                <a:tc>
                  <a:txBody>
                    <a:bodyPr/>
                    <a:lstStyle/>
                    <a:p>
                      <a:pPr algn="l">
                        <a:spcAft>
                          <a:spcPts val="0"/>
                        </a:spcAft>
                      </a:pPr>
                      <a:r>
                        <a:rPr lang="zh-CN" sz="1400" kern="100" baseline="0">
                          <a:effectLst/>
                          <a:latin typeface="Times New Roman" panose="02020603050405020304" pitchFamily="18" charset="0"/>
                          <a:ea typeface="宋体" panose="02010600030101010101" pitchFamily="2" charset="-122"/>
                        </a:rPr>
                        <a:t>版本</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spcAft>
                          <a:spcPts val="600"/>
                        </a:spcAft>
                      </a:pPr>
                      <a:r>
                        <a:rPr lang="en-US" sz="1400" kern="100" baseline="0" dirty="0">
                          <a:effectLst/>
                          <a:latin typeface="Times New Roman" panose="02020603050405020304" pitchFamily="18" charset="0"/>
                          <a:ea typeface="宋体" panose="02010600030101010101" pitchFamily="2" charset="-122"/>
                        </a:rPr>
                        <a:t>4</a:t>
                      </a:r>
                      <a:r>
                        <a:rPr lang="zh-CN" sz="1400" kern="100" baseline="0" dirty="0">
                          <a:effectLst/>
                          <a:latin typeface="Times New Roman" panose="02020603050405020304" pitchFamily="18" charset="0"/>
                          <a:ea typeface="宋体" panose="02010600030101010101" pitchFamily="2" charset="-122"/>
                        </a:rPr>
                        <a:t>位，</a:t>
                      </a:r>
                      <a:r>
                        <a:rPr lang="en-US" sz="1400" kern="100" baseline="0" dirty="0">
                          <a:effectLst/>
                          <a:latin typeface="Times New Roman" panose="02020603050405020304" pitchFamily="18" charset="0"/>
                          <a:ea typeface="宋体" panose="02010600030101010101" pitchFamily="2" charset="-122"/>
                        </a:rPr>
                        <a:t>IP</a:t>
                      </a:r>
                      <a:r>
                        <a:rPr lang="zh-CN" sz="1400" kern="100" baseline="0" dirty="0">
                          <a:effectLst/>
                          <a:latin typeface="Times New Roman" panose="02020603050405020304" pitchFamily="18" charset="0"/>
                          <a:ea typeface="宋体" panose="02010600030101010101" pitchFamily="2" charset="-122"/>
                        </a:rPr>
                        <a:t>协议版本号</a:t>
                      </a:r>
                      <a:r>
                        <a:rPr lang="en-US" sz="1400" kern="100" baseline="0" dirty="0">
                          <a:effectLst/>
                          <a:latin typeface="Times New Roman" panose="02020603050405020304" pitchFamily="18" charset="0"/>
                          <a:ea typeface="宋体" panose="02010600030101010101" pitchFamily="2" charset="-122"/>
                        </a:rPr>
                        <a:t> = 6</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91842389"/>
                  </a:ext>
                </a:extLst>
              </a:tr>
              <a:tr h="0">
                <a:tc>
                  <a:txBody>
                    <a:bodyPr/>
                    <a:lstStyle/>
                    <a:p>
                      <a:pPr algn="l">
                        <a:spcAft>
                          <a:spcPts val="0"/>
                        </a:spcAft>
                      </a:pPr>
                      <a:r>
                        <a:rPr lang="zh-CN" sz="1400" kern="100" baseline="0" dirty="0">
                          <a:effectLst/>
                          <a:latin typeface="Times New Roman" panose="02020603050405020304" pitchFamily="18" charset="0"/>
                          <a:ea typeface="宋体" panose="02010600030101010101" pitchFamily="2" charset="-122"/>
                        </a:rPr>
                        <a:t>流量类型</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spcBef>
                          <a:spcPts val="0"/>
                        </a:spcBef>
                        <a:spcAft>
                          <a:spcPts val="600"/>
                        </a:spcAft>
                      </a:pPr>
                      <a:r>
                        <a:rPr lang="en-US" sz="1400" kern="100" baseline="0" dirty="0">
                          <a:effectLst/>
                          <a:latin typeface="Times New Roman" panose="02020603050405020304" pitchFamily="18" charset="0"/>
                          <a:ea typeface="宋体" panose="02010600030101010101" pitchFamily="2" charset="-122"/>
                        </a:rPr>
                        <a:t>8</a:t>
                      </a:r>
                      <a:r>
                        <a:rPr lang="zh-CN" sz="1400" kern="100" baseline="0" dirty="0">
                          <a:effectLst/>
                          <a:latin typeface="Times New Roman" panose="02020603050405020304" pitchFamily="18" charset="0"/>
                          <a:ea typeface="宋体" panose="02010600030101010101" pitchFamily="2" charset="-122"/>
                        </a:rPr>
                        <a:t>位，流量类型字</a:t>
                      </a:r>
                      <a:r>
                        <a:rPr lang="zh-CN" sz="1400" kern="100" baseline="0" dirty="0" smtClean="0">
                          <a:effectLst/>
                          <a:latin typeface="Times New Roman" panose="02020603050405020304" pitchFamily="18" charset="0"/>
                          <a:ea typeface="宋体" panose="02010600030101010101" pitchFamily="2" charset="-122"/>
                        </a:rPr>
                        <a:t>段</a:t>
                      </a:r>
                      <a:r>
                        <a:rPr lang="zh-CN" altLang="en-US" sz="1400" kern="100" baseline="0" dirty="0" smtClean="0">
                          <a:effectLst/>
                          <a:latin typeface="Times New Roman" panose="02020603050405020304" pitchFamily="18" charset="0"/>
                          <a:ea typeface="宋体" panose="02010600030101010101" pitchFamily="2" charset="-122"/>
                        </a:rPr>
                        <a:t>，与</a:t>
                      </a:r>
                      <a:r>
                        <a:rPr lang="en-US" altLang="zh-CN" sz="1400" kern="100" baseline="0" dirty="0" smtClean="0">
                          <a:effectLst/>
                          <a:latin typeface="Times New Roman" panose="02020603050405020304" pitchFamily="18" charset="0"/>
                          <a:ea typeface="宋体" panose="02010600030101010101" pitchFamily="2" charset="-122"/>
                        </a:rPr>
                        <a:t>IPv4</a:t>
                      </a:r>
                      <a:r>
                        <a:rPr lang="zh-CN" altLang="en-US" sz="1400" kern="100" baseline="0" dirty="0" smtClean="0">
                          <a:effectLst/>
                          <a:latin typeface="Times New Roman" panose="02020603050405020304" pitchFamily="18" charset="0"/>
                          <a:ea typeface="宋体" panose="02010600030101010101" pitchFamily="2" charset="-122"/>
                        </a:rPr>
                        <a:t>的区分服务类似</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51929548"/>
                  </a:ext>
                </a:extLst>
              </a:tr>
              <a:tr h="0">
                <a:tc>
                  <a:txBody>
                    <a:bodyPr/>
                    <a:lstStyle/>
                    <a:p>
                      <a:pPr algn="l">
                        <a:spcAft>
                          <a:spcPts val="0"/>
                        </a:spcAft>
                      </a:pPr>
                      <a:r>
                        <a:rPr lang="zh-CN" sz="1400" kern="100" baseline="0">
                          <a:effectLst/>
                          <a:latin typeface="Times New Roman" panose="02020603050405020304" pitchFamily="18" charset="0"/>
                          <a:ea typeface="宋体" panose="02010600030101010101" pitchFamily="2" charset="-122"/>
                        </a:rPr>
                        <a:t>流标签</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spcBef>
                          <a:spcPts val="0"/>
                        </a:spcBef>
                        <a:spcAft>
                          <a:spcPts val="600"/>
                        </a:spcAft>
                      </a:pPr>
                      <a:r>
                        <a:rPr lang="en-US" sz="1400" kern="100" baseline="0" dirty="0">
                          <a:effectLst/>
                          <a:latin typeface="Times New Roman" panose="02020603050405020304" pitchFamily="18" charset="0"/>
                          <a:ea typeface="宋体" panose="02010600030101010101" pitchFamily="2" charset="-122"/>
                        </a:rPr>
                        <a:t>20</a:t>
                      </a:r>
                      <a:r>
                        <a:rPr lang="zh-CN" sz="1400" kern="100" baseline="0" dirty="0">
                          <a:effectLst/>
                          <a:latin typeface="Times New Roman" panose="02020603050405020304" pitchFamily="18" charset="0"/>
                          <a:ea typeface="宋体" panose="02010600030101010101" pitchFamily="2" charset="-122"/>
                        </a:rPr>
                        <a:t>位，流标</a:t>
                      </a:r>
                      <a:r>
                        <a:rPr lang="zh-CN" sz="1400" kern="100" baseline="0" dirty="0" smtClean="0">
                          <a:effectLst/>
                          <a:latin typeface="Times New Roman" panose="02020603050405020304" pitchFamily="18" charset="0"/>
                          <a:ea typeface="宋体" panose="02010600030101010101" pitchFamily="2" charset="-122"/>
                        </a:rPr>
                        <a:t>签</a:t>
                      </a:r>
                      <a:r>
                        <a:rPr lang="zh-CN" altLang="en-US" sz="1400" kern="100" baseline="0" dirty="0" smtClean="0">
                          <a:effectLst/>
                          <a:latin typeface="Times New Roman" panose="02020603050405020304" pitchFamily="18" charset="0"/>
                          <a:ea typeface="宋体" panose="02010600030101010101" pitchFamily="2" charset="-122"/>
                        </a:rPr>
                        <a:t>，对有特殊</a:t>
                      </a:r>
                      <a:r>
                        <a:rPr lang="en-US" altLang="zh-CN" sz="1400" kern="100" baseline="0" dirty="0" err="1" smtClean="0">
                          <a:effectLst/>
                          <a:latin typeface="Times New Roman" panose="02020603050405020304" pitchFamily="18" charset="0"/>
                          <a:ea typeface="宋体" panose="02010600030101010101" pitchFamily="2" charset="-122"/>
                        </a:rPr>
                        <a:t>QoS</a:t>
                      </a:r>
                      <a:r>
                        <a:rPr lang="zh-CN" altLang="en-US" sz="1400" kern="100" baseline="0" dirty="0" smtClean="0">
                          <a:effectLst/>
                          <a:latin typeface="Times New Roman" panose="02020603050405020304" pitchFamily="18" charset="0"/>
                          <a:ea typeface="宋体" panose="02010600030101010101" pitchFamily="2" charset="-122"/>
                        </a:rPr>
                        <a:t>需求的流进行标记，以便路由器对其进行特殊处理，全</a:t>
                      </a:r>
                      <a:r>
                        <a:rPr lang="en-US" altLang="zh-CN" sz="1400" kern="100" baseline="0" dirty="0" smtClean="0">
                          <a:effectLst/>
                          <a:latin typeface="Times New Roman" panose="02020603050405020304" pitchFamily="18" charset="0"/>
                          <a:ea typeface="宋体" panose="02010600030101010101" pitchFamily="2" charset="-122"/>
                        </a:rPr>
                        <a:t>0</a:t>
                      </a:r>
                      <a:r>
                        <a:rPr lang="zh-CN" altLang="en-US" sz="1400" kern="100" baseline="0" dirty="0" smtClean="0">
                          <a:effectLst/>
                          <a:latin typeface="Times New Roman" panose="02020603050405020304" pitchFamily="18" charset="0"/>
                          <a:ea typeface="宋体" panose="02010600030101010101" pitchFamily="2" charset="-122"/>
                        </a:rPr>
                        <a:t>表示不属于任何流</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46828137"/>
                  </a:ext>
                </a:extLst>
              </a:tr>
              <a:tr h="0">
                <a:tc>
                  <a:txBody>
                    <a:bodyPr/>
                    <a:lstStyle/>
                    <a:p>
                      <a:pPr algn="l">
                        <a:spcAft>
                          <a:spcPts val="0"/>
                        </a:spcAft>
                      </a:pPr>
                      <a:r>
                        <a:rPr lang="en-US" sz="1400" kern="100" baseline="0">
                          <a:effectLst/>
                          <a:latin typeface="Times New Roman" panose="02020603050405020304" pitchFamily="18" charset="0"/>
                          <a:ea typeface="宋体" panose="02010600030101010101" pitchFamily="2" charset="-122"/>
                        </a:rPr>
                        <a:t>Payload</a:t>
                      </a:r>
                      <a:r>
                        <a:rPr lang="zh-CN" sz="1400" kern="100" baseline="0">
                          <a:effectLst/>
                          <a:latin typeface="Times New Roman" panose="02020603050405020304" pitchFamily="18" charset="0"/>
                          <a:ea typeface="宋体" panose="02010600030101010101" pitchFamily="2" charset="-122"/>
                        </a:rPr>
                        <a:t>长度</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spcBef>
                          <a:spcPts val="0"/>
                        </a:spcBef>
                        <a:spcAft>
                          <a:spcPts val="600"/>
                        </a:spcAft>
                      </a:pPr>
                      <a:r>
                        <a:rPr lang="en-US" sz="1400" kern="100" baseline="0" dirty="0">
                          <a:effectLst/>
                          <a:latin typeface="Times New Roman" panose="02020603050405020304" pitchFamily="18" charset="0"/>
                          <a:ea typeface="宋体" panose="02010600030101010101" pitchFamily="2" charset="-122"/>
                        </a:rPr>
                        <a:t>16</a:t>
                      </a:r>
                      <a:r>
                        <a:rPr lang="zh-CN" sz="1400" kern="100" baseline="0" dirty="0">
                          <a:effectLst/>
                          <a:latin typeface="Times New Roman" panose="02020603050405020304" pitchFamily="18" charset="0"/>
                          <a:ea typeface="宋体" panose="02010600030101010101" pitchFamily="2" charset="-122"/>
                        </a:rPr>
                        <a:t>位无符号整数，</a:t>
                      </a:r>
                      <a:r>
                        <a:rPr lang="en-US" sz="1400" kern="100" baseline="0" dirty="0">
                          <a:effectLst/>
                          <a:latin typeface="Times New Roman" panose="02020603050405020304" pitchFamily="18" charset="0"/>
                          <a:ea typeface="宋体" panose="02010600030101010101" pitchFamily="2" charset="-122"/>
                        </a:rPr>
                        <a:t>IPv6 payload</a:t>
                      </a:r>
                      <a:r>
                        <a:rPr lang="zh-CN" sz="1400" kern="100" baseline="0" dirty="0">
                          <a:effectLst/>
                          <a:latin typeface="Times New Roman" panose="02020603050405020304" pitchFamily="18" charset="0"/>
                          <a:ea typeface="宋体" panose="02010600030101010101" pitchFamily="2" charset="-122"/>
                        </a:rPr>
                        <a:t>的长度，即</a:t>
                      </a:r>
                      <a:r>
                        <a:rPr lang="en-US" sz="1400" kern="100" baseline="0" dirty="0">
                          <a:effectLst/>
                          <a:latin typeface="Times New Roman" panose="02020603050405020304" pitchFamily="18" charset="0"/>
                          <a:ea typeface="宋体" panose="02010600030101010101" pitchFamily="2" charset="-122"/>
                        </a:rPr>
                        <a:t>IPv6</a:t>
                      </a:r>
                      <a:r>
                        <a:rPr lang="zh-CN" sz="1400" kern="100" baseline="0" dirty="0">
                          <a:effectLst/>
                          <a:latin typeface="Times New Roman" panose="02020603050405020304" pitchFamily="18" charset="0"/>
                          <a:ea typeface="宋体" panose="02010600030101010101" pitchFamily="2" charset="-122"/>
                        </a:rPr>
                        <a:t>首部之后，包的剩余部分的字节数（如果有扩展首部，将其认为是</a:t>
                      </a:r>
                      <a:r>
                        <a:rPr lang="en-US" sz="1400" kern="100" baseline="0" dirty="0">
                          <a:effectLst/>
                          <a:latin typeface="Times New Roman" panose="02020603050405020304" pitchFamily="18" charset="0"/>
                          <a:ea typeface="宋体" panose="02010600030101010101" pitchFamily="2" charset="-122"/>
                        </a:rPr>
                        <a:t>payload</a:t>
                      </a:r>
                      <a:r>
                        <a:rPr lang="zh-CN" sz="1400" kern="100" baseline="0" dirty="0">
                          <a:effectLst/>
                          <a:latin typeface="Times New Roman" panose="02020603050405020304" pitchFamily="18" charset="0"/>
                          <a:ea typeface="宋体" panose="02010600030101010101" pitchFamily="2" charset="-122"/>
                        </a:rPr>
                        <a:t>的一部分）</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31537794"/>
                  </a:ext>
                </a:extLst>
              </a:tr>
              <a:tr h="0">
                <a:tc>
                  <a:txBody>
                    <a:bodyPr/>
                    <a:lstStyle/>
                    <a:p>
                      <a:pPr algn="l">
                        <a:spcAft>
                          <a:spcPts val="0"/>
                        </a:spcAft>
                      </a:pPr>
                      <a:r>
                        <a:rPr lang="zh-CN" sz="1400" kern="100" baseline="0">
                          <a:effectLst/>
                          <a:latin typeface="Times New Roman" panose="02020603050405020304" pitchFamily="18" charset="0"/>
                          <a:ea typeface="宋体" panose="02010600030101010101" pitchFamily="2" charset="-122"/>
                        </a:rPr>
                        <a:t>下一个首部</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spcBef>
                          <a:spcPts val="0"/>
                        </a:spcBef>
                        <a:spcAft>
                          <a:spcPts val="600"/>
                        </a:spcAft>
                      </a:pPr>
                      <a:r>
                        <a:rPr lang="en-US" sz="1400" kern="100" baseline="0" dirty="0">
                          <a:effectLst/>
                          <a:latin typeface="Times New Roman" panose="02020603050405020304" pitchFamily="18" charset="0"/>
                          <a:ea typeface="宋体" panose="02010600030101010101" pitchFamily="2" charset="-122"/>
                        </a:rPr>
                        <a:t>8</a:t>
                      </a:r>
                      <a:r>
                        <a:rPr lang="zh-CN" sz="1400" kern="100" baseline="0" dirty="0">
                          <a:effectLst/>
                          <a:latin typeface="Times New Roman" panose="02020603050405020304" pitchFamily="18" charset="0"/>
                          <a:ea typeface="宋体" panose="02010600030101010101" pitchFamily="2" charset="-122"/>
                        </a:rPr>
                        <a:t>位</a:t>
                      </a:r>
                      <a:r>
                        <a:rPr lang="en-US" sz="1400" kern="100" baseline="0" dirty="0">
                          <a:effectLst/>
                          <a:latin typeface="Times New Roman" panose="02020603050405020304" pitchFamily="18" charset="0"/>
                          <a:ea typeface="宋体" panose="02010600030101010101" pitchFamily="2" charset="-122"/>
                        </a:rPr>
                        <a:t>selector</a:t>
                      </a:r>
                      <a:r>
                        <a:rPr lang="zh-CN" sz="1400" kern="100" baseline="0" dirty="0">
                          <a:effectLst/>
                          <a:latin typeface="Times New Roman" panose="02020603050405020304" pitchFamily="18" charset="0"/>
                          <a:ea typeface="宋体" panose="02010600030101010101" pitchFamily="2" charset="-122"/>
                        </a:rPr>
                        <a:t>，标识</a:t>
                      </a:r>
                      <a:r>
                        <a:rPr lang="en-US" sz="1400" kern="100" baseline="0" dirty="0">
                          <a:effectLst/>
                          <a:latin typeface="Times New Roman" panose="02020603050405020304" pitchFamily="18" charset="0"/>
                          <a:ea typeface="宋体" panose="02010600030101010101" pitchFamily="2" charset="-122"/>
                        </a:rPr>
                        <a:t>IPv6</a:t>
                      </a:r>
                      <a:r>
                        <a:rPr lang="zh-CN" sz="1400" kern="100" baseline="0" dirty="0">
                          <a:effectLst/>
                          <a:latin typeface="Times New Roman" panose="02020603050405020304" pitchFamily="18" charset="0"/>
                          <a:ea typeface="宋体" panose="02010600030101010101" pitchFamily="2" charset="-122"/>
                        </a:rPr>
                        <a:t>首部之后的首部类型。使用与</a:t>
                      </a:r>
                      <a:r>
                        <a:rPr lang="en-US" sz="1400" kern="100" baseline="0" dirty="0">
                          <a:effectLst/>
                          <a:latin typeface="Times New Roman" panose="02020603050405020304" pitchFamily="18" charset="0"/>
                          <a:ea typeface="宋体" panose="02010600030101010101" pitchFamily="2" charset="-122"/>
                        </a:rPr>
                        <a:t>IPv4</a:t>
                      </a:r>
                      <a:r>
                        <a:rPr lang="zh-CN" sz="1400" kern="100" baseline="0" dirty="0">
                          <a:effectLst/>
                          <a:latin typeface="Times New Roman" panose="02020603050405020304" pitchFamily="18" charset="0"/>
                          <a:ea typeface="宋体" panose="02010600030101010101" pitchFamily="2" charset="-122"/>
                        </a:rPr>
                        <a:t>协议字段相同的值</a:t>
                      </a:r>
                      <a:r>
                        <a:rPr lang="en-US" sz="1400" kern="100" baseline="0" dirty="0">
                          <a:effectLst/>
                          <a:latin typeface="Times New Roman" panose="02020603050405020304" pitchFamily="18" charset="0"/>
                          <a:ea typeface="宋体" panose="02010600030101010101" pitchFamily="2" charset="-122"/>
                        </a:rPr>
                        <a:t>[RFC-1700et seq.]</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18439997"/>
                  </a:ext>
                </a:extLst>
              </a:tr>
              <a:tr h="0">
                <a:tc>
                  <a:txBody>
                    <a:bodyPr/>
                    <a:lstStyle/>
                    <a:p>
                      <a:pPr algn="l">
                        <a:spcAft>
                          <a:spcPts val="0"/>
                        </a:spcAft>
                      </a:pPr>
                      <a:r>
                        <a:rPr lang="zh-CN" sz="1400" kern="100" baseline="0">
                          <a:effectLst/>
                          <a:latin typeface="Times New Roman" panose="02020603050405020304" pitchFamily="18" charset="0"/>
                          <a:ea typeface="宋体" panose="02010600030101010101" pitchFamily="2" charset="-122"/>
                        </a:rPr>
                        <a:t>跳数限制</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spcBef>
                          <a:spcPts val="0"/>
                        </a:spcBef>
                        <a:spcAft>
                          <a:spcPts val="600"/>
                        </a:spcAft>
                      </a:pPr>
                      <a:r>
                        <a:rPr lang="en-US" sz="1400" kern="100" baseline="0" dirty="0">
                          <a:effectLst/>
                          <a:latin typeface="Times New Roman" panose="02020603050405020304" pitchFamily="18" charset="0"/>
                          <a:ea typeface="宋体" panose="02010600030101010101" pitchFamily="2" charset="-122"/>
                        </a:rPr>
                        <a:t>8</a:t>
                      </a:r>
                      <a:r>
                        <a:rPr lang="zh-CN" sz="1400" kern="100" baseline="0" dirty="0">
                          <a:effectLst/>
                          <a:latin typeface="Times New Roman" panose="02020603050405020304" pitchFamily="18" charset="0"/>
                          <a:ea typeface="宋体" panose="02010600030101010101" pitchFamily="2" charset="-122"/>
                        </a:rPr>
                        <a:t>位无符号整数，每当一个节点转发了数据，跳数限制就减</a:t>
                      </a:r>
                      <a:r>
                        <a:rPr lang="en-US" sz="1400" kern="100" baseline="0" dirty="0">
                          <a:effectLst/>
                          <a:latin typeface="Times New Roman" panose="02020603050405020304" pitchFamily="18" charset="0"/>
                          <a:ea typeface="宋体" panose="02010600030101010101" pitchFamily="2" charset="-122"/>
                        </a:rPr>
                        <a:t>1</a:t>
                      </a:r>
                      <a:r>
                        <a:rPr lang="zh-CN" sz="1400" kern="100" baseline="0" dirty="0">
                          <a:effectLst/>
                          <a:latin typeface="Times New Roman" panose="02020603050405020304" pitchFamily="18" charset="0"/>
                          <a:ea typeface="宋体" panose="02010600030101010101" pitchFamily="2" charset="-122"/>
                        </a:rPr>
                        <a:t>，如果减到了</a:t>
                      </a:r>
                      <a:r>
                        <a:rPr lang="en-US" sz="1400" kern="100" baseline="0" dirty="0">
                          <a:effectLst/>
                          <a:latin typeface="Times New Roman" panose="02020603050405020304" pitchFamily="18" charset="0"/>
                          <a:ea typeface="宋体" panose="02010600030101010101" pitchFamily="2" charset="-122"/>
                        </a:rPr>
                        <a:t>0</a:t>
                      </a:r>
                      <a:r>
                        <a:rPr lang="zh-CN" sz="1400" kern="100" baseline="0" dirty="0">
                          <a:effectLst/>
                          <a:latin typeface="Times New Roman" panose="02020603050405020304" pitchFamily="18" charset="0"/>
                          <a:ea typeface="宋体" panose="02010600030101010101" pitchFamily="2" charset="-122"/>
                        </a:rPr>
                        <a:t>，就丢弃该包</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25445741"/>
                  </a:ext>
                </a:extLst>
              </a:tr>
              <a:tr h="0">
                <a:tc>
                  <a:txBody>
                    <a:bodyPr/>
                    <a:lstStyle/>
                    <a:p>
                      <a:pPr algn="l">
                        <a:spcAft>
                          <a:spcPts val="0"/>
                        </a:spcAft>
                      </a:pPr>
                      <a:r>
                        <a:rPr lang="zh-CN" sz="1400" kern="100" baseline="0">
                          <a:effectLst/>
                          <a:latin typeface="Times New Roman" panose="02020603050405020304" pitchFamily="18" charset="0"/>
                          <a:ea typeface="宋体" panose="02010600030101010101" pitchFamily="2" charset="-122"/>
                        </a:rPr>
                        <a:t>源</a:t>
                      </a:r>
                      <a:r>
                        <a:rPr lang="en-US" sz="1400" kern="100" baseline="0">
                          <a:effectLst/>
                          <a:latin typeface="Times New Roman" panose="02020603050405020304" pitchFamily="18" charset="0"/>
                          <a:ea typeface="宋体" panose="02010600030101010101" pitchFamily="2" charset="-122"/>
                        </a:rPr>
                        <a:t>IP</a:t>
                      </a:r>
                      <a:r>
                        <a:rPr lang="zh-CN" sz="1400" kern="100" baseline="0">
                          <a:effectLst/>
                          <a:latin typeface="Times New Roman" panose="02020603050405020304" pitchFamily="18" charset="0"/>
                          <a:ea typeface="宋体" panose="02010600030101010101" pitchFamily="2" charset="-122"/>
                        </a:rPr>
                        <a:t>地址</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spcBef>
                          <a:spcPts val="0"/>
                        </a:spcBef>
                        <a:spcAft>
                          <a:spcPts val="600"/>
                        </a:spcAft>
                      </a:pPr>
                      <a:r>
                        <a:rPr lang="en-US" sz="1400" kern="100" baseline="0" dirty="0">
                          <a:effectLst/>
                          <a:latin typeface="Times New Roman" panose="02020603050405020304" pitchFamily="18" charset="0"/>
                          <a:ea typeface="宋体" panose="02010600030101010101" pitchFamily="2" charset="-122"/>
                        </a:rPr>
                        <a:t>128</a:t>
                      </a:r>
                      <a:r>
                        <a:rPr lang="zh-CN" sz="1400" kern="100" baseline="0" dirty="0">
                          <a:effectLst/>
                          <a:latin typeface="Times New Roman" panose="02020603050405020304" pitchFamily="18" charset="0"/>
                          <a:ea typeface="宋体" panose="02010600030101010101" pitchFamily="2" charset="-122"/>
                        </a:rPr>
                        <a:t>位，该包的发送方的</a:t>
                      </a:r>
                      <a:r>
                        <a:rPr lang="en-US" sz="1400" kern="100" baseline="0" dirty="0">
                          <a:effectLst/>
                          <a:latin typeface="Times New Roman" panose="02020603050405020304" pitchFamily="18" charset="0"/>
                          <a:ea typeface="宋体" panose="02010600030101010101" pitchFamily="2" charset="-122"/>
                        </a:rPr>
                        <a:t>IP</a:t>
                      </a:r>
                      <a:r>
                        <a:rPr lang="zh-CN" sz="1400" kern="100" baseline="0" dirty="0">
                          <a:effectLst/>
                          <a:latin typeface="Times New Roman" panose="02020603050405020304" pitchFamily="18" charset="0"/>
                          <a:ea typeface="宋体" panose="02010600030101010101" pitchFamily="2" charset="-122"/>
                        </a:rPr>
                        <a:t>地址</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02042950"/>
                  </a:ext>
                </a:extLst>
              </a:tr>
              <a:tr h="0">
                <a:tc>
                  <a:txBody>
                    <a:bodyPr/>
                    <a:lstStyle/>
                    <a:p>
                      <a:pPr algn="l">
                        <a:spcAft>
                          <a:spcPts val="0"/>
                        </a:spcAft>
                      </a:pPr>
                      <a:r>
                        <a:rPr lang="zh-CN" sz="1400" kern="100" baseline="0" dirty="0" smtClean="0">
                          <a:effectLst/>
                          <a:latin typeface="Times New Roman" panose="02020603050405020304" pitchFamily="18" charset="0"/>
                          <a:ea typeface="宋体" panose="02010600030101010101" pitchFamily="2" charset="-122"/>
                        </a:rPr>
                        <a:t>目</a:t>
                      </a:r>
                      <a:r>
                        <a:rPr lang="zh-CN" altLang="en-US" sz="1400" kern="100" baseline="0" dirty="0" smtClean="0">
                          <a:effectLst/>
                          <a:latin typeface="Times New Roman" panose="02020603050405020304" pitchFamily="18" charset="0"/>
                          <a:ea typeface="宋体" panose="02010600030101010101" pitchFamily="2" charset="-122"/>
                        </a:rPr>
                        <a:t>的</a:t>
                      </a:r>
                      <a:r>
                        <a:rPr lang="en-US" sz="1400" kern="100" baseline="0" dirty="0" smtClean="0">
                          <a:effectLst/>
                          <a:latin typeface="Times New Roman" panose="02020603050405020304" pitchFamily="18" charset="0"/>
                          <a:ea typeface="宋体" panose="02010600030101010101" pitchFamily="2" charset="-122"/>
                        </a:rPr>
                        <a:t>IP</a:t>
                      </a:r>
                      <a:r>
                        <a:rPr lang="zh-CN" sz="1400" kern="100" baseline="0" dirty="0">
                          <a:effectLst/>
                          <a:latin typeface="Times New Roman" panose="02020603050405020304" pitchFamily="18" charset="0"/>
                          <a:ea typeface="宋体" panose="02010600030101010101" pitchFamily="2" charset="-122"/>
                        </a:rPr>
                        <a:t>地址</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l">
                        <a:spcBef>
                          <a:spcPts val="0"/>
                        </a:spcBef>
                        <a:spcAft>
                          <a:spcPts val="600"/>
                        </a:spcAft>
                      </a:pPr>
                      <a:r>
                        <a:rPr lang="en-US" sz="1400" kern="100" baseline="0" dirty="0">
                          <a:effectLst/>
                          <a:latin typeface="Times New Roman" panose="02020603050405020304" pitchFamily="18" charset="0"/>
                          <a:ea typeface="宋体" panose="02010600030101010101" pitchFamily="2" charset="-122"/>
                        </a:rPr>
                        <a:t>128</a:t>
                      </a:r>
                      <a:r>
                        <a:rPr lang="zh-CN" sz="1400" kern="100" baseline="0" dirty="0">
                          <a:effectLst/>
                          <a:latin typeface="Times New Roman" panose="02020603050405020304" pitchFamily="18" charset="0"/>
                          <a:ea typeface="宋体" panose="02010600030101010101" pitchFamily="2" charset="-122"/>
                        </a:rPr>
                        <a:t>位，该包的预期接收方的</a:t>
                      </a:r>
                      <a:r>
                        <a:rPr lang="en-US" sz="1400" kern="100" baseline="0" dirty="0">
                          <a:effectLst/>
                          <a:latin typeface="Times New Roman" panose="02020603050405020304" pitchFamily="18" charset="0"/>
                          <a:ea typeface="宋体" panose="02010600030101010101" pitchFamily="2" charset="-122"/>
                        </a:rPr>
                        <a:t>IP</a:t>
                      </a:r>
                      <a:r>
                        <a:rPr lang="zh-CN" sz="1400" kern="100" baseline="0" dirty="0">
                          <a:effectLst/>
                          <a:latin typeface="Times New Roman" panose="02020603050405020304" pitchFamily="18" charset="0"/>
                          <a:ea typeface="宋体" panose="02010600030101010101" pitchFamily="2" charset="-122"/>
                        </a:rPr>
                        <a:t>地址（如果存在路由首部，可能不是最终的接收者）</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90921059"/>
                  </a:ext>
                </a:extLst>
              </a:tr>
            </a:tbl>
          </a:graphicData>
        </a:graphic>
      </p:graphicFrame>
    </p:spTree>
    <p:extLst>
      <p:ext uri="{BB962C8B-B14F-4D97-AF65-F5344CB8AC3E}">
        <p14:creationId xmlns:p14="http://schemas.microsoft.com/office/powerpoint/2010/main" val="13616343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p:txBody>
          <a:bodyPr>
            <a:normAutofit/>
          </a:bodyPr>
          <a:lstStyle/>
          <a:p>
            <a:r>
              <a:rPr lang="en-US" altLang="zh-CN" sz="2000" b="1" dirty="0" smtClean="0"/>
              <a:t>IPv6</a:t>
            </a:r>
            <a:r>
              <a:rPr lang="zh-CN" altLang="en-US" sz="2000" b="1" dirty="0" smtClean="0"/>
              <a:t>扩展首部</a:t>
            </a:r>
            <a:endParaRPr lang="en-US" altLang="zh-CN" sz="2000" b="1" dirty="0" smtClean="0"/>
          </a:p>
          <a:p>
            <a:r>
              <a:rPr lang="en-US" altLang="zh-CN" sz="2000" dirty="0" smtClean="0"/>
              <a:t>IPv6</a:t>
            </a:r>
            <a:r>
              <a:rPr lang="zh-CN" altLang="en-US" sz="2000" dirty="0" smtClean="0"/>
              <a:t>中的其他信息以扩展首部的形式，置于</a:t>
            </a:r>
            <a:r>
              <a:rPr lang="en-US" altLang="zh-CN" sz="2000" dirty="0" smtClean="0"/>
              <a:t>IPv6</a:t>
            </a:r>
            <a:r>
              <a:rPr lang="zh-CN" altLang="en-US" sz="2000" dirty="0" smtClean="0"/>
              <a:t>首部和上层首部之间</a:t>
            </a:r>
            <a:endParaRPr lang="en-US" altLang="zh-CN" sz="2000" dirty="0" smtClean="0"/>
          </a:p>
          <a:p>
            <a:r>
              <a:rPr lang="zh-CN" altLang="en-US" sz="2000" dirty="0" smtClean="0"/>
              <a:t>除逐跳选项首部外，扩展首部不被路径中的任何节点检测或处理</a:t>
            </a:r>
          </a:p>
          <a:p>
            <a:endParaRPr lang="en-US" altLang="zh-CN" sz="2000" dirty="0" smtClean="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3183077" y="3130831"/>
            <a:ext cx="5759450" cy="1336040"/>
          </a:xfrm>
          <a:prstGeom prst="rect">
            <a:avLst/>
          </a:prstGeom>
          <a:noFill/>
        </p:spPr>
      </p:pic>
    </p:spTree>
    <p:extLst>
      <p:ext uri="{BB962C8B-B14F-4D97-AF65-F5344CB8AC3E}">
        <p14:creationId xmlns:p14="http://schemas.microsoft.com/office/powerpoint/2010/main" val="10240799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a:t>当在同一个包中使用多个扩展首部时，建议首部按以下顺序出现</a:t>
            </a:r>
            <a:r>
              <a:rPr lang="zh-CN" altLang="en-US" sz="2000" dirty="0" smtClean="0"/>
              <a:t>：</a:t>
            </a:r>
            <a:endParaRPr lang="en-US" altLang="zh-CN" sz="2000" dirty="0" smtClean="0"/>
          </a:p>
          <a:p>
            <a:endParaRPr lang="en-US" altLang="zh-CN" sz="2000" dirty="0"/>
          </a:p>
          <a:p>
            <a:endParaRPr lang="en-US" altLang="zh-CN" sz="2000" dirty="0" smtClean="0"/>
          </a:p>
          <a:p>
            <a:endParaRPr lang="en-US" altLang="zh-CN" sz="2000" dirty="0"/>
          </a:p>
          <a:p>
            <a:endParaRPr lang="en-US" altLang="zh-CN" sz="2000" dirty="0" smtClean="0"/>
          </a:p>
          <a:p>
            <a:endParaRPr lang="en-US" altLang="zh-CN" sz="2000" dirty="0"/>
          </a:p>
          <a:p>
            <a:endParaRPr lang="en-US" altLang="zh-CN" sz="2000" dirty="0" smtClean="0"/>
          </a:p>
          <a:p>
            <a:pPr marL="457200" lvl="1" indent="0">
              <a:buNone/>
            </a:pPr>
            <a:endParaRPr lang="en-US" altLang="zh-CN" sz="1600" dirty="0" smtClean="0"/>
          </a:p>
          <a:p>
            <a:pPr marL="457200" lvl="1" indent="0">
              <a:buNone/>
            </a:pPr>
            <a:endParaRPr lang="en-US" altLang="zh-CN" sz="1600" dirty="0" smtClean="0"/>
          </a:p>
          <a:p>
            <a:pPr marL="457200" lvl="1" indent="0">
              <a:buNone/>
            </a:pPr>
            <a:r>
              <a:rPr lang="zh-CN" altLang="en-US" sz="1600" dirty="0" smtClean="0"/>
              <a:t>注</a:t>
            </a:r>
            <a:r>
              <a:rPr lang="en-US" altLang="zh-CN" sz="1600" dirty="0"/>
              <a:t>1</a:t>
            </a:r>
            <a:r>
              <a:rPr lang="zh-CN" altLang="en-US" sz="1600" dirty="0"/>
              <a:t>：如果有逐跳选项，它必须紧跟在</a:t>
            </a:r>
            <a:r>
              <a:rPr lang="en-US" altLang="zh-CN" sz="1600" dirty="0"/>
              <a:t>IPv6</a:t>
            </a:r>
            <a:r>
              <a:rPr lang="zh-CN" altLang="en-US" sz="1600" dirty="0"/>
              <a:t>首部后；</a:t>
            </a:r>
          </a:p>
          <a:p>
            <a:pPr marL="457200" lvl="1" indent="0">
              <a:buNone/>
            </a:pPr>
            <a:r>
              <a:rPr lang="zh-CN" altLang="en-US" sz="1600" dirty="0"/>
              <a:t>注</a:t>
            </a:r>
            <a:r>
              <a:rPr lang="en-US" altLang="zh-CN" sz="1600" dirty="0"/>
              <a:t>2</a:t>
            </a:r>
            <a:r>
              <a:rPr lang="zh-CN" altLang="en-US" sz="1600" dirty="0"/>
              <a:t>：由在</a:t>
            </a:r>
            <a:r>
              <a:rPr lang="en-US" altLang="zh-CN" sz="1600" dirty="0"/>
              <a:t>IPv6</a:t>
            </a:r>
            <a:r>
              <a:rPr lang="zh-CN" altLang="en-US" sz="1600" dirty="0"/>
              <a:t>的目的地址字段和后面的路由首部列表中出现的第一个目的地址处理；</a:t>
            </a:r>
          </a:p>
          <a:p>
            <a:pPr marL="457200" lvl="1" indent="0">
              <a:buNone/>
            </a:pPr>
            <a:r>
              <a:rPr lang="zh-CN" altLang="en-US" sz="1600" dirty="0" smtClean="0"/>
              <a:t>注</a:t>
            </a:r>
            <a:r>
              <a:rPr lang="en-US" altLang="zh-CN" sz="1600" dirty="0" smtClean="0"/>
              <a:t>3</a:t>
            </a:r>
            <a:r>
              <a:rPr lang="zh-CN" altLang="en-US" sz="1600" dirty="0" smtClean="0"/>
              <a:t>：</a:t>
            </a:r>
            <a:r>
              <a:rPr lang="zh-CN" altLang="en-US" sz="1600" dirty="0"/>
              <a:t>只由包的最终目的地址处理。</a:t>
            </a:r>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graphicFrame>
        <p:nvGraphicFramePr>
          <p:cNvPr id="5" name="Table 4"/>
          <p:cNvGraphicFramePr>
            <a:graphicFrameLocks noGrp="1"/>
          </p:cNvGraphicFramePr>
          <p:nvPr>
            <p:extLst>
              <p:ext uri="{D42A27DB-BD31-4B8C-83A1-F6EECF244321}">
                <p14:modId xmlns:p14="http://schemas.microsoft.com/office/powerpoint/2010/main" val="3075163425"/>
              </p:ext>
            </p:extLst>
          </p:nvPr>
        </p:nvGraphicFramePr>
        <p:xfrm>
          <a:off x="3928532" y="2157071"/>
          <a:ext cx="4268539" cy="2987040"/>
        </p:xfrm>
        <a:graphic>
          <a:graphicData uri="http://schemas.openxmlformats.org/drawingml/2006/table">
            <a:tbl>
              <a:tblPr firstRow="1" firstCol="1" bandRow="1">
                <a:tableStyleId>{5C22544A-7EE6-4342-B048-85BDC9FD1C3A}</a:tableStyleId>
              </a:tblPr>
              <a:tblGrid>
                <a:gridCol w="2502472">
                  <a:extLst>
                    <a:ext uri="{9D8B030D-6E8A-4147-A177-3AD203B41FA5}">
                      <a16:colId xmlns:a16="http://schemas.microsoft.com/office/drawing/2014/main" val="177207398"/>
                    </a:ext>
                  </a:extLst>
                </a:gridCol>
                <a:gridCol w="1115771">
                  <a:extLst>
                    <a:ext uri="{9D8B030D-6E8A-4147-A177-3AD203B41FA5}">
                      <a16:colId xmlns:a16="http://schemas.microsoft.com/office/drawing/2014/main" val="1887171803"/>
                    </a:ext>
                  </a:extLst>
                </a:gridCol>
                <a:gridCol w="650296">
                  <a:extLst>
                    <a:ext uri="{9D8B030D-6E8A-4147-A177-3AD203B41FA5}">
                      <a16:colId xmlns:a16="http://schemas.microsoft.com/office/drawing/2014/main" val="2605459900"/>
                    </a:ext>
                  </a:extLst>
                </a:gridCol>
              </a:tblGrid>
              <a:tr h="0">
                <a:tc>
                  <a:txBody>
                    <a:bodyPr/>
                    <a:lstStyle/>
                    <a:p>
                      <a:pPr algn="ctr">
                        <a:spcAft>
                          <a:spcPts val="0"/>
                        </a:spcAft>
                      </a:pPr>
                      <a:r>
                        <a:rPr lang="zh-CN" sz="1400" kern="100" baseline="0">
                          <a:effectLst/>
                          <a:latin typeface="Times New Roman" panose="02020603050405020304" pitchFamily="18" charset="0"/>
                          <a:ea typeface="宋体" panose="02010600030101010101" pitchFamily="2" charset="-122"/>
                        </a:rPr>
                        <a:t>首部类型</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baseline="0" dirty="0">
                          <a:effectLst/>
                          <a:latin typeface="Times New Roman" panose="02020603050405020304" pitchFamily="18" charset="0"/>
                          <a:ea typeface="宋体" panose="02010600030101010101" pitchFamily="2" charset="-122"/>
                        </a:rPr>
                        <a:t>顺序</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baseline="0">
                          <a:effectLst/>
                          <a:latin typeface="Times New Roman" panose="02020603050405020304" pitchFamily="18" charset="0"/>
                          <a:ea typeface="宋体" panose="02010600030101010101" pitchFamily="2" charset="-122"/>
                        </a:rPr>
                        <a:t>值</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660194975"/>
                  </a:ext>
                </a:extLst>
              </a:tr>
              <a:tr h="0">
                <a:tc>
                  <a:txBody>
                    <a:bodyPr/>
                    <a:lstStyle/>
                    <a:p>
                      <a:pPr algn="l">
                        <a:spcAft>
                          <a:spcPts val="0"/>
                        </a:spcAft>
                      </a:pPr>
                      <a:r>
                        <a:rPr lang="en-US" sz="1400" kern="100" baseline="0" dirty="0">
                          <a:effectLst/>
                          <a:latin typeface="Times New Roman" panose="02020603050405020304" pitchFamily="18" charset="0"/>
                          <a:ea typeface="宋体" panose="02010600030101010101" pitchFamily="2" charset="-122"/>
                        </a:rPr>
                        <a:t>IPv6</a:t>
                      </a:r>
                      <a:r>
                        <a:rPr lang="zh-CN" sz="1400" kern="100" baseline="0" dirty="0">
                          <a:effectLst/>
                          <a:latin typeface="Times New Roman" panose="02020603050405020304" pitchFamily="18" charset="0"/>
                          <a:ea typeface="宋体" panose="02010600030101010101" pitchFamily="2" charset="-122"/>
                        </a:rPr>
                        <a:t>首部</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1</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a:effectLst/>
                          <a:latin typeface="Times New Roman" panose="02020603050405020304" pitchFamily="18" charset="0"/>
                          <a:ea typeface="宋体" panose="02010600030101010101" pitchFamily="2" charset="-122"/>
                        </a:rPr>
                        <a:t>41</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2759784"/>
                  </a:ext>
                </a:extLst>
              </a:tr>
              <a:tr h="0">
                <a:tc>
                  <a:txBody>
                    <a:bodyPr/>
                    <a:lstStyle/>
                    <a:p>
                      <a:pPr algn="l">
                        <a:spcAft>
                          <a:spcPts val="0"/>
                        </a:spcAft>
                      </a:pPr>
                      <a:r>
                        <a:rPr lang="zh-CN" sz="1400" kern="100" baseline="0">
                          <a:effectLst/>
                          <a:latin typeface="Times New Roman" panose="02020603050405020304" pitchFamily="18" charset="0"/>
                          <a:ea typeface="宋体" panose="02010600030101010101" pitchFamily="2" charset="-122"/>
                        </a:rPr>
                        <a:t>逐跳选项首部（注</a:t>
                      </a:r>
                      <a:r>
                        <a:rPr lang="en-US" sz="1400" kern="100" baseline="0">
                          <a:effectLst/>
                          <a:latin typeface="Times New Roman" panose="02020603050405020304" pitchFamily="18" charset="0"/>
                          <a:ea typeface="宋体" panose="02010600030101010101" pitchFamily="2" charset="-122"/>
                        </a:rPr>
                        <a:t>1</a:t>
                      </a:r>
                      <a:r>
                        <a:rPr lang="zh-CN" sz="1400" kern="100" baseline="0">
                          <a:effectLst/>
                          <a:latin typeface="Times New Roman" panose="02020603050405020304" pitchFamily="18" charset="0"/>
                          <a:ea typeface="宋体" panose="02010600030101010101" pitchFamily="2" charset="-122"/>
                        </a:rPr>
                        <a:t>）</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2</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0</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15768091"/>
                  </a:ext>
                </a:extLst>
              </a:tr>
              <a:tr h="0">
                <a:tc>
                  <a:txBody>
                    <a:bodyPr/>
                    <a:lstStyle/>
                    <a:p>
                      <a:pPr algn="l">
                        <a:spcAft>
                          <a:spcPts val="0"/>
                        </a:spcAft>
                      </a:pPr>
                      <a:r>
                        <a:rPr lang="zh-CN" sz="1400" kern="100" baseline="0">
                          <a:effectLst/>
                          <a:latin typeface="Times New Roman" panose="02020603050405020304" pitchFamily="18" charset="0"/>
                          <a:ea typeface="宋体" panose="02010600030101010101" pitchFamily="2" charset="-122"/>
                        </a:rPr>
                        <a:t>目的地选项首部（注</a:t>
                      </a:r>
                      <a:r>
                        <a:rPr lang="en-US" sz="1400" kern="100" baseline="0">
                          <a:effectLst/>
                          <a:latin typeface="Times New Roman" panose="02020603050405020304" pitchFamily="18" charset="0"/>
                          <a:ea typeface="宋体" panose="02010600030101010101" pitchFamily="2" charset="-122"/>
                        </a:rPr>
                        <a:t>2</a:t>
                      </a:r>
                      <a:r>
                        <a:rPr lang="zh-CN" sz="1400" kern="100" baseline="0">
                          <a:effectLst/>
                          <a:latin typeface="Times New Roman" panose="02020603050405020304" pitchFamily="18" charset="0"/>
                          <a:ea typeface="宋体" panose="02010600030101010101" pitchFamily="2" charset="-122"/>
                        </a:rPr>
                        <a:t>）</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a:effectLst/>
                          <a:latin typeface="Times New Roman" panose="02020603050405020304" pitchFamily="18" charset="0"/>
                          <a:ea typeface="宋体" panose="02010600030101010101" pitchFamily="2" charset="-122"/>
                        </a:rPr>
                        <a:t>3</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60</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47283077"/>
                  </a:ext>
                </a:extLst>
              </a:tr>
              <a:tr h="0">
                <a:tc>
                  <a:txBody>
                    <a:bodyPr/>
                    <a:lstStyle/>
                    <a:p>
                      <a:pPr algn="l">
                        <a:spcAft>
                          <a:spcPts val="0"/>
                        </a:spcAft>
                      </a:pPr>
                      <a:r>
                        <a:rPr lang="zh-CN" sz="1400" kern="100" baseline="0">
                          <a:effectLst/>
                          <a:latin typeface="Times New Roman" panose="02020603050405020304" pitchFamily="18" charset="0"/>
                          <a:ea typeface="宋体" panose="02010600030101010101" pitchFamily="2" charset="-122"/>
                        </a:rPr>
                        <a:t>路由首部</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a:effectLst/>
                          <a:latin typeface="Times New Roman" panose="02020603050405020304" pitchFamily="18" charset="0"/>
                          <a:ea typeface="宋体" panose="02010600030101010101" pitchFamily="2" charset="-122"/>
                        </a:rPr>
                        <a:t>4</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43</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10981836"/>
                  </a:ext>
                </a:extLst>
              </a:tr>
              <a:tr h="0">
                <a:tc>
                  <a:txBody>
                    <a:bodyPr/>
                    <a:lstStyle/>
                    <a:p>
                      <a:pPr algn="l">
                        <a:spcAft>
                          <a:spcPts val="0"/>
                        </a:spcAft>
                      </a:pPr>
                      <a:r>
                        <a:rPr lang="zh-CN" sz="1400" kern="100" baseline="0">
                          <a:effectLst/>
                          <a:latin typeface="Times New Roman" panose="02020603050405020304" pitchFamily="18" charset="0"/>
                          <a:ea typeface="宋体" panose="02010600030101010101" pitchFamily="2" charset="-122"/>
                        </a:rPr>
                        <a:t>分片首部</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a:effectLst/>
                          <a:latin typeface="Times New Roman" panose="02020603050405020304" pitchFamily="18" charset="0"/>
                          <a:ea typeface="宋体" panose="02010600030101010101" pitchFamily="2" charset="-122"/>
                        </a:rPr>
                        <a:t>5</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44</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25161979"/>
                  </a:ext>
                </a:extLst>
              </a:tr>
              <a:tr h="0">
                <a:tc>
                  <a:txBody>
                    <a:bodyPr/>
                    <a:lstStyle/>
                    <a:p>
                      <a:pPr algn="l">
                        <a:spcAft>
                          <a:spcPts val="0"/>
                        </a:spcAft>
                      </a:pPr>
                      <a:r>
                        <a:rPr lang="zh-CN" sz="1400" kern="100" baseline="0" dirty="0">
                          <a:effectLst/>
                          <a:latin typeface="Times New Roman" panose="02020603050405020304" pitchFamily="18" charset="0"/>
                          <a:ea typeface="宋体" panose="02010600030101010101" pitchFamily="2" charset="-122"/>
                        </a:rPr>
                        <a:t>认证首</a:t>
                      </a:r>
                      <a:r>
                        <a:rPr lang="zh-CN" sz="1400" kern="100" baseline="0" dirty="0" smtClean="0">
                          <a:effectLst/>
                          <a:latin typeface="Times New Roman" panose="02020603050405020304" pitchFamily="18" charset="0"/>
                          <a:ea typeface="宋体" panose="02010600030101010101" pitchFamily="2" charset="-122"/>
                        </a:rPr>
                        <a:t>部</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a:effectLst/>
                          <a:latin typeface="Times New Roman" panose="02020603050405020304" pitchFamily="18" charset="0"/>
                          <a:ea typeface="宋体" panose="02010600030101010101" pitchFamily="2" charset="-122"/>
                        </a:rPr>
                        <a:t>6</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50</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37404069"/>
                  </a:ext>
                </a:extLst>
              </a:tr>
              <a:tr h="0">
                <a:tc>
                  <a:txBody>
                    <a:bodyPr/>
                    <a:lstStyle/>
                    <a:p>
                      <a:pPr algn="l">
                        <a:spcAft>
                          <a:spcPts val="0"/>
                        </a:spcAft>
                      </a:pPr>
                      <a:r>
                        <a:rPr lang="zh-CN" sz="1400" kern="100" baseline="0" dirty="0">
                          <a:effectLst/>
                          <a:latin typeface="Times New Roman" panose="02020603050405020304" pitchFamily="18" charset="0"/>
                          <a:ea typeface="宋体" panose="02010600030101010101" pitchFamily="2" charset="-122"/>
                        </a:rPr>
                        <a:t>封装安全</a:t>
                      </a:r>
                      <a:r>
                        <a:rPr lang="en-US" sz="1400" kern="100" baseline="0" dirty="0">
                          <a:effectLst/>
                          <a:latin typeface="Times New Roman" panose="02020603050405020304" pitchFamily="18" charset="0"/>
                          <a:ea typeface="宋体" panose="02010600030101010101" pitchFamily="2" charset="-122"/>
                        </a:rPr>
                        <a:t>payload</a:t>
                      </a:r>
                      <a:r>
                        <a:rPr lang="zh-CN" sz="1400" kern="100" baseline="0" dirty="0">
                          <a:effectLst/>
                          <a:latin typeface="Times New Roman" panose="02020603050405020304" pitchFamily="18" charset="0"/>
                          <a:ea typeface="宋体" panose="02010600030101010101" pitchFamily="2" charset="-122"/>
                        </a:rPr>
                        <a:t>首</a:t>
                      </a:r>
                      <a:r>
                        <a:rPr lang="zh-CN" sz="1400" kern="100" baseline="0" dirty="0" smtClean="0">
                          <a:effectLst/>
                          <a:latin typeface="Times New Roman" panose="02020603050405020304" pitchFamily="18" charset="0"/>
                          <a:ea typeface="宋体" panose="02010600030101010101" pitchFamily="2" charset="-122"/>
                        </a:rPr>
                        <a:t>部</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a:effectLst/>
                          <a:latin typeface="Times New Roman" panose="02020603050405020304" pitchFamily="18" charset="0"/>
                          <a:ea typeface="宋体" panose="02010600030101010101" pitchFamily="2" charset="-122"/>
                        </a:rPr>
                        <a:t>7</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51</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32235619"/>
                  </a:ext>
                </a:extLst>
              </a:tr>
              <a:tr h="0">
                <a:tc>
                  <a:txBody>
                    <a:bodyPr/>
                    <a:lstStyle/>
                    <a:p>
                      <a:pPr algn="l">
                        <a:spcAft>
                          <a:spcPts val="0"/>
                        </a:spcAft>
                      </a:pPr>
                      <a:r>
                        <a:rPr lang="zh-CN" sz="1400" kern="100" baseline="0" dirty="0">
                          <a:effectLst/>
                          <a:latin typeface="Times New Roman" panose="02020603050405020304" pitchFamily="18" charset="0"/>
                          <a:ea typeface="宋体" panose="02010600030101010101" pitchFamily="2" charset="-122"/>
                        </a:rPr>
                        <a:t>目的地选项首部（</a:t>
                      </a:r>
                      <a:r>
                        <a:rPr lang="zh-CN" sz="1400" kern="100" baseline="0" dirty="0" smtClean="0">
                          <a:effectLst/>
                          <a:latin typeface="Times New Roman" panose="02020603050405020304" pitchFamily="18" charset="0"/>
                          <a:ea typeface="宋体" panose="02010600030101010101" pitchFamily="2" charset="-122"/>
                        </a:rPr>
                        <a:t>注</a:t>
                      </a:r>
                      <a:r>
                        <a:rPr lang="en-US" altLang="zh-CN" sz="1400" kern="100" baseline="0" dirty="0" smtClean="0">
                          <a:effectLst/>
                          <a:latin typeface="Times New Roman" panose="02020603050405020304" pitchFamily="18" charset="0"/>
                          <a:ea typeface="宋体" panose="02010600030101010101" pitchFamily="2" charset="-122"/>
                        </a:rPr>
                        <a:t>3</a:t>
                      </a:r>
                      <a:r>
                        <a:rPr lang="zh-CN" sz="1400" kern="100" baseline="0" dirty="0" smtClean="0">
                          <a:effectLst/>
                          <a:latin typeface="Times New Roman" panose="02020603050405020304" pitchFamily="18" charset="0"/>
                          <a:ea typeface="宋体" panose="02010600030101010101" pitchFamily="2" charset="-122"/>
                        </a:rPr>
                        <a:t>）</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a:effectLst/>
                          <a:latin typeface="Times New Roman" panose="02020603050405020304" pitchFamily="18" charset="0"/>
                          <a:ea typeface="宋体" panose="02010600030101010101" pitchFamily="2" charset="-122"/>
                        </a:rPr>
                        <a:t>8</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60</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73210160"/>
                  </a:ext>
                </a:extLst>
              </a:tr>
              <a:tr h="0">
                <a:tc>
                  <a:txBody>
                    <a:bodyPr/>
                    <a:lstStyle/>
                    <a:p>
                      <a:pPr algn="l">
                        <a:spcAft>
                          <a:spcPts val="0"/>
                        </a:spcAft>
                      </a:pPr>
                      <a:r>
                        <a:rPr lang="zh-CN" sz="1400" kern="100" baseline="0" dirty="0">
                          <a:effectLst/>
                          <a:latin typeface="Times New Roman" panose="02020603050405020304" pitchFamily="18" charset="0"/>
                          <a:ea typeface="宋体" panose="02010600030101010101" pitchFamily="2" charset="-122"/>
                        </a:rPr>
                        <a:t>无下一个首部</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baseline="0">
                          <a:effectLst/>
                          <a:latin typeface="Times New Roman" panose="02020603050405020304" pitchFamily="18" charset="0"/>
                          <a:ea typeface="宋体" panose="02010600030101010101" pitchFamily="2" charset="-122"/>
                        </a:rPr>
                        <a:t>最后</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59</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35022565"/>
                  </a:ext>
                </a:extLst>
              </a:tr>
              <a:tr h="0">
                <a:tc>
                  <a:txBody>
                    <a:bodyPr/>
                    <a:lstStyle/>
                    <a:p>
                      <a:pPr algn="l">
                        <a:spcAft>
                          <a:spcPts val="0"/>
                        </a:spcAft>
                      </a:pPr>
                      <a:r>
                        <a:rPr lang="en-US" sz="1400" kern="100" baseline="0" dirty="0">
                          <a:effectLst/>
                          <a:latin typeface="Times New Roman" panose="02020603050405020304" pitchFamily="18" charset="0"/>
                          <a:ea typeface="宋体" panose="02010600030101010101" pitchFamily="2" charset="-122"/>
                        </a:rPr>
                        <a:t>ICMPv6</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baseline="0">
                          <a:effectLst/>
                          <a:latin typeface="Times New Roman" panose="02020603050405020304" pitchFamily="18" charset="0"/>
                          <a:ea typeface="宋体" panose="02010600030101010101" pitchFamily="2" charset="-122"/>
                        </a:rPr>
                        <a:t>最后</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58</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04322208"/>
                  </a:ext>
                </a:extLst>
              </a:tr>
              <a:tr h="0">
                <a:tc>
                  <a:txBody>
                    <a:bodyPr/>
                    <a:lstStyle/>
                    <a:p>
                      <a:pPr algn="l">
                        <a:spcAft>
                          <a:spcPts val="0"/>
                        </a:spcAft>
                      </a:pPr>
                      <a:r>
                        <a:rPr lang="en-US" sz="1400" kern="100" baseline="0" dirty="0">
                          <a:effectLst/>
                          <a:latin typeface="Times New Roman" panose="02020603050405020304" pitchFamily="18" charset="0"/>
                          <a:ea typeface="宋体" panose="02010600030101010101" pitchFamily="2" charset="-122"/>
                        </a:rPr>
                        <a:t>UDP</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baseline="0">
                          <a:effectLst/>
                          <a:latin typeface="Times New Roman" panose="02020603050405020304" pitchFamily="18" charset="0"/>
                          <a:ea typeface="宋体" panose="02010600030101010101" pitchFamily="2" charset="-122"/>
                        </a:rPr>
                        <a:t>最后</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17</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945702707"/>
                  </a:ext>
                </a:extLst>
              </a:tr>
              <a:tr h="0">
                <a:tc>
                  <a:txBody>
                    <a:bodyPr/>
                    <a:lstStyle/>
                    <a:p>
                      <a:pPr algn="l">
                        <a:spcAft>
                          <a:spcPts val="0"/>
                        </a:spcAft>
                      </a:pPr>
                      <a:r>
                        <a:rPr lang="en-US" sz="1400" kern="100" baseline="0" dirty="0">
                          <a:effectLst/>
                          <a:latin typeface="Times New Roman" panose="02020603050405020304" pitchFamily="18" charset="0"/>
                          <a:ea typeface="宋体" panose="02010600030101010101" pitchFamily="2" charset="-122"/>
                        </a:rPr>
                        <a:t>TCP</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baseline="0">
                          <a:effectLst/>
                          <a:latin typeface="Times New Roman" panose="02020603050405020304" pitchFamily="18" charset="0"/>
                          <a:ea typeface="宋体" panose="02010600030101010101" pitchFamily="2" charset="-122"/>
                        </a:rPr>
                        <a:t>最后</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6</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69693071"/>
                  </a:ext>
                </a:extLst>
              </a:tr>
              <a:tr h="0">
                <a:tc>
                  <a:txBody>
                    <a:bodyPr/>
                    <a:lstStyle/>
                    <a:p>
                      <a:pPr algn="l">
                        <a:spcAft>
                          <a:spcPts val="0"/>
                        </a:spcAft>
                      </a:pPr>
                      <a:r>
                        <a:rPr lang="zh-CN" sz="1400" kern="100" baseline="0" dirty="0">
                          <a:effectLst/>
                          <a:latin typeface="Times New Roman" panose="02020603050405020304" pitchFamily="18" charset="0"/>
                          <a:ea typeface="宋体" panose="02010600030101010101" pitchFamily="2" charset="-122"/>
                        </a:rPr>
                        <a:t>其他上层选项</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zh-CN" sz="1400" kern="100" baseline="0">
                          <a:effectLst/>
                          <a:latin typeface="Times New Roman" panose="02020603050405020304" pitchFamily="18" charset="0"/>
                          <a:ea typeface="宋体" panose="02010600030101010101" pitchFamily="2" charset="-122"/>
                        </a:rPr>
                        <a:t>最后</a:t>
                      </a:r>
                      <a:endParaRPr lang="zh-CN" sz="1400" kern="100" baseline="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algn="ctr">
                        <a:spcAft>
                          <a:spcPts val="0"/>
                        </a:spcAft>
                      </a:pPr>
                      <a:r>
                        <a:rPr lang="en-US" sz="1400" kern="100" baseline="0" dirty="0">
                          <a:effectLst/>
                          <a:latin typeface="Times New Roman" panose="02020603050405020304" pitchFamily="18" charset="0"/>
                          <a:ea typeface="宋体" panose="02010600030101010101" pitchFamily="2" charset="-122"/>
                        </a:rPr>
                        <a:t>-</a:t>
                      </a:r>
                      <a:endParaRPr lang="zh-CN" sz="1400" kern="100" baseline="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788024831"/>
                  </a:ext>
                </a:extLst>
              </a:tr>
            </a:tbl>
          </a:graphicData>
        </a:graphic>
      </p:graphicFrame>
    </p:spTree>
    <p:extLst>
      <p:ext uri="{BB962C8B-B14F-4D97-AF65-F5344CB8AC3E}">
        <p14:creationId xmlns:p14="http://schemas.microsoft.com/office/powerpoint/2010/main" val="266072497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a:t>选项</a:t>
            </a:r>
            <a:endParaRPr lang="en-US" altLang="zh-CN" sz="2000" dirty="0" smtClean="0"/>
          </a:p>
          <a:p>
            <a:pPr lvl="1"/>
            <a:r>
              <a:rPr lang="zh-CN" altLang="en-US" sz="1600" dirty="0" smtClean="0"/>
              <a:t>相</a:t>
            </a:r>
            <a:r>
              <a:rPr lang="zh-CN" altLang="en-US" sz="1600" dirty="0"/>
              <a:t>对于</a:t>
            </a:r>
            <a:r>
              <a:rPr lang="en-US" altLang="zh-CN" sz="1600" dirty="0"/>
              <a:t>IPv4</a:t>
            </a:r>
            <a:r>
              <a:rPr lang="zh-CN" altLang="en-US" sz="1600" dirty="0"/>
              <a:t>，</a:t>
            </a:r>
            <a:r>
              <a:rPr lang="en-US" altLang="zh-CN" sz="1600" dirty="0"/>
              <a:t>IPv6</a:t>
            </a:r>
            <a:r>
              <a:rPr lang="zh-CN" altLang="en-US" sz="1600" dirty="0"/>
              <a:t>提供了一种更灵活和可扩展的方式，将扩展和选项相结合。</a:t>
            </a:r>
            <a:r>
              <a:rPr lang="en-US" altLang="zh-CN" sz="1600" dirty="0"/>
              <a:t>IPv6</a:t>
            </a:r>
            <a:r>
              <a:rPr lang="zh-CN" altLang="en-US" sz="1600" dirty="0"/>
              <a:t>可变长度的扩</a:t>
            </a:r>
            <a:r>
              <a:rPr lang="zh-CN" altLang="en-US" sz="1600" dirty="0" smtClean="0"/>
              <a:t>展首部</a:t>
            </a:r>
            <a:r>
              <a:rPr lang="zh-CN" altLang="en-US" sz="1600" dirty="0"/>
              <a:t>或编码在特殊扩</a:t>
            </a:r>
            <a:r>
              <a:rPr lang="zh-CN" altLang="en-US" sz="1600" dirty="0" smtClean="0"/>
              <a:t>展首部</a:t>
            </a:r>
            <a:r>
              <a:rPr lang="zh-CN" altLang="en-US" sz="1600" dirty="0"/>
              <a:t>中的选项可适应当前更大的</a:t>
            </a:r>
            <a:r>
              <a:rPr lang="en-US" altLang="zh-CN" sz="1600" dirty="0"/>
              <a:t>Internet</a:t>
            </a:r>
            <a:r>
              <a:rPr lang="zh-CN" altLang="en-US" sz="1600" dirty="0"/>
              <a:t>。如果选项存在，可放入逐跳选项（与一个数据报传输路径上的每个路由器相关）或目的地选项（仅与接收方相关）。</a:t>
            </a:r>
            <a:endParaRPr lang="en-US" altLang="zh-CN" sz="1600" dirty="0" smtClean="0"/>
          </a:p>
          <a:p>
            <a:pPr lvl="1"/>
            <a:endParaRPr lang="en-US" altLang="zh-CN" sz="1600" dirty="0" smtClean="0"/>
          </a:p>
          <a:p>
            <a:endParaRPr lang="en-US" altLang="zh-CN" sz="2000" dirty="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2996" y="3248396"/>
            <a:ext cx="4499610" cy="403225"/>
          </a:xfrm>
          <a:prstGeom prst="rect">
            <a:avLst/>
          </a:prstGeom>
          <a:noFill/>
        </p:spPr>
      </p:pic>
      <p:graphicFrame>
        <p:nvGraphicFramePr>
          <p:cNvPr id="7" name="Table 6"/>
          <p:cNvGraphicFramePr>
            <a:graphicFrameLocks noGrp="1"/>
          </p:cNvGraphicFramePr>
          <p:nvPr>
            <p:extLst>
              <p:ext uri="{D42A27DB-BD31-4B8C-83A1-F6EECF244321}">
                <p14:modId xmlns:p14="http://schemas.microsoft.com/office/powerpoint/2010/main" val="3011892202"/>
              </p:ext>
            </p:extLst>
          </p:nvPr>
        </p:nvGraphicFramePr>
        <p:xfrm>
          <a:off x="3256419" y="3947470"/>
          <a:ext cx="5612765" cy="640080"/>
        </p:xfrm>
        <a:graphic>
          <a:graphicData uri="http://schemas.openxmlformats.org/drawingml/2006/table">
            <a:tbl>
              <a:tblPr firstCol="1" bandRow="1">
                <a:tableStyleId>{5C22544A-7EE6-4342-B048-85BDC9FD1C3A}</a:tableStyleId>
              </a:tblPr>
              <a:tblGrid>
                <a:gridCol w="1292860">
                  <a:extLst>
                    <a:ext uri="{9D8B030D-6E8A-4147-A177-3AD203B41FA5}">
                      <a16:colId xmlns:a16="http://schemas.microsoft.com/office/drawing/2014/main" val="1858260112"/>
                    </a:ext>
                  </a:extLst>
                </a:gridCol>
                <a:gridCol w="4319905">
                  <a:extLst>
                    <a:ext uri="{9D8B030D-6E8A-4147-A177-3AD203B41FA5}">
                      <a16:colId xmlns:a16="http://schemas.microsoft.com/office/drawing/2014/main" val="2963501021"/>
                    </a:ext>
                  </a:extLst>
                </a:gridCol>
              </a:tblGrid>
              <a:tr h="0">
                <a:tc>
                  <a:txBody>
                    <a:bodyPr/>
                    <a:lstStyle/>
                    <a:p>
                      <a:pPr algn="l">
                        <a:spcAft>
                          <a:spcPts val="0"/>
                        </a:spcAft>
                      </a:pPr>
                      <a:r>
                        <a:rPr lang="zh-CN" sz="1400" kern="100" dirty="0">
                          <a:effectLst/>
                        </a:rPr>
                        <a:t>选项类型</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dirty="0">
                          <a:effectLst/>
                        </a:rPr>
                        <a:t>8</a:t>
                      </a:r>
                      <a:r>
                        <a:rPr lang="zh-CN" sz="1400" kern="100" dirty="0">
                          <a:effectLst/>
                        </a:rPr>
                        <a:t>位，选项类型的标识符。</a:t>
                      </a:r>
                      <a:endParaRPr lang="zh-CN" sz="1400" kern="100" dirty="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4028669635"/>
                  </a:ext>
                </a:extLst>
              </a:tr>
              <a:tr h="0">
                <a:tc>
                  <a:txBody>
                    <a:bodyPr/>
                    <a:lstStyle/>
                    <a:p>
                      <a:pPr algn="l">
                        <a:spcAft>
                          <a:spcPts val="0"/>
                        </a:spcAft>
                      </a:pPr>
                      <a:r>
                        <a:rPr lang="zh-CN" sz="1400" kern="100">
                          <a:effectLst/>
                        </a:rPr>
                        <a:t>选项数据长度</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a:effectLst/>
                        </a:rPr>
                        <a:t>8</a:t>
                      </a:r>
                      <a:r>
                        <a:rPr lang="zh-CN" sz="1400" kern="100">
                          <a:effectLst/>
                        </a:rPr>
                        <a:t>位无符号整数，该选项的选项数据字段的字节长度。</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438642731"/>
                  </a:ext>
                </a:extLst>
              </a:tr>
              <a:tr h="0">
                <a:tc>
                  <a:txBody>
                    <a:bodyPr/>
                    <a:lstStyle/>
                    <a:p>
                      <a:pPr algn="l">
                        <a:spcAft>
                          <a:spcPts val="0"/>
                        </a:spcAft>
                      </a:pPr>
                      <a:r>
                        <a:rPr lang="zh-CN" sz="1400" kern="100" dirty="0">
                          <a:effectLst/>
                        </a:rPr>
                        <a:t>选项数据</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zh-CN" sz="1400" kern="100" dirty="0">
                          <a:effectLst/>
                        </a:rPr>
                        <a:t>可变长度字段，选项类型指定的数据。</a:t>
                      </a:r>
                      <a:endParaRPr lang="zh-CN" sz="1400" kern="100" dirty="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441647072"/>
                  </a:ext>
                </a:extLst>
              </a:tr>
            </a:tbl>
          </a:graphicData>
        </a:graphic>
      </p:graphicFrame>
    </p:spTree>
    <p:extLst>
      <p:ext uri="{BB962C8B-B14F-4D97-AF65-F5344CB8AC3E}">
        <p14:creationId xmlns:p14="http://schemas.microsoft.com/office/powerpoint/2010/main" val="23573217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82505"/>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a:t>选项</a:t>
            </a:r>
            <a:endParaRPr lang="en-US" altLang="zh-CN" sz="2000" dirty="0" smtClean="0"/>
          </a:p>
          <a:p>
            <a:pPr lvl="1"/>
            <a:r>
              <a:rPr lang="zh-CN" altLang="en-US" sz="1600" dirty="0" smtClean="0"/>
              <a:t>选</a:t>
            </a:r>
            <a:r>
              <a:rPr lang="zh-CN" altLang="en-US" sz="1600" dirty="0"/>
              <a:t>项类型标识符以如下规则编码：其最高两位指定当正在处理</a:t>
            </a:r>
            <a:r>
              <a:rPr lang="en-US" altLang="zh-CN" sz="1600" dirty="0"/>
              <a:t>IPv6</a:t>
            </a:r>
            <a:r>
              <a:rPr lang="zh-CN" altLang="en-US" sz="1600" dirty="0"/>
              <a:t>的节点不能识别选项类型时必须采取的行动</a:t>
            </a:r>
            <a:r>
              <a:rPr lang="zh-CN" altLang="en-US" sz="1600" dirty="0" smtClean="0"/>
              <a:t>：</a:t>
            </a:r>
            <a:endParaRPr lang="en-US" altLang="zh-CN" sz="1600" dirty="0" smtClean="0"/>
          </a:p>
          <a:p>
            <a:pPr lvl="2"/>
            <a:r>
              <a:rPr lang="en-US" altLang="zh-CN" sz="1200" dirty="0"/>
              <a:t>00 - </a:t>
            </a:r>
            <a:r>
              <a:rPr lang="zh-CN" altLang="en-US" sz="1200" dirty="0"/>
              <a:t>跳过这个选项并继续处理首部。</a:t>
            </a:r>
          </a:p>
          <a:p>
            <a:pPr lvl="2"/>
            <a:r>
              <a:rPr lang="en-US" altLang="zh-CN" sz="1200" dirty="0"/>
              <a:t>01 - </a:t>
            </a:r>
            <a:r>
              <a:rPr lang="zh-CN" altLang="en-US" sz="1200" dirty="0"/>
              <a:t>丢弃这个包。</a:t>
            </a:r>
          </a:p>
          <a:p>
            <a:pPr lvl="2"/>
            <a:r>
              <a:rPr lang="en-US" altLang="zh-CN" sz="1200" dirty="0"/>
              <a:t>10 - </a:t>
            </a:r>
            <a:r>
              <a:rPr lang="zh-CN" altLang="en-US" sz="1200" dirty="0"/>
              <a:t>丢弃这个包，并且不管包的目的地址是不是组播地址，都发送</a:t>
            </a:r>
            <a:r>
              <a:rPr lang="en-US" altLang="zh-CN" sz="1200" dirty="0"/>
              <a:t>ICMP“</a:t>
            </a:r>
            <a:r>
              <a:rPr lang="zh-CN" altLang="en-US" sz="1200" dirty="0"/>
              <a:t>参数问题”（</a:t>
            </a:r>
            <a:r>
              <a:rPr lang="en-US" altLang="zh-CN" sz="1200" dirty="0"/>
              <a:t>Code 2</a:t>
            </a:r>
            <a:r>
              <a:rPr lang="zh-CN" altLang="en-US" sz="1200" dirty="0"/>
              <a:t>）报文给包的源地址来表明不能识别选项类型。</a:t>
            </a:r>
          </a:p>
          <a:p>
            <a:pPr lvl="2"/>
            <a:r>
              <a:rPr lang="en-US" altLang="zh-CN" sz="1200" dirty="0"/>
              <a:t>11 - </a:t>
            </a:r>
            <a:r>
              <a:rPr lang="zh-CN" altLang="en-US" sz="1200" dirty="0"/>
              <a:t>丢弃这个包，并且只在包的目的地址不是组播地址时，发送</a:t>
            </a:r>
            <a:r>
              <a:rPr lang="en-US" altLang="zh-CN" sz="1200" dirty="0"/>
              <a:t>ICMP“</a:t>
            </a:r>
            <a:r>
              <a:rPr lang="zh-CN" altLang="en-US" sz="1200" dirty="0"/>
              <a:t>参数问题”（</a:t>
            </a:r>
            <a:r>
              <a:rPr lang="en-US" altLang="zh-CN" sz="1200" dirty="0"/>
              <a:t>Code 2</a:t>
            </a:r>
            <a:r>
              <a:rPr lang="zh-CN" altLang="en-US" sz="1200" dirty="0"/>
              <a:t>）报文给包的源地址来表明不能识别选项类型</a:t>
            </a:r>
          </a:p>
          <a:p>
            <a:pPr lvl="1"/>
            <a:r>
              <a:rPr lang="zh-CN" altLang="en-US" sz="1600" dirty="0"/>
              <a:t>选项类型的第</a:t>
            </a:r>
            <a:r>
              <a:rPr lang="en-US" altLang="zh-CN" sz="1600" dirty="0"/>
              <a:t>3</a:t>
            </a:r>
            <a:r>
              <a:rPr lang="zh-CN" altLang="en-US" sz="1600" dirty="0"/>
              <a:t>位指定选项的选项数据能否改变通往最终目的地址的</a:t>
            </a:r>
            <a:r>
              <a:rPr lang="en-US" altLang="zh-CN" sz="1600" dirty="0" err="1"/>
              <a:t>en</a:t>
            </a:r>
            <a:r>
              <a:rPr lang="en-US" altLang="zh-CN" sz="1600" dirty="0"/>
              <a:t>-route</a:t>
            </a:r>
            <a:r>
              <a:rPr lang="zh-CN" altLang="en-US" sz="1600" dirty="0"/>
              <a:t>。当包中有认证首部时，在包计算或校验认证值时，可改变</a:t>
            </a:r>
            <a:r>
              <a:rPr lang="en-US" altLang="zh-CN" sz="1600" dirty="0" err="1"/>
              <a:t>en</a:t>
            </a:r>
            <a:r>
              <a:rPr lang="en-US" altLang="zh-CN" sz="1600" dirty="0"/>
              <a:t>-route</a:t>
            </a:r>
            <a:r>
              <a:rPr lang="zh-CN" altLang="en-US" sz="1600" dirty="0"/>
              <a:t>的选项的整个数据字段都必须当作全</a:t>
            </a:r>
            <a:r>
              <a:rPr lang="en-US" altLang="zh-CN" sz="1600" dirty="0"/>
              <a:t>0</a:t>
            </a:r>
            <a:r>
              <a:rPr lang="zh-CN" altLang="en-US" sz="1600" dirty="0"/>
              <a:t>的字节来处理</a:t>
            </a:r>
            <a:r>
              <a:rPr lang="zh-CN" altLang="en-US" sz="1600" dirty="0" smtClean="0"/>
              <a:t>。</a:t>
            </a:r>
            <a:endParaRPr lang="en-US" altLang="zh-CN" sz="1600" dirty="0" smtClean="0"/>
          </a:p>
          <a:p>
            <a:pPr lvl="2"/>
            <a:r>
              <a:rPr lang="en-US" altLang="zh-CN" sz="1200" dirty="0"/>
              <a:t>0 - </a:t>
            </a:r>
            <a:r>
              <a:rPr lang="zh-CN" altLang="en-US" sz="1200" dirty="0"/>
              <a:t>选项数据不改变</a:t>
            </a:r>
            <a:r>
              <a:rPr lang="en-US" altLang="zh-CN" sz="1200" dirty="0" err="1"/>
              <a:t>en</a:t>
            </a:r>
            <a:r>
              <a:rPr lang="en-US" altLang="zh-CN" sz="1200" dirty="0"/>
              <a:t>-route</a:t>
            </a:r>
          </a:p>
          <a:p>
            <a:pPr lvl="2"/>
            <a:r>
              <a:rPr lang="en-US" altLang="zh-CN" sz="1200" dirty="0"/>
              <a:t>1 - </a:t>
            </a:r>
            <a:r>
              <a:rPr lang="zh-CN" altLang="en-US" sz="1200" dirty="0"/>
              <a:t>选项数据会改变</a:t>
            </a:r>
            <a:r>
              <a:rPr lang="en-US" altLang="zh-CN" sz="1200" dirty="0" err="1"/>
              <a:t>en</a:t>
            </a:r>
            <a:r>
              <a:rPr lang="en-US" altLang="zh-CN" sz="1200" dirty="0"/>
              <a:t>-route</a:t>
            </a:r>
          </a:p>
          <a:p>
            <a:pPr lvl="1"/>
            <a:endParaRPr lang="en-US" altLang="zh-CN" sz="1600" dirty="0" smtClean="0"/>
          </a:p>
          <a:p>
            <a:pPr lvl="1"/>
            <a:endParaRPr lang="en-US" altLang="zh-CN" sz="1600" dirty="0" smtClean="0"/>
          </a:p>
          <a:p>
            <a:endParaRPr lang="en-US" altLang="zh-CN" sz="2000" dirty="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graphicFrame>
        <p:nvGraphicFramePr>
          <p:cNvPr id="5" name="Table 4"/>
          <p:cNvGraphicFramePr>
            <a:graphicFrameLocks noGrp="1"/>
          </p:cNvGraphicFramePr>
          <p:nvPr>
            <p:extLst>
              <p:ext uri="{D42A27DB-BD31-4B8C-83A1-F6EECF244321}">
                <p14:modId xmlns:p14="http://schemas.microsoft.com/office/powerpoint/2010/main" val="2253522817"/>
              </p:ext>
            </p:extLst>
          </p:nvPr>
        </p:nvGraphicFramePr>
        <p:xfrm>
          <a:off x="3436252" y="4637028"/>
          <a:ext cx="5916505" cy="1493520"/>
        </p:xfrm>
        <a:graphic>
          <a:graphicData uri="http://schemas.openxmlformats.org/drawingml/2006/table">
            <a:tbl>
              <a:tblPr firstRow="1" firstCol="1" bandRow="1">
                <a:tableStyleId>{5C22544A-7EE6-4342-B048-85BDC9FD1C3A}</a:tableStyleId>
              </a:tblPr>
              <a:tblGrid>
                <a:gridCol w="1292860">
                  <a:extLst>
                    <a:ext uri="{9D8B030D-6E8A-4147-A177-3AD203B41FA5}">
                      <a16:colId xmlns:a16="http://schemas.microsoft.com/office/drawing/2014/main" val="1044762466"/>
                    </a:ext>
                  </a:extLst>
                </a:gridCol>
                <a:gridCol w="1005523">
                  <a:extLst>
                    <a:ext uri="{9D8B030D-6E8A-4147-A177-3AD203B41FA5}">
                      <a16:colId xmlns:a16="http://schemas.microsoft.com/office/drawing/2014/main" val="3553838415"/>
                    </a:ext>
                  </a:extLst>
                </a:gridCol>
                <a:gridCol w="672148">
                  <a:extLst>
                    <a:ext uri="{9D8B030D-6E8A-4147-A177-3AD203B41FA5}">
                      <a16:colId xmlns:a16="http://schemas.microsoft.com/office/drawing/2014/main" val="4150366984"/>
                    </a:ext>
                  </a:extLst>
                </a:gridCol>
                <a:gridCol w="672148">
                  <a:extLst>
                    <a:ext uri="{9D8B030D-6E8A-4147-A177-3AD203B41FA5}">
                      <a16:colId xmlns:a16="http://schemas.microsoft.com/office/drawing/2014/main" val="2877750371"/>
                    </a:ext>
                  </a:extLst>
                </a:gridCol>
                <a:gridCol w="871377">
                  <a:extLst>
                    <a:ext uri="{9D8B030D-6E8A-4147-A177-3AD203B41FA5}">
                      <a16:colId xmlns:a16="http://schemas.microsoft.com/office/drawing/2014/main" val="3582366652"/>
                    </a:ext>
                  </a:extLst>
                </a:gridCol>
                <a:gridCol w="871377">
                  <a:extLst>
                    <a:ext uri="{9D8B030D-6E8A-4147-A177-3AD203B41FA5}">
                      <a16:colId xmlns:a16="http://schemas.microsoft.com/office/drawing/2014/main" val="3010178661"/>
                    </a:ext>
                  </a:extLst>
                </a:gridCol>
                <a:gridCol w="531072">
                  <a:extLst>
                    <a:ext uri="{9D8B030D-6E8A-4147-A177-3AD203B41FA5}">
                      <a16:colId xmlns:a16="http://schemas.microsoft.com/office/drawing/2014/main" val="1005685923"/>
                    </a:ext>
                  </a:extLst>
                </a:gridCol>
              </a:tblGrid>
              <a:tr h="0">
                <a:tc>
                  <a:txBody>
                    <a:bodyPr/>
                    <a:lstStyle/>
                    <a:p>
                      <a:pPr algn="ctr">
                        <a:spcAft>
                          <a:spcPts val="0"/>
                        </a:spcAft>
                      </a:pPr>
                      <a:r>
                        <a:rPr lang="zh-CN" sz="1400" kern="100">
                          <a:effectLst/>
                        </a:rPr>
                        <a:t>选项名</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ctr">
                        <a:spcAft>
                          <a:spcPts val="0"/>
                        </a:spcAft>
                      </a:pPr>
                      <a:r>
                        <a:rPr lang="zh-CN" sz="1400" kern="100">
                          <a:effectLst/>
                        </a:rPr>
                        <a:t>首部</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ctr">
                        <a:spcAft>
                          <a:spcPts val="0"/>
                        </a:spcAft>
                      </a:pPr>
                      <a:r>
                        <a:rPr lang="zh-CN" sz="1400" kern="100">
                          <a:effectLst/>
                        </a:rPr>
                        <a:t>高</a:t>
                      </a:r>
                      <a:r>
                        <a:rPr lang="en-US" sz="1400" kern="100">
                          <a:effectLst/>
                        </a:rPr>
                        <a:t>2</a:t>
                      </a:r>
                      <a:r>
                        <a:rPr lang="zh-CN" sz="1400" kern="100">
                          <a:effectLst/>
                        </a:rPr>
                        <a:t>位</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ctr">
                        <a:spcAft>
                          <a:spcPts val="0"/>
                        </a:spcAft>
                      </a:pPr>
                      <a:r>
                        <a:rPr lang="zh-CN" sz="1400" kern="100">
                          <a:effectLst/>
                        </a:rPr>
                        <a:t>第</a:t>
                      </a:r>
                      <a:r>
                        <a:rPr lang="en-US" sz="1400" kern="100">
                          <a:effectLst/>
                        </a:rPr>
                        <a:t>3</a:t>
                      </a:r>
                      <a:r>
                        <a:rPr lang="zh-CN" sz="1400" kern="100">
                          <a:effectLst/>
                        </a:rPr>
                        <a:t>位</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ctr">
                        <a:spcAft>
                          <a:spcPts val="0"/>
                        </a:spcAft>
                      </a:pPr>
                      <a:r>
                        <a:rPr lang="zh-CN" altLang="en-US" sz="1400" kern="100" dirty="0" smtClean="0">
                          <a:effectLst/>
                          <a:latin typeface="DengXian"/>
                          <a:ea typeface="DengXian"/>
                          <a:cs typeface="Times New Roman" panose="02020603050405020304" pitchFamily="18" charset="0"/>
                        </a:rPr>
                        <a:t>低</a:t>
                      </a:r>
                      <a:r>
                        <a:rPr lang="en-US" altLang="zh-CN" sz="1400" kern="100" dirty="0" smtClean="0">
                          <a:effectLst/>
                          <a:latin typeface="DengXian"/>
                          <a:ea typeface="DengXian"/>
                          <a:cs typeface="Times New Roman" panose="02020603050405020304" pitchFamily="18" charset="0"/>
                        </a:rPr>
                        <a:t>5</a:t>
                      </a:r>
                      <a:r>
                        <a:rPr lang="zh-CN" altLang="en-US" sz="1400" kern="100" dirty="0" smtClean="0">
                          <a:effectLst/>
                          <a:latin typeface="DengXian"/>
                          <a:ea typeface="DengXian"/>
                          <a:cs typeface="Times New Roman" panose="02020603050405020304" pitchFamily="18" charset="0"/>
                        </a:rPr>
                        <a:t>位</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algn="ctr">
                        <a:spcAft>
                          <a:spcPts val="0"/>
                        </a:spcAft>
                      </a:pPr>
                      <a:r>
                        <a:rPr lang="zh-CN" altLang="en-US" sz="1400" kern="100" dirty="0" smtClean="0">
                          <a:effectLst/>
                          <a:latin typeface="DengXian"/>
                          <a:ea typeface="DengXian"/>
                          <a:cs typeface="Times New Roman" panose="02020603050405020304" pitchFamily="18" charset="0"/>
                        </a:rPr>
                        <a:t>类型</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algn="ctr">
                        <a:spcAft>
                          <a:spcPts val="0"/>
                        </a:spcAft>
                      </a:pPr>
                      <a:r>
                        <a:rPr lang="zh-CN" sz="1400" kern="100">
                          <a:effectLst/>
                        </a:rPr>
                        <a:t>长度</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448706546"/>
                  </a:ext>
                </a:extLst>
              </a:tr>
              <a:tr h="180000">
                <a:tc>
                  <a:txBody>
                    <a:bodyPr/>
                    <a:lstStyle/>
                    <a:p>
                      <a:pPr algn="l">
                        <a:spcAft>
                          <a:spcPts val="0"/>
                        </a:spcAft>
                      </a:pPr>
                      <a:r>
                        <a:rPr lang="en-US" sz="1400" kern="100" dirty="0">
                          <a:effectLst/>
                        </a:rPr>
                        <a:t>Pad1</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zh-CN" sz="1400" kern="100">
                          <a:effectLst/>
                        </a:rPr>
                        <a:t>逐跳</a:t>
                      </a:r>
                      <a:r>
                        <a:rPr lang="en-US" sz="1400" kern="100">
                          <a:effectLst/>
                        </a:rPr>
                        <a:t>/</a:t>
                      </a:r>
                      <a:r>
                        <a:rPr lang="zh-CN" sz="1400" kern="100">
                          <a:effectLst/>
                        </a:rPr>
                        <a:t>目的</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dirty="0">
                          <a:effectLst/>
                        </a:rPr>
                        <a:t>00</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dirty="0">
                          <a:effectLst/>
                        </a:rPr>
                        <a:t>0</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marL="0" algn="l" defTabSz="914400" rtl="0" eaLnBrk="1" latinLnBrk="0" hangingPunct="1">
                        <a:spcAft>
                          <a:spcPts val="0"/>
                        </a:spcAft>
                      </a:pPr>
                      <a:r>
                        <a:rPr lang="en-US" sz="1400" kern="100" dirty="0">
                          <a:solidFill>
                            <a:schemeClr val="dk1"/>
                          </a:solidFill>
                          <a:effectLst/>
                          <a:latin typeface="+mn-lt"/>
                          <a:ea typeface="+mn-ea"/>
                          <a:cs typeface="+mn-cs"/>
                        </a:rPr>
                        <a:t>0</a:t>
                      </a:r>
                      <a:endParaRPr lang="zh-CN" sz="1400" kern="100" dirty="0">
                        <a:solidFill>
                          <a:schemeClr val="dk1"/>
                        </a:solidFill>
                        <a:effectLst/>
                        <a:latin typeface="+mn-lt"/>
                        <a:ea typeface="+mn-ea"/>
                        <a:cs typeface="+mn-cs"/>
                      </a:endParaRPr>
                    </a:p>
                  </a:txBody>
                  <a:tcPr marL="68580" marR="68580" marT="0" marB="0"/>
                </a:tc>
                <a:tc>
                  <a:txBody>
                    <a:bodyPr/>
                    <a:lstStyle/>
                    <a:p>
                      <a:pPr marL="0" algn="l" defTabSz="914400" rtl="0" eaLnBrk="1" latinLnBrk="0" hangingPunct="1">
                        <a:spcAft>
                          <a:spcPts val="0"/>
                        </a:spcAft>
                      </a:pPr>
                      <a:r>
                        <a:rPr lang="en-US" altLang="zh-CN" sz="1400" kern="100" dirty="0" smtClean="0">
                          <a:solidFill>
                            <a:schemeClr val="dk1"/>
                          </a:solidFill>
                          <a:effectLst/>
                          <a:latin typeface="+mn-lt"/>
                          <a:ea typeface="+mn-ea"/>
                          <a:cs typeface="+mn-cs"/>
                        </a:rPr>
                        <a:t>0</a:t>
                      </a:r>
                      <a:endParaRPr lang="zh-CN" sz="1400" kern="100" dirty="0">
                        <a:solidFill>
                          <a:schemeClr val="dk1"/>
                        </a:solidFill>
                        <a:effectLst/>
                        <a:latin typeface="+mn-lt"/>
                        <a:ea typeface="+mn-ea"/>
                        <a:cs typeface="+mn-cs"/>
                      </a:endParaRPr>
                    </a:p>
                  </a:txBody>
                  <a:tcPr marL="68580" marR="68580" marT="0" marB="0"/>
                </a:tc>
                <a:tc>
                  <a:txBody>
                    <a:bodyPr/>
                    <a:lstStyle/>
                    <a:p>
                      <a:pPr algn="l">
                        <a:spcAft>
                          <a:spcPts val="0"/>
                        </a:spcAft>
                      </a:pPr>
                      <a:r>
                        <a:rPr lang="en-US" sz="1400" kern="100">
                          <a:effectLst/>
                        </a:rPr>
                        <a:t>N/A</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159834485"/>
                  </a:ext>
                </a:extLst>
              </a:tr>
              <a:tr h="0">
                <a:tc>
                  <a:txBody>
                    <a:bodyPr/>
                    <a:lstStyle/>
                    <a:p>
                      <a:pPr algn="l">
                        <a:spcAft>
                          <a:spcPts val="0"/>
                        </a:spcAft>
                      </a:pPr>
                      <a:r>
                        <a:rPr lang="en-US" sz="1400" kern="100" dirty="0" err="1">
                          <a:effectLst/>
                        </a:rPr>
                        <a:t>PadN</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zh-CN" sz="1400" kern="100">
                          <a:effectLst/>
                        </a:rPr>
                        <a:t>逐跳</a:t>
                      </a:r>
                      <a:r>
                        <a:rPr lang="en-US" sz="1400" kern="100">
                          <a:effectLst/>
                        </a:rPr>
                        <a:t>/</a:t>
                      </a:r>
                      <a:r>
                        <a:rPr lang="zh-CN" sz="1400" kern="100">
                          <a:effectLst/>
                        </a:rPr>
                        <a:t>目的</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dirty="0">
                          <a:effectLst/>
                        </a:rPr>
                        <a:t>00</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dirty="0">
                          <a:effectLst/>
                        </a:rPr>
                        <a:t>0</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marL="0" algn="l" defTabSz="914400" rtl="0" eaLnBrk="1" latinLnBrk="0" hangingPunct="1">
                        <a:spcAft>
                          <a:spcPts val="0"/>
                        </a:spcAft>
                      </a:pPr>
                      <a:r>
                        <a:rPr lang="en-US" sz="1400" kern="100" dirty="0">
                          <a:solidFill>
                            <a:schemeClr val="dk1"/>
                          </a:solidFill>
                          <a:effectLst/>
                          <a:latin typeface="+mn-lt"/>
                          <a:ea typeface="+mn-ea"/>
                          <a:cs typeface="+mn-cs"/>
                        </a:rPr>
                        <a:t>1</a:t>
                      </a:r>
                      <a:endParaRPr lang="zh-CN" sz="1400" kern="100" dirty="0">
                        <a:solidFill>
                          <a:schemeClr val="dk1"/>
                        </a:solidFill>
                        <a:effectLst/>
                        <a:latin typeface="+mn-lt"/>
                        <a:ea typeface="+mn-ea"/>
                        <a:cs typeface="+mn-cs"/>
                      </a:endParaRPr>
                    </a:p>
                  </a:txBody>
                  <a:tcPr marL="68580" marR="68580" marT="0" marB="0"/>
                </a:tc>
                <a:tc>
                  <a:txBody>
                    <a:bodyPr/>
                    <a:lstStyle/>
                    <a:p>
                      <a:pPr marL="0" algn="l" defTabSz="914400" rtl="0" eaLnBrk="1" latinLnBrk="0" hangingPunct="1">
                        <a:spcAft>
                          <a:spcPts val="0"/>
                        </a:spcAft>
                      </a:pPr>
                      <a:r>
                        <a:rPr lang="en-US" altLang="zh-CN" sz="1400" kern="100" dirty="0" smtClean="0">
                          <a:solidFill>
                            <a:schemeClr val="dk1"/>
                          </a:solidFill>
                          <a:effectLst/>
                          <a:latin typeface="+mn-lt"/>
                          <a:ea typeface="+mn-ea"/>
                          <a:cs typeface="+mn-cs"/>
                        </a:rPr>
                        <a:t>1</a:t>
                      </a:r>
                      <a:endParaRPr lang="zh-CN" sz="1400" kern="100" dirty="0">
                        <a:solidFill>
                          <a:schemeClr val="dk1"/>
                        </a:solidFill>
                        <a:effectLst/>
                        <a:latin typeface="+mn-lt"/>
                        <a:ea typeface="+mn-ea"/>
                        <a:cs typeface="+mn-cs"/>
                      </a:endParaRPr>
                    </a:p>
                  </a:txBody>
                  <a:tcPr marL="68580" marR="68580" marT="0" marB="0"/>
                </a:tc>
                <a:tc>
                  <a:txBody>
                    <a:bodyPr/>
                    <a:lstStyle/>
                    <a:p>
                      <a:pPr algn="l">
                        <a:spcAft>
                          <a:spcPts val="0"/>
                        </a:spcAft>
                      </a:pPr>
                      <a:r>
                        <a:rPr lang="zh-CN" sz="1400" kern="100" dirty="0">
                          <a:effectLst/>
                        </a:rPr>
                        <a:t>可变</a:t>
                      </a:r>
                      <a:endParaRPr lang="zh-CN" sz="1400" kern="100" dirty="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403927000"/>
                  </a:ext>
                </a:extLst>
              </a:tr>
              <a:tr h="0">
                <a:tc>
                  <a:txBody>
                    <a:bodyPr/>
                    <a:lstStyle/>
                    <a:p>
                      <a:pPr algn="l">
                        <a:spcAft>
                          <a:spcPts val="0"/>
                        </a:spcAft>
                      </a:pPr>
                      <a:r>
                        <a:rPr lang="zh-CN" sz="1400" kern="100">
                          <a:effectLst/>
                        </a:rPr>
                        <a:t>超大</a:t>
                      </a:r>
                      <a:r>
                        <a:rPr lang="en-US" sz="1400" kern="100">
                          <a:effectLst/>
                        </a:rPr>
                        <a:t>payload</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zh-CN" sz="1400" kern="100" dirty="0">
                          <a:effectLst/>
                        </a:rPr>
                        <a:t>逐跳</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a:effectLst/>
                        </a:rPr>
                        <a:t>11</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dirty="0">
                          <a:effectLst/>
                        </a:rPr>
                        <a:t>0</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marL="0" algn="l" defTabSz="914400" rtl="0" eaLnBrk="1" latinLnBrk="0" hangingPunct="1">
                        <a:spcAft>
                          <a:spcPts val="0"/>
                        </a:spcAft>
                      </a:pPr>
                      <a:r>
                        <a:rPr lang="en-US" altLang="zh-CN" sz="1400" kern="100" dirty="0" smtClean="0">
                          <a:solidFill>
                            <a:schemeClr val="dk1"/>
                          </a:solidFill>
                          <a:effectLst/>
                          <a:latin typeface="+mn-lt"/>
                          <a:ea typeface="+mn-ea"/>
                          <a:cs typeface="+mn-cs"/>
                        </a:rPr>
                        <a:t>10</a:t>
                      </a:r>
                      <a:endParaRPr lang="zh-CN" sz="1400" kern="100" dirty="0">
                        <a:solidFill>
                          <a:schemeClr val="dk1"/>
                        </a:solidFill>
                        <a:effectLst/>
                        <a:latin typeface="+mn-lt"/>
                        <a:ea typeface="+mn-ea"/>
                        <a:cs typeface="+mn-cs"/>
                      </a:endParaRPr>
                    </a:p>
                  </a:txBody>
                  <a:tcPr marL="68580" marR="68580" marT="0" marB="0"/>
                </a:tc>
                <a:tc>
                  <a:txBody>
                    <a:bodyPr/>
                    <a:lstStyle/>
                    <a:p>
                      <a:pPr marL="0" algn="l" defTabSz="914400" rtl="0" eaLnBrk="1" latinLnBrk="0" hangingPunct="1">
                        <a:spcAft>
                          <a:spcPts val="0"/>
                        </a:spcAft>
                      </a:pPr>
                      <a:r>
                        <a:rPr lang="en-US" altLang="zh-CN" sz="1400" kern="100" dirty="0" smtClean="0">
                          <a:solidFill>
                            <a:schemeClr val="dk1"/>
                          </a:solidFill>
                          <a:effectLst/>
                          <a:latin typeface="+mn-lt"/>
                          <a:ea typeface="+mn-ea"/>
                          <a:cs typeface="+mn-cs"/>
                        </a:rPr>
                        <a:t>194</a:t>
                      </a:r>
                      <a:endParaRPr lang="zh-CN" sz="1400" kern="100" dirty="0">
                        <a:solidFill>
                          <a:schemeClr val="dk1"/>
                        </a:solidFill>
                        <a:effectLst/>
                        <a:latin typeface="+mn-lt"/>
                        <a:ea typeface="+mn-ea"/>
                        <a:cs typeface="+mn-cs"/>
                      </a:endParaRPr>
                    </a:p>
                  </a:txBody>
                  <a:tcPr marL="68580" marR="68580" marT="0" marB="0"/>
                </a:tc>
                <a:tc>
                  <a:txBody>
                    <a:bodyPr/>
                    <a:lstStyle/>
                    <a:p>
                      <a:pPr algn="l">
                        <a:spcAft>
                          <a:spcPts val="0"/>
                        </a:spcAft>
                      </a:pPr>
                      <a:r>
                        <a:rPr lang="en-US" sz="1400" kern="100" dirty="0">
                          <a:effectLst/>
                        </a:rPr>
                        <a:t>4</a:t>
                      </a:r>
                      <a:endParaRPr lang="zh-CN" sz="1400" kern="100" dirty="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038038207"/>
                  </a:ext>
                </a:extLst>
              </a:tr>
              <a:tr h="0">
                <a:tc>
                  <a:txBody>
                    <a:bodyPr/>
                    <a:lstStyle/>
                    <a:p>
                      <a:pPr algn="l">
                        <a:spcAft>
                          <a:spcPts val="0"/>
                        </a:spcAft>
                      </a:pPr>
                      <a:r>
                        <a:rPr lang="zh-CN" sz="1400" kern="100">
                          <a:effectLst/>
                        </a:rPr>
                        <a:t>隧道封装限制</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zh-CN" sz="1400" kern="100">
                          <a:effectLst/>
                        </a:rPr>
                        <a:t>目的</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a:effectLst/>
                        </a:rPr>
                        <a:t>00</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dirty="0">
                          <a:effectLst/>
                        </a:rPr>
                        <a:t>0</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marL="0" algn="l" defTabSz="914400" rtl="0" eaLnBrk="1" latinLnBrk="0" hangingPunct="1">
                        <a:spcAft>
                          <a:spcPts val="0"/>
                        </a:spcAft>
                      </a:pPr>
                      <a:r>
                        <a:rPr lang="en-US" sz="1400" kern="100" dirty="0">
                          <a:solidFill>
                            <a:schemeClr val="dk1"/>
                          </a:solidFill>
                          <a:effectLst/>
                          <a:latin typeface="+mn-lt"/>
                          <a:ea typeface="+mn-ea"/>
                          <a:cs typeface="+mn-cs"/>
                        </a:rPr>
                        <a:t>4</a:t>
                      </a:r>
                      <a:endParaRPr lang="zh-CN" sz="1400" kern="100" dirty="0">
                        <a:solidFill>
                          <a:schemeClr val="dk1"/>
                        </a:solidFill>
                        <a:effectLst/>
                        <a:latin typeface="+mn-lt"/>
                        <a:ea typeface="+mn-ea"/>
                        <a:cs typeface="+mn-cs"/>
                      </a:endParaRPr>
                    </a:p>
                  </a:txBody>
                  <a:tcPr marL="68580" marR="68580" marT="0" marB="0"/>
                </a:tc>
                <a:tc>
                  <a:txBody>
                    <a:bodyPr/>
                    <a:lstStyle/>
                    <a:p>
                      <a:pPr marL="0" algn="l" defTabSz="914400" rtl="0" eaLnBrk="1" latinLnBrk="0" hangingPunct="1">
                        <a:spcAft>
                          <a:spcPts val="0"/>
                        </a:spcAft>
                      </a:pPr>
                      <a:r>
                        <a:rPr lang="en-US" altLang="zh-CN" sz="1400" kern="100" dirty="0" smtClean="0">
                          <a:solidFill>
                            <a:schemeClr val="dk1"/>
                          </a:solidFill>
                          <a:effectLst/>
                          <a:latin typeface="+mn-lt"/>
                          <a:ea typeface="+mn-ea"/>
                          <a:cs typeface="+mn-cs"/>
                        </a:rPr>
                        <a:t>4</a:t>
                      </a:r>
                      <a:endParaRPr lang="zh-CN" sz="1400" kern="100" dirty="0">
                        <a:solidFill>
                          <a:schemeClr val="dk1"/>
                        </a:solidFill>
                        <a:effectLst/>
                        <a:latin typeface="+mn-lt"/>
                        <a:ea typeface="+mn-ea"/>
                        <a:cs typeface="+mn-cs"/>
                      </a:endParaRPr>
                    </a:p>
                  </a:txBody>
                  <a:tcPr marL="68580" marR="68580" marT="0" marB="0"/>
                </a:tc>
                <a:tc>
                  <a:txBody>
                    <a:bodyPr/>
                    <a:lstStyle/>
                    <a:p>
                      <a:pPr algn="l">
                        <a:spcAft>
                          <a:spcPts val="0"/>
                        </a:spcAft>
                      </a:pPr>
                      <a:r>
                        <a:rPr lang="en-US" sz="1400" kern="100">
                          <a:effectLst/>
                        </a:rPr>
                        <a:t>4</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168601593"/>
                  </a:ext>
                </a:extLst>
              </a:tr>
              <a:tr h="0">
                <a:tc>
                  <a:txBody>
                    <a:bodyPr/>
                    <a:lstStyle/>
                    <a:p>
                      <a:pPr algn="l">
                        <a:spcAft>
                          <a:spcPts val="0"/>
                        </a:spcAft>
                      </a:pPr>
                      <a:r>
                        <a:rPr lang="zh-CN" sz="1400" kern="100">
                          <a:effectLst/>
                        </a:rPr>
                        <a:t>路由器警告</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zh-CN" sz="1400" kern="100">
                          <a:effectLst/>
                        </a:rPr>
                        <a:t>逐跳</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a:effectLst/>
                        </a:rPr>
                        <a:t>00</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dirty="0">
                          <a:effectLst/>
                        </a:rPr>
                        <a:t>0</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marL="0" algn="l" defTabSz="914400" rtl="0" eaLnBrk="1" latinLnBrk="0" hangingPunct="1">
                        <a:spcAft>
                          <a:spcPts val="0"/>
                        </a:spcAft>
                      </a:pPr>
                      <a:r>
                        <a:rPr lang="en-US" sz="1400" kern="100" dirty="0">
                          <a:solidFill>
                            <a:schemeClr val="dk1"/>
                          </a:solidFill>
                          <a:effectLst/>
                          <a:latin typeface="+mn-lt"/>
                          <a:ea typeface="+mn-ea"/>
                          <a:cs typeface="+mn-cs"/>
                        </a:rPr>
                        <a:t>5</a:t>
                      </a:r>
                      <a:endParaRPr lang="zh-CN" sz="1400" kern="100" dirty="0">
                        <a:solidFill>
                          <a:schemeClr val="dk1"/>
                        </a:solidFill>
                        <a:effectLst/>
                        <a:latin typeface="+mn-lt"/>
                        <a:ea typeface="+mn-ea"/>
                        <a:cs typeface="+mn-cs"/>
                      </a:endParaRPr>
                    </a:p>
                  </a:txBody>
                  <a:tcPr marL="68580" marR="68580" marT="0" marB="0"/>
                </a:tc>
                <a:tc>
                  <a:txBody>
                    <a:bodyPr/>
                    <a:lstStyle/>
                    <a:p>
                      <a:pPr marL="0" algn="l" defTabSz="914400" rtl="0" eaLnBrk="1" latinLnBrk="0" hangingPunct="1">
                        <a:spcAft>
                          <a:spcPts val="0"/>
                        </a:spcAft>
                      </a:pPr>
                      <a:r>
                        <a:rPr lang="en-US" altLang="zh-CN" sz="1400" kern="100" dirty="0" smtClean="0">
                          <a:solidFill>
                            <a:schemeClr val="dk1"/>
                          </a:solidFill>
                          <a:effectLst/>
                          <a:latin typeface="+mn-lt"/>
                          <a:ea typeface="+mn-ea"/>
                          <a:cs typeface="+mn-cs"/>
                        </a:rPr>
                        <a:t>5</a:t>
                      </a:r>
                      <a:endParaRPr lang="zh-CN" sz="1400" kern="100" dirty="0">
                        <a:solidFill>
                          <a:schemeClr val="dk1"/>
                        </a:solidFill>
                        <a:effectLst/>
                        <a:latin typeface="+mn-lt"/>
                        <a:ea typeface="+mn-ea"/>
                        <a:cs typeface="+mn-cs"/>
                      </a:endParaRPr>
                    </a:p>
                  </a:txBody>
                  <a:tcPr marL="68580" marR="68580" marT="0" marB="0"/>
                </a:tc>
                <a:tc>
                  <a:txBody>
                    <a:bodyPr/>
                    <a:lstStyle/>
                    <a:p>
                      <a:pPr algn="l">
                        <a:spcAft>
                          <a:spcPts val="0"/>
                        </a:spcAft>
                      </a:pPr>
                      <a:r>
                        <a:rPr lang="en-US" sz="1400" kern="100">
                          <a:effectLst/>
                        </a:rPr>
                        <a:t>4</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59330501"/>
                  </a:ext>
                </a:extLst>
              </a:tr>
              <a:tr h="0">
                <a:tc>
                  <a:txBody>
                    <a:bodyPr/>
                    <a:lstStyle/>
                    <a:p>
                      <a:pPr algn="l">
                        <a:spcAft>
                          <a:spcPts val="0"/>
                        </a:spcAft>
                      </a:pPr>
                      <a:r>
                        <a:rPr lang="zh-CN" sz="1400" kern="100">
                          <a:effectLst/>
                        </a:rPr>
                        <a:t>快速启动</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zh-CN" sz="1400" kern="100">
                          <a:effectLst/>
                        </a:rPr>
                        <a:t>逐跳</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a:effectLst/>
                        </a:rPr>
                        <a:t>00</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0"/>
                        </a:spcAft>
                      </a:pPr>
                      <a:r>
                        <a:rPr lang="en-US" sz="1400" kern="100" dirty="0">
                          <a:effectLst/>
                        </a:rPr>
                        <a:t>1</a:t>
                      </a:r>
                      <a:endParaRPr lang="zh-CN" sz="1400" kern="100" dirty="0">
                        <a:effectLst/>
                        <a:latin typeface="DengXian"/>
                        <a:ea typeface="DengXian"/>
                        <a:cs typeface="Times New Roman" panose="02020603050405020304" pitchFamily="18" charset="0"/>
                      </a:endParaRPr>
                    </a:p>
                  </a:txBody>
                  <a:tcPr marL="68580" marR="68580" marT="0" marB="0"/>
                </a:tc>
                <a:tc>
                  <a:txBody>
                    <a:bodyPr/>
                    <a:lstStyle/>
                    <a:p>
                      <a:pPr marL="0" algn="l" defTabSz="914400" rtl="0" eaLnBrk="1" latinLnBrk="0" hangingPunct="1">
                        <a:spcAft>
                          <a:spcPts val="0"/>
                        </a:spcAft>
                      </a:pPr>
                      <a:r>
                        <a:rPr lang="en-US" sz="1400" kern="100" dirty="0">
                          <a:solidFill>
                            <a:schemeClr val="dk1"/>
                          </a:solidFill>
                          <a:effectLst/>
                          <a:latin typeface="+mn-lt"/>
                          <a:ea typeface="+mn-ea"/>
                          <a:cs typeface="+mn-cs"/>
                        </a:rPr>
                        <a:t>6</a:t>
                      </a:r>
                      <a:endParaRPr lang="zh-CN" sz="1400" kern="100" dirty="0">
                        <a:solidFill>
                          <a:schemeClr val="dk1"/>
                        </a:solidFill>
                        <a:effectLst/>
                        <a:latin typeface="+mn-lt"/>
                        <a:ea typeface="+mn-ea"/>
                        <a:cs typeface="+mn-cs"/>
                      </a:endParaRPr>
                    </a:p>
                  </a:txBody>
                  <a:tcPr marL="68580" marR="68580" marT="0" marB="0"/>
                </a:tc>
                <a:tc>
                  <a:txBody>
                    <a:bodyPr/>
                    <a:lstStyle/>
                    <a:p>
                      <a:pPr marL="0" algn="l" defTabSz="914400" rtl="0" eaLnBrk="1" latinLnBrk="0" hangingPunct="1">
                        <a:spcAft>
                          <a:spcPts val="0"/>
                        </a:spcAft>
                      </a:pPr>
                      <a:r>
                        <a:rPr lang="en-US" altLang="zh-CN" sz="1400" kern="100" dirty="0" smtClean="0">
                          <a:solidFill>
                            <a:schemeClr val="dk1"/>
                          </a:solidFill>
                          <a:effectLst/>
                          <a:latin typeface="+mn-lt"/>
                          <a:ea typeface="+mn-ea"/>
                          <a:cs typeface="+mn-cs"/>
                        </a:rPr>
                        <a:t>6</a:t>
                      </a:r>
                      <a:endParaRPr lang="zh-CN" sz="1400" kern="100" dirty="0">
                        <a:solidFill>
                          <a:schemeClr val="dk1"/>
                        </a:solidFill>
                        <a:effectLst/>
                        <a:latin typeface="+mn-lt"/>
                        <a:ea typeface="+mn-ea"/>
                        <a:cs typeface="+mn-cs"/>
                      </a:endParaRPr>
                    </a:p>
                  </a:txBody>
                  <a:tcPr marL="68580" marR="68580" marT="0" marB="0"/>
                </a:tc>
                <a:tc>
                  <a:txBody>
                    <a:bodyPr/>
                    <a:lstStyle/>
                    <a:p>
                      <a:pPr algn="l">
                        <a:spcAft>
                          <a:spcPts val="0"/>
                        </a:spcAft>
                      </a:pPr>
                      <a:r>
                        <a:rPr lang="en-US" sz="1400" kern="100" dirty="0">
                          <a:effectLst/>
                        </a:rPr>
                        <a:t>8</a:t>
                      </a:r>
                      <a:endParaRPr lang="zh-CN" sz="1400" kern="100" dirty="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415778511"/>
                  </a:ext>
                </a:extLst>
              </a:tr>
            </a:tbl>
          </a:graphicData>
        </a:graphic>
      </p:graphicFrame>
    </p:spTree>
    <p:extLst>
      <p:ext uri="{BB962C8B-B14F-4D97-AF65-F5344CB8AC3E}">
        <p14:creationId xmlns:p14="http://schemas.microsoft.com/office/powerpoint/2010/main" val="16307385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a:t>选项</a:t>
            </a:r>
            <a:endParaRPr lang="en-US" altLang="zh-CN" sz="2000" dirty="0" smtClean="0"/>
          </a:p>
          <a:p>
            <a:pPr lvl="1"/>
            <a:r>
              <a:rPr lang="en-US" altLang="zh-CN" sz="1600" dirty="0" smtClean="0"/>
              <a:t>Pad1</a:t>
            </a:r>
            <a:r>
              <a:rPr lang="zh-CN" altLang="en-US" sz="1600" dirty="0" smtClean="0"/>
              <a:t>和</a:t>
            </a:r>
            <a:r>
              <a:rPr lang="en-US" altLang="zh-CN" sz="1600" dirty="0" err="1" smtClean="0"/>
              <a:t>PadN</a:t>
            </a:r>
            <a:r>
              <a:rPr lang="zh-CN" altLang="en-US" sz="1600" dirty="0"/>
              <a:t>：由于</a:t>
            </a:r>
            <a:r>
              <a:rPr lang="en-US" altLang="zh-CN" sz="1600" dirty="0"/>
              <a:t>IPv6</a:t>
            </a:r>
            <a:r>
              <a:rPr lang="zh-CN" altLang="en-US" sz="1600" dirty="0"/>
              <a:t>选项需要与</a:t>
            </a:r>
            <a:r>
              <a:rPr lang="en-US" altLang="zh-CN" sz="1600" dirty="0"/>
              <a:t>8</a:t>
            </a:r>
            <a:r>
              <a:rPr lang="zh-CN" altLang="en-US" sz="1600" dirty="0"/>
              <a:t>字节的偏移量对齐，因此较小的选项用</a:t>
            </a:r>
            <a:r>
              <a:rPr lang="en-US" altLang="zh-CN" sz="1600" dirty="0"/>
              <a:t>0</a:t>
            </a:r>
            <a:r>
              <a:rPr lang="zh-CN" altLang="en-US" sz="1600" dirty="0"/>
              <a:t>填充到满足长度为</a:t>
            </a:r>
            <a:r>
              <a:rPr lang="en-US" altLang="zh-CN" sz="1600" dirty="0"/>
              <a:t>8</a:t>
            </a:r>
            <a:r>
              <a:rPr lang="zh-CN" altLang="en-US" sz="1600" dirty="0"/>
              <a:t>字节</a:t>
            </a:r>
            <a:r>
              <a:rPr lang="zh-CN" altLang="en-US" sz="1600" dirty="0" smtClean="0"/>
              <a:t>。</a:t>
            </a:r>
            <a:r>
              <a:rPr lang="en-US" altLang="zh-CN" sz="1600" dirty="0" smtClean="0"/>
              <a:t>Pad1</a:t>
            </a:r>
            <a:r>
              <a:rPr lang="zh-CN" altLang="en-US" sz="1600" dirty="0"/>
              <a:t>选项（类型</a:t>
            </a:r>
            <a:r>
              <a:rPr lang="en-US" altLang="zh-CN" sz="1600" dirty="0"/>
              <a:t>0</a:t>
            </a:r>
            <a:r>
              <a:rPr lang="zh-CN" altLang="en-US" sz="1600" dirty="0"/>
              <a:t>）是唯一缺少长度字段和值字段的选项，它仅有</a:t>
            </a:r>
            <a:r>
              <a:rPr lang="en-US" altLang="zh-CN" sz="1600" dirty="0"/>
              <a:t>1</a:t>
            </a:r>
            <a:r>
              <a:rPr lang="zh-CN" altLang="en-US" sz="1600" dirty="0"/>
              <a:t>字节长</a:t>
            </a:r>
            <a:r>
              <a:rPr lang="zh-CN" altLang="en-US" sz="1600" dirty="0" smtClean="0"/>
              <a:t>，值</a:t>
            </a:r>
            <a:r>
              <a:rPr lang="zh-CN" altLang="en-US" sz="1600" dirty="0"/>
              <a:t>为</a:t>
            </a:r>
            <a:r>
              <a:rPr lang="en-US" altLang="zh-CN" sz="1600" dirty="0"/>
              <a:t>0</a:t>
            </a:r>
            <a:r>
              <a:rPr lang="zh-CN" altLang="en-US" sz="1600" dirty="0" smtClean="0"/>
              <a:t>。</a:t>
            </a:r>
            <a:r>
              <a:rPr lang="en-US" altLang="zh-CN" sz="1600" dirty="0" err="1" smtClean="0"/>
              <a:t>PadN</a:t>
            </a:r>
            <a:r>
              <a:rPr lang="zh-CN" altLang="en-US" sz="1600" dirty="0"/>
              <a:t>选项（类型</a:t>
            </a:r>
            <a:r>
              <a:rPr lang="en-US" altLang="zh-CN" sz="1600" dirty="0"/>
              <a:t>1</a:t>
            </a:r>
            <a:r>
              <a:rPr lang="zh-CN" altLang="en-US" sz="1600" dirty="0"/>
              <a:t>）</a:t>
            </a:r>
            <a:r>
              <a:rPr lang="zh-CN" altLang="en-US" sz="1600" dirty="0" smtClean="0"/>
              <a:t>向首部的</a:t>
            </a:r>
            <a:r>
              <a:rPr lang="zh-CN" altLang="en-US" sz="1600" dirty="0"/>
              <a:t>选项区域填充</a:t>
            </a:r>
            <a:r>
              <a:rPr lang="en-US" altLang="zh-CN" sz="1600" dirty="0"/>
              <a:t>2</a:t>
            </a:r>
            <a:r>
              <a:rPr lang="zh-CN" altLang="en-US" sz="1600" dirty="0"/>
              <a:t>字节或更多字节，并使用</a:t>
            </a:r>
            <a:r>
              <a:rPr lang="en-US" altLang="zh-CN" sz="1600" dirty="0"/>
              <a:t>TLV</a:t>
            </a:r>
            <a:r>
              <a:rPr lang="zh-CN" altLang="en-US" sz="1600" dirty="0"/>
              <a:t>的格式。对于</a:t>
            </a:r>
            <a:r>
              <a:rPr lang="en-US" altLang="zh-CN" sz="1600" dirty="0" smtClean="0"/>
              <a:t>n</a:t>
            </a:r>
            <a:r>
              <a:rPr lang="zh-CN" altLang="en-US" sz="1600" dirty="0" smtClean="0"/>
              <a:t>个填</a:t>
            </a:r>
            <a:r>
              <a:rPr lang="zh-CN" altLang="en-US" sz="1600" dirty="0"/>
              <a:t>充字节，选项数据长度字段包含的值为 </a:t>
            </a:r>
            <a:r>
              <a:rPr lang="en-US" altLang="zh-CN" sz="1600" dirty="0"/>
              <a:t>(n-2)</a:t>
            </a:r>
            <a:r>
              <a:rPr lang="zh-CN" altLang="en-US" sz="1600" dirty="0" smtClean="0"/>
              <a:t>。</a:t>
            </a:r>
            <a:endParaRPr lang="en-US" altLang="zh-CN" sz="1600" dirty="0" smtClean="0"/>
          </a:p>
          <a:p>
            <a:pPr lvl="1"/>
            <a:endParaRPr lang="en-US" altLang="zh-CN" sz="1600" dirty="0"/>
          </a:p>
          <a:p>
            <a:pPr lvl="1"/>
            <a:endParaRPr lang="en-US" altLang="zh-CN" sz="1600" dirty="0" smtClean="0"/>
          </a:p>
          <a:p>
            <a:pPr marL="457200" lvl="1" indent="0">
              <a:buNone/>
            </a:pPr>
            <a:endParaRPr lang="zh-CN" altLang="en-US" sz="1600" dirty="0"/>
          </a:p>
          <a:p>
            <a:endParaRPr lang="en-US" altLang="zh-CN" sz="2000" dirty="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6" name="Pictur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66569" y="3326278"/>
            <a:ext cx="1619885" cy="410845"/>
          </a:xfrm>
          <a:prstGeom prst="rect">
            <a:avLst/>
          </a:prstGeom>
          <a:noFill/>
        </p:spPr>
      </p:pic>
      <p:pic>
        <p:nvPicPr>
          <p:cNvPr id="7" name="Picture 6"/>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4502" y="3326278"/>
            <a:ext cx="4499610" cy="414020"/>
          </a:xfrm>
          <a:prstGeom prst="rect">
            <a:avLst/>
          </a:prstGeom>
          <a:noFill/>
        </p:spPr>
      </p:pic>
    </p:spTree>
    <p:extLst>
      <p:ext uri="{BB962C8B-B14F-4D97-AF65-F5344CB8AC3E}">
        <p14:creationId xmlns:p14="http://schemas.microsoft.com/office/powerpoint/2010/main" val="539507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smtClean="0"/>
              <a:t>路由首部</a:t>
            </a:r>
            <a:endParaRPr lang="en-US" altLang="zh-CN" sz="2000" dirty="0" smtClean="0"/>
          </a:p>
          <a:p>
            <a:pPr lvl="1"/>
            <a:r>
              <a:rPr lang="zh-CN" altLang="en-US" sz="1600" dirty="0"/>
              <a:t>路由首部用于 </a:t>
            </a:r>
            <a:r>
              <a:rPr lang="en-US" altLang="zh-CN" sz="1600" dirty="0"/>
              <a:t>IPv6 </a:t>
            </a:r>
            <a:r>
              <a:rPr lang="zh-CN" altLang="en-US" sz="1600" dirty="0"/>
              <a:t>源节点列出到包的目标节点的路径中，应</a:t>
            </a:r>
            <a:r>
              <a:rPr lang="en-US" altLang="zh-CN" sz="1600" dirty="0"/>
              <a:t>"</a:t>
            </a:r>
            <a:r>
              <a:rPr lang="zh-CN" altLang="en-US" sz="1600" dirty="0"/>
              <a:t>访问</a:t>
            </a:r>
            <a:r>
              <a:rPr lang="en-US" altLang="zh-CN" sz="1600" dirty="0"/>
              <a:t>"</a:t>
            </a:r>
            <a:r>
              <a:rPr lang="zh-CN" altLang="en-US" sz="1600" dirty="0"/>
              <a:t>的一个或多个中间节点。</a:t>
            </a:r>
            <a:endParaRPr lang="en-US" altLang="zh-CN" sz="1600" dirty="0" smtClean="0"/>
          </a:p>
          <a:p>
            <a:endParaRPr lang="en-US" altLang="zh-CN" sz="2000" dirty="0"/>
          </a:p>
          <a:p>
            <a:endParaRPr lang="en-US" altLang="zh-CN" sz="2000" dirty="0" smtClean="0"/>
          </a:p>
          <a:p>
            <a:endParaRPr lang="en-US" altLang="zh-CN" sz="2000" dirty="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2907" y="2981809"/>
            <a:ext cx="5939790" cy="1048385"/>
          </a:xfrm>
          <a:prstGeom prst="rect">
            <a:avLst/>
          </a:prstGeom>
          <a:noFill/>
        </p:spPr>
      </p:pic>
      <p:graphicFrame>
        <p:nvGraphicFramePr>
          <p:cNvPr id="9" name="Table 8"/>
          <p:cNvGraphicFramePr>
            <a:graphicFrameLocks noGrp="1"/>
          </p:cNvGraphicFramePr>
          <p:nvPr>
            <p:extLst>
              <p:ext uri="{D42A27DB-BD31-4B8C-83A1-F6EECF244321}">
                <p14:modId xmlns:p14="http://schemas.microsoft.com/office/powerpoint/2010/main" val="2443324523"/>
              </p:ext>
            </p:extLst>
          </p:nvPr>
        </p:nvGraphicFramePr>
        <p:xfrm>
          <a:off x="813098" y="4517571"/>
          <a:ext cx="10499408" cy="1066800"/>
        </p:xfrm>
        <a:graphic>
          <a:graphicData uri="http://schemas.openxmlformats.org/drawingml/2006/table">
            <a:tbl>
              <a:tblPr firstCol="1" bandRow="1">
                <a:tableStyleId>{5C22544A-7EE6-4342-B048-85BDC9FD1C3A}</a:tableStyleId>
              </a:tblPr>
              <a:tblGrid>
                <a:gridCol w="1470660">
                  <a:extLst>
                    <a:ext uri="{9D8B030D-6E8A-4147-A177-3AD203B41FA5}">
                      <a16:colId xmlns:a16="http://schemas.microsoft.com/office/drawing/2014/main" val="1924858901"/>
                    </a:ext>
                  </a:extLst>
                </a:gridCol>
                <a:gridCol w="9028748">
                  <a:extLst>
                    <a:ext uri="{9D8B030D-6E8A-4147-A177-3AD203B41FA5}">
                      <a16:colId xmlns:a16="http://schemas.microsoft.com/office/drawing/2014/main" val="2885399587"/>
                    </a:ext>
                  </a:extLst>
                </a:gridCol>
              </a:tblGrid>
              <a:tr h="0">
                <a:tc>
                  <a:txBody>
                    <a:bodyPr/>
                    <a:lstStyle/>
                    <a:p>
                      <a:pPr algn="l">
                        <a:spcAft>
                          <a:spcPts val="0"/>
                        </a:spcAft>
                      </a:pPr>
                      <a:r>
                        <a:rPr lang="zh-CN" sz="1400" kern="100">
                          <a:effectLst/>
                        </a:rPr>
                        <a:t>下一个首部</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dirty="0">
                          <a:effectLst/>
                        </a:rPr>
                        <a:t>8</a:t>
                      </a:r>
                      <a:r>
                        <a:rPr lang="zh-CN" sz="1400" kern="100" dirty="0">
                          <a:effectLst/>
                        </a:rPr>
                        <a:t>位</a:t>
                      </a:r>
                      <a:r>
                        <a:rPr lang="en-US" sz="1400" kern="100" dirty="0">
                          <a:effectLst/>
                        </a:rPr>
                        <a:t>selector</a:t>
                      </a:r>
                      <a:r>
                        <a:rPr lang="zh-CN" sz="1400" kern="100" dirty="0">
                          <a:effectLst/>
                        </a:rPr>
                        <a:t>，标识紧跟在路由首部之后的首部的类型。</a:t>
                      </a:r>
                      <a:endParaRPr lang="zh-CN" sz="1400" kern="100" dirty="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684754145"/>
                  </a:ext>
                </a:extLst>
              </a:tr>
              <a:tr h="0">
                <a:tc>
                  <a:txBody>
                    <a:bodyPr/>
                    <a:lstStyle/>
                    <a:p>
                      <a:pPr algn="l">
                        <a:spcAft>
                          <a:spcPts val="0"/>
                        </a:spcAft>
                      </a:pPr>
                      <a:r>
                        <a:rPr lang="zh-CN" sz="1400" kern="100">
                          <a:effectLst/>
                        </a:rPr>
                        <a:t>首部扩展长度</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a:effectLst/>
                        </a:rPr>
                        <a:t>8</a:t>
                      </a:r>
                      <a:r>
                        <a:rPr lang="zh-CN" sz="1400" kern="100">
                          <a:effectLst/>
                        </a:rPr>
                        <a:t>位无符号整数，以</a:t>
                      </a:r>
                      <a:r>
                        <a:rPr lang="en-US" sz="1400" kern="100">
                          <a:effectLst/>
                        </a:rPr>
                        <a:t>8</a:t>
                      </a:r>
                      <a:r>
                        <a:rPr lang="zh-CN" sz="1400" kern="100">
                          <a:effectLst/>
                        </a:rPr>
                        <a:t>个字节位单位的路由首部的长度，不包括前</a:t>
                      </a:r>
                      <a:r>
                        <a:rPr lang="en-US" sz="1400" kern="100">
                          <a:effectLst/>
                        </a:rPr>
                        <a:t>8</a:t>
                      </a:r>
                      <a:r>
                        <a:rPr lang="zh-CN" sz="1400" kern="100">
                          <a:effectLst/>
                        </a:rPr>
                        <a:t>字节。</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320738088"/>
                  </a:ext>
                </a:extLst>
              </a:tr>
              <a:tr h="0">
                <a:tc>
                  <a:txBody>
                    <a:bodyPr/>
                    <a:lstStyle/>
                    <a:p>
                      <a:pPr algn="l">
                        <a:spcAft>
                          <a:spcPts val="0"/>
                        </a:spcAft>
                      </a:pPr>
                      <a:r>
                        <a:rPr lang="zh-CN" sz="1400" kern="100">
                          <a:effectLst/>
                        </a:rPr>
                        <a:t>路由类型</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a:effectLst/>
                        </a:rPr>
                        <a:t>8</a:t>
                      </a:r>
                      <a:r>
                        <a:rPr lang="zh-CN" sz="1400" kern="100">
                          <a:effectLst/>
                        </a:rPr>
                        <a:t>位，某种特定路由首部变量的标识符。</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371468528"/>
                  </a:ext>
                </a:extLst>
              </a:tr>
              <a:tr h="0">
                <a:tc>
                  <a:txBody>
                    <a:bodyPr/>
                    <a:lstStyle/>
                    <a:p>
                      <a:pPr algn="l">
                        <a:spcAft>
                          <a:spcPts val="0"/>
                        </a:spcAft>
                      </a:pPr>
                      <a:r>
                        <a:rPr lang="zh-CN" sz="1400" kern="100">
                          <a:effectLst/>
                        </a:rPr>
                        <a:t>剩余路由段</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a:effectLst/>
                        </a:rPr>
                        <a:t>8</a:t>
                      </a:r>
                      <a:r>
                        <a:rPr lang="zh-CN" sz="1400" kern="100">
                          <a:effectLst/>
                        </a:rPr>
                        <a:t>位无符号整数，剩余的路由段数量，即在到达最终的目的节点之前仍然应访问的，明确列出的中间节点的数量。</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001806299"/>
                  </a:ext>
                </a:extLst>
              </a:tr>
              <a:tr h="0">
                <a:tc>
                  <a:txBody>
                    <a:bodyPr/>
                    <a:lstStyle/>
                    <a:p>
                      <a:pPr algn="l">
                        <a:spcAft>
                          <a:spcPts val="0"/>
                        </a:spcAft>
                      </a:pPr>
                      <a:r>
                        <a:rPr lang="zh-CN" sz="1400" kern="100">
                          <a:effectLst/>
                        </a:rPr>
                        <a:t>特定类型的数据</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zh-CN" sz="1400" kern="100" dirty="0">
                          <a:effectLst/>
                        </a:rPr>
                        <a:t>可变长度字段，其格式由路由类型决定，其长度须使整个路由首部的长度为</a:t>
                      </a:r>
                      <a:r>
                        <a:rPr lang="en-US" sz="1400" kern="100" dirty="0">
                          <a:effectLst/>
                        </a:rPr>
                        <a:t>8</a:t>
                      </a:r>
                      <a:r>
                        <a:rPr lang="zh-CN" sz="1400" kern="100" dirty="0">
                          <a:effectLst/>
                        </a:rPr>
                        <a:t>字节的整数倍</a:t>
                      </a:r>
                      <a:endParaRPr lang="zh-CN" sz="1400" kern="100" dirty="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618413093"/>
                  </a:ext>
                </a:extLst>
              </a:tr>
            </a:tbl>
          </a:graphicData>
        </a:graphic>
      </p:graphicFrame>
    </p:spTree>
    <p:extLst>
      <p:ext uri="{BB962C8B-B14F-4D97-AF65-F5344CB8AC3E}">
        <p14:creationId xmlns:p14="http://schemas.microsoft.com/office/powerpoint/2010/main" val="31263752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smtClean="0"/>
              <a:t>路由首部</a:t>
            </a:r>
            <a:endParaRPr lang="en-US" altLang="zh-CN" sz="2000" dirty="0" smtClean="0"/>
          </a:p>
          <a:p>
            <a:pPr lvl="1"/>
            <a:r>
              <a:rPr lang="en-US" altLang="zh-CN" sz="1600" dirty="0" smtClean="0"/>
              <a:t>0</a:t>
            </a:r>
            <a:r>
              <a:rPr lang="zh-CN" altLang="en-US" sz="1600" dirty="0" smtClean="0"/>
              <a:t>型路</a:t>
            </a:r>
            <a:r>
              <a:rPr lang="zh-CN" altLang="en-US" sz="1600" dirty="0"/>
              <a:t>由首</a:t>
            </a:r>
            <a:r>
              <a:rPr lang="zh-CN" altLang="en-US" sz="1600" dirty="0" smtClean="0"/>
              <a:t>部</a:t>
            </a:r>
            <a:endParaRPr lang="en-US" altLang="zh-CN" sz="1600" dirty="0" smtClean="0"/>
          </a:p>
          <a:p>
            <a:endParaRPr lang="en-US" altLang="zh-CN" sz="2000" dirty="0"/>
          </a:p>
          <a:p>
            <a:endParaRPr lang="en-US" altLang="zh-CN" sz="2000" dirty="0" smtClean="0"/>
          </a:p>
          <a:p>
            <a:endParaRPr lang="en-US" altLang="zh-CN" sz="2000" dirty="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2907" y="2459004"/>
            <a:ext cx="5939790" cy="3518535"/>
          </a:xfrm>
          <a:prstGeom prst="rect">
            <a:avLst/>
          </a:prstGeom>
          <a:noFill/>
        </p:spPr>
      </p:pic>
    </p:spTree>
    <p:extLst>
      <p:ext uri="{BB962C8B-B14F-4D97-AF65-F5344CB8AC3E}">
        <p14:creationId xmlns:p14="http://schemas.microsoft.com/office/powerpoint/2010/main" val="127662335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smtClean="0"/>
              <a:t>路由首部</a:t>
            </a:r>
            <a:endParaRPr lang="en-US" altLang="zh-CN" sz="2000" dirty="0" smtClean="0"/>
          </a:p>
          <a:p>
            <a:endParaRPr lang="en-US" altLang="zh-CN" sz="2000" dirty="0" smtClean="0"/>
          </a:p>
          <a:p>
            <a:endParaRPr lang="en-US" altLang="zh-CN" sz="2000" dirty="0"/>
          </a:p>
          <a:p>
            <a:endParaRPr lang="en-US" altLang="zh-CN" sz="2000" dirty="0" smtClean="0"/>
          </a:p>
          <a:p>
            <a:endParaRPr lang="en-US" altLang="zh-CN" sz="2000" dirty="0"/>
          </a:p>
          <a:p>
            <a:endParaRPr lang="en-US" altLang="zh-CN" sz="2000" dirty="0" smtClean="0"/>
          </a:p>
          <a:p>
            <a:endParaRPr lang="en-US" altLang="zh-CN" sz="2000" dirty="0"/>
          </a:p>
          <a:p>
            <a:endParaRPr lang="en-US" altLang="zh-CN" sz="2000" dirty="0" smtClean="0"/>
          </a:p>
          <a:p>
            <a:endParaRPr lang="en-US" altLang="zh-CN" sz="2000" dirty="0" smtClean="0"/>
          </a:p>
          <a:p>
            <a:pPr lvl="1"/>
            <a:r>
              <a:rPr lang="zh-CN" altLang="en-US" sz="1600" dirty="0" smtClean="0"/>
              <a:t>由</a:t>
            </a:r>
            <a:r>
              <a:rPr lang="zh-CN" altLang="en-US" sz="1600" dirty="0"/>
              <a:t>于</a:t>
            </a:r>
            <a:r>
              <a:rPr lang="en-US" altLang="zh-CN" sz="1600" dirty="0"/>
              <a:t>0</a:t>
            </a:r>
            <a:r>
              <a:rPr lang="zh-CN" altLang="en-US" sz="1600" dirty="0"/>
              <a:t>型路由可用于增加</a:t>
            </a:r>
            <a:r>
              <a:rPr lang="en-US" altLang="zh-CN" sz="1600" dirty="0" err="1"/>
              <a:t>DoS</a:t>
            </a:r>
            <a:r>
              <a:rPr lang="zh-CN" altLang="en-US" sz="1600" dirty="0"/>
              <a:t>攻击效果，已经在</a:t>
            </a:r>
            <a:r>
              <a:rPr lang="en-US" altLang="zh-CN" sz="1600" dirty="0"/>
              <a:t>[RFC - 5095]</a:t>
            </a:r>
            <a:r>
              <a:rPr lang="zh-CN" altLang="en-US" sz="1600" dirty="0"/>
              <a:t>中将其废弃。目前</a:t>
            </a:r>
            <a:r>
              <a:rPr lang="en-US" altLang="zh-CN" sz="1600" dirty="0"/>
              <a:t>IPv6</a:t>
            </a:r>
            <a:r>
              <a:rPr lang="zh-CN" altLang="en-US" sz="1600" dirty="0"/>
              <a:t>唯一支持的路由首部是</a:t>
            </a:r>
            <a:r>
              <a:rPr lang="en-US" altLang="zh-CN" sz="1600" dirty="0"/>
              <a:t>2</a:t>
            </a:r>
            <a:r>
              <a:rPr lang="zh-CN" altLang="en-US" sz="1600" dirty="0"/>
              <a:t>型路由首部，它与</a:t>
            </a:r>
            <a:r>
              <a:rPr lang="en-US" altLang="zh-CN" sz="1600" dirty="0"/>
              <a:t>0</a:t>
            </a:r>
            <a:r>
              <a:rPr lang="zh-CN" altLang="en-US" sz="1600" dirty="0"/>
              <a:t>型路由首部的区别是：只容纳</a:t>
            </a:r>
            <a:r>
              <a:rPr lang="en-US" altLang="zh-CN" sz="1600" dirty="0"/>
              <a:t>1</a:t>
            </a:r>
            <a:r>
              <a:rPr lang="zh-CN" altLang="en-US" sz="1600" dirty="0"/>
              <a:t>个地址，在路由类型字段中的值为</a:t>
            </a:r>
            <a:r>
              <a:rPr lang="en-US" altLang="zh-CN" sz="1600" dirty="0"/>
              <a:t>2</a:t>
            </a:r>
            <a:r>
              <a:rPr lang="zh-CN" altLang="en-US" sz="1600" dirty="0"/>
              <a:t>，剩余路由段字段中的值为</a:t>
            </a:r>
            <a:r>
              <a:rPr lang="en-US" altLang="zh-CN" sz="1600" dirty="0"/>
              <a:t>1</a:t>
            </a:r>
            <a:r>
              <a:rPr lang="zh-CN" altLang="en-US" sz="1600" dirty="0"/>
              <a:t>。</a:t>
            </a:r>
            <a:endParaRPr lang="en-US" altLang="zh-CN" sz="1600" dirty="0" smtClean="0"/>
          </a:p>
          <a:p>
            <a:endParaRPr lang="en-US" altLang="zh-CN" sz="2000" dirty="0" smtClean="0"/>
          </a:p>
          <a:p>
            <a:endParaRPr lang="en-US" altLang="zh-CN" sz="2000" dirty="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6047" y="2210435"/>
            <a:ext cx="4319905" cy="2437130"/>
          </a:xfrm>
          <a:prstGeom prst="rect">
            <a:avLst/>
          </a:prstGeom>
          <a:noFill/>
        </p:spPr>
      </p:pic>
    </p:spTree>
    <p:extLst>
      <p:ext uri="{BB962C8B-B14F-4D97-AF65-F5344CB8AC3E}">
        <p14:creationId xmlns:p14="http://schemas.microsoft.com/office/powerpoint/2010/main" val="286096436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a:t>分片</a:t>
            </a:r>
            <a:r>
              <a:rPr lang="zh-CN" altLang="en-US" sz="2000" dirty="0" smtClean="0"/>
              <a:t>首部</a:t>
            </a:r>
            <a:endParaRPr lang="en-US" altLang="zh-CN" sz="2000" dirty="0" smtClean="0"/>
          </a:p>
          <a:p>
            <a:pPr lvl="1"/>
            <a:r>
              <a:rPr lang="en-US" altLang="zh-CN" sz="1600" dirty="0"/>
              <a:t>IPv6</a:t>
            </a:r>
            <a:r>
              <a:rPr lang="zh-CN" altLang="en-US" sz="1600" dirty="0"/>
              <a:t>源端使用分片首部来向其目标段发送大于路径</a:t>
            </a:r>
            <a:r>
              <a:rPr lang="en-US" altLang="zh-CN" sz="1600" dirty="0"/>
              <a:t>MTU</a:t>
            </a:r>
            <a:r>
              <a:rPr lang="zh-CN" altLang="en-US" sz="1600" dirty="0"/>
              <a:t>的包（与</a:t>
            </a:r>
            <a:r>
              <a:rPr lang="en-US" altLang="zh-CN" sz="1600" dirty="0"/>
              <a:t>IPv4</a:t>
            </a:r>
            <a:r>
              <a:rPr lang="zh-CN" altLang="en-US" sz="1600" dirty="0"/>
              <a:t>不同，</a:t>
            </a:r>
            <a:r>
              <a:rPr lang="en-US" altLang="zh-CN" sz="1600" dirty="0"/>
              <a:t>IPv6</a:t>
            </a:r>
            <a:r>
              <a:rPr lang="zh-CN" altLang="en-US" sz="1600" dirty="0"/>
              <a:t>中的分片只由源节点执行，包的传输路径中的路由器不执行）。</a:t>
            </a:r>
            <a:endParaRPr lang="en-US" altLang="zh-CN" sz="1600" dirty="0" smtClean="0"/>
          </a:p>
          <a:p>
            <a:endParaRPr lang="en-US" altLang="zh-CN" sz="2000" dirty="0"/>
          </a:p>
          <a:p>
            <a:endParaRPr lang="en-US" altLang="zh-CN" sz="2000" dirty="0" smtClean="0"/>
          </a:p>
          <a:p>
            <a:endParaRPr lang="en-US" altLang="zh-CN" sz="2000" dirty="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8" name="Picture 7"/>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2907" y="3123348"/>
            <a:ext cx="5939790" cy="630555"/>
          </a:xfrm>
          <a:prstGeom prst="rect">
            <a:avLst/>
          </a:prstGeom>
          <a:noFill/>
        </p:spPr>
      </p:pic>
      <p:graphicFrame>
        <p:nvGraphicFramePr>
          <p:cNvPr id="9" name="Table 8"/>
          <p:cNvGraphicFramePr>
            <a:graphicFrameLocks noGrp="1"/>
          </p:cNvGraphicFramePr>
          <p:nvPr>
            <p:extLst>
              <p:ext uri="{D42A27DB-BD31-4B8C-83A1-F6EECF244321}">
                <p14:modId xmlns:p14="http://schemas.microsoft.com/office/powerpoint/2010/main" val="1979587228"/>
              </p:ext>
            </p:extLst>
          </p:nvPr>
        </p:nvGraphicFramePr>
        <p:xfrm>
          <a:off x="2190254" y="4049752"/>
          <a:ext cx="7745095" cy="1280160"/>
        </p:xfrm>
        <a:graphic>
          <a:graphicData uri="http://schemas.openxmlformats.org/drawingml/2006/table">
            <a:tbl>
              <a:tblPr firstCol="1" bandRow="1">
                <a:tableStyleId>{5C22544A-7EE6-4342-B048-85BDC9FD1C3A}</a:tableStyleId>
              </a:tblPr>
              <a:tblGrid>
                <a:gridCol w="1115060">
                  <a:extLst>
                    <a:ext uri="{9D8B030D-6E8A-4147-A177-3AD203B41FA5}">
                      <a16:colId xmlns:a16="http://schemas.microsoft.com/office/drawing/2014/main" val="2857817090"/>
                    </a:ext>
                  </a:extLst>
                </a:gridCol>
                <a:gridCol w="6630035">
                  <a:extLst>
                    <a:ext uri="{9D8B030D-6E8A-4147-A177-3AD203B41FA5}">
                      <a16:colId xmlns:a16="http://schemas.microsoft.com/office/drawing/2014/main" val="1493211582"/>
                    </a:ext>
                  </a:extLst>
                </a:gridCol>
              </a:tblGrid>
              <a:tr h="140028">
                <a:tc>
                  <a:txBody>
                    <a:bodyPr/>
                    <a:lstStyle/>
                    <a:p>
                      <a:pPr algn="l">
                        <a:spcAft>
                          <a:spcPts val="0"/>
                        </a:spcAft>
                      </a:pPr>
                      <a:r>
                        <a:rPr lang="zh-CN" sz="1400" kern="100">
                          <a:effectLst/>
                        </a:rPr>
                        <a:t>下一个首部</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a:effectLst/>
                        </a:rPr>
                        <a:t>8</a:t>
                      </a:r>
                      <a:r>
                        <a:rPr lang="zh-CN" sz="1400" kern="100">
                          <a:effectLst/>
                        </a:rPr>
                        <a:t>位</a:t>
                      </a:r>
                      <a:r>
                        <a:rPr lang="en-US" sz="1400" kern="100">
                          <a:effectLst/>
                        </a:rPr>
                        <a:t>selector</a:t>
                      </a:r>
                      <a:r>
                        <a:rPr lang="zh-CN" sz="1400" kern="100">
                          <a:effectLst/>
                        </a:rPr>
                        <a:t>，标识原始包可分片部分的初始首部类型。</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161655783"/>
                  </a:ext>
                </a:extLst>
              </a:tr>
              <a:tr h="0">
                <a:tc>
                  <a:txBody>
                    <a:bodyPr/>
                    <a:lstStyle/>
                    <a:p>
                      <a:pPr algn="l">
                        <a:spcAft>
                          <a:spcPts val="0"/>
                        </a:spcAft>
                      </a:pPr>
                      <a:r>
                        <a:rPr lang="zh-CN" sz="1400" kern="100">
                          <a:effectLst/>
                        </a:rPr>
                        <a:t>保留</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a:effectLst/>
                        </a:rPr>
                        <a:t>8</a:t>
                      </a:r>
                      <a:r>
                        <a:rPr lang="zh-CN" sz="1400" kern="100">
                          <a:effectLst/>
                        </a:rPr>
                        <a:t>位保留字段，传输时初始化为</a:t>
                      </a:r>
                      <a:r>
                        <a:rPr lang="en-US" sz="1400" kern="100">
                          <a:effectLst/>
                        </a:rPr>
                        <a:t>0</a:t>
                      </a:r>
                      <a:r>
                        <a:rPr lang="zh-CN" sz="1400" kern="100">
                          <a:effectLst/>
                        </a:rPr>
                        <a:t>，接收时忽略。</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826749168"/>
                  </a:ext>
                </a:extLst>
              </a:tr>
              <a:tr h="0">
                <a:tc>
                  <a:txBody>
                    <a:bodyPr/>
                    <a:lstStyle/>
                    <a:p>
                      <a:pPr algn="l">
                        <a:spcAft>
                          <a:spcPts val="0"/>
                        </a:spcAft>
                      </a:pPr>
                      <a:r>
                        <a:rPr lang="zh-CN" sz="1400" kern="100">
                          <a:effectLst/>
                        </a:rPr>
                        <a:t>分片偏移</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a:effectLst/>
                        </a:rPr>
                        <a:t>13</a:t>
                      </a:r>
                      <a:r>
                        <a:rPr lang="zh-CN" sz="1400" kern="100">
                          <a:effectLst/>
                        </a:rPr>
                        <a:t>位无符号整数，首部之后的数据的偏移量，与原始包可分片部分的开始处相关。</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688102676"/>
                  </a:ext>
                </a:extLst>
              </a:tr>
              <a:tr h="0">
                <a:tc>
                  <a:txBody>
                    <a:bodyPr/>
                    <a:lstStyle/>
                    <a:p>
                      <a:pPr algn="l">
                        <a:spcAft>
                          <a:spcPts val="0"/>
                        </a:spcAft>
                      </a:pPr>
                      <a:r>
                        <a:rPr lang="en-US" sz="1400" kern="100">
                          <a:effectLst/>
                        </a:rPr>
                        <a:t>Res</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a:effectLst/>
                        </a:rPr>
                        <a:t>2</a:t>
                      </a:r>
                      <a:r>
                        <a:rPr lang="zh-CN" sz="1400" kern="100">
                          <a:effectLst/>
                        </a:rPr>
                        <a:t>位保留字段，传输时初始化为</a:t>
                      </a:r>
                      <a:r>
                        <a:rPr lang="en-US" sz="1400" kern="100">
                          <a:effectLst/>
                        </a:rPr>
                        <a:t>0</a:t>
                      </a:r>
                      <a:r>
                        <a:rPr lang="zh-CN" sz="1400" kern="100">
                          <a:effectLst/>
                        </a:rPr>
                        <a:t>，接收时忽略。</a:t>
                      </a:r>
                      <a:endParaRPr lang="zh-CN" sz="1400" kern="10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1259590141"/>
                  </a:ext>
                </a:extLst>
              </a:tr>
              <a:tr h="0">
                <a:tc>
                  <a:txBody>
                    <a:bodyPr/>
                    <a:lstStyle/>
                    <a:p>
                      <a:pPr algn="l">
                        <a:spcAft>
                          <a:spcPts val="0"/>
                        </a:spcAft>
                      </a:pPr>
                      <a:r>
                        <a:rPr lang="en-US" sz="1400" kern="100">
                          <a:effectLst/>
                        </a:rPr>
                        <a:t>M</a:t>
                      </a:r>
                      <a:r>
                        <a:rPr lang="zh-CN" sz="1400" kern="100">
                          <a:effectLst/>
                        </a:rPr>
                        <a:t>标志位</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dirty="0">
                          <a:effectLst/>
                        </a:rPr>
                        <a:t>1 = </a:t>
                      </a:r>
                      <a:r>
                        <a:rPr lang="zh-CN" sz="1400" kern="100" dirty="0">
                          <a:effectLst/>
                        </a:rPr>
                        <a:t>有更多的分片；</a:t>
                      </a:r>
                      <a:r>
                        <a:rPr lang="en-US" sz="1400" kern="100" dirty="0">
                          <a:effectLst/>
                        </a:rPr>
                        <a:t>0 = </a:t>
                      </a:r>
                      <a:r>
                        <a:rPr lang="zh-CN" sz="1400" kern="100" dirty="0">
                          <a:effectLst/>
                        </a:rPr>
                        <a:t>最后的分片</a:t>
                      </a:r>
                      <a:endParaRPr lang="zh-CN" sz="1400" kern="100" dirty="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073663169"/>
                  </a:ext>
                </a:extLst>
              </a:tr>
              <a:tr h="0">
                <a:tc>
                  <a:txBody>
                    <a:bodyPr/>
                    <a:lstStyle/>
                    <a:p>
                      <a:pPr algn="l">
                        <a:spcAft>
                          <a:spcPts val="0"/>
                        </a:spcAft>
                      </a:pPr>
                      <a:r>
                        <a:rPr lang="zh-CN" sz="1400" kern="100">
                          <a:effectLst/>
                        </a:rPr>
                        <a:t>标识符</a:t>
                      </a:r>
                      <a:endParaRPr lang="zh-CN" sz="1400" kern="100">
                        <a:effectLst/>
                        <a:latin typeface="DengXian"/>
                        <a:ea typeface="DengXian"/>
                        <a:cs typeface="Times New Roman" panose="02020603050405020304" pitchFamily="18" charset="0"/>
                      </a:endParaRPr>
                    </a:p>
                  </a:txBody>
                  <a:tcPr marL="68580" marR="68580" marT="0" marB="0"/>
                </a:tc>
                <a:tc>
                  <a:txBody>
                    <a:bodyPr/>
                    <a:lstStyle/>
                    <a:p>
                      <a:pPr algn="l">
                        <a:spcAft>
                          <a:spcPts val="600"/>
                        </a:spcAft>
                      </a:pPr>
                      <a:r>
                        <a:rPr lang="en-US" sz="1400" kern="100" dirty="0">
                          <a:effectLst/>
                        </a:rPr>
                        <a:t>32</a:t>
                      </a:r>
                      <a:r>
                        <a:rPr lang="zh-CN" sz="1400" kern="100" dirty="0">
                          <a:effectLst/>
                        </a:rPr>
                        <a:t>位</a:t>
                      </a:r>
                      <a:r>
                        <a:rPr lang="zh-CN" sz="1400" kern="100" dirty="0" smtClean="0">
                          <a:effectLst/>
                        </a:rPr>
                        <a:t>，</a:t>
                      </a:r>
                      <a:r>
                        <a:rPr lang="zh-CN" altLang="en-US" sz="1400" kern="100" dirty="0" smtClean="0">
                          <a:effectLst/>
                        </a:rPr>
                        <a:t>数据包编号</a:t>
                      </a:r>
                      <a:endParaRPr lang="zh-CN" sz="1400" kern="100" dirty="0">
                        <a:effectLst/>
                        <a:latin typeface="DengXian"/>
                        <a:ea typeface="DengXian"/>
                        <a:cs typeface="Times New Roman" panose="02020603050405020304" pitchFamily="18" charset="0"/>
                      </a:endParaRPr>
                    </a:p>
                  </a:txBody>
                  <a:tcPr marL="68580" marR="68580" marT="0" marB="0"/>
                </a:tc>
                <a:extLst>
                  <a:ext uri="{0D108BD9-81ED-4DB2-BD59-A6C34878D82A}">
                    <a16:rowId xmlns:a16="http://schemas.microsoft.com/office/drawing/2014/main" val="246107666"/>
                  </a:ext>
                </a:extLst>
              </a:tr>
            </a:tbl>
          </a:graphicData>
        </a:graphic>
      </p:graphicFrame>
    </p:spTree>
    <p:extLst>
      <p:ext uri="{BB962C8B-B14F-4D97-AF65-F5344CB8AC3E}">
        <p14:creationId xmlns:p14="http://schemas.microsoft.com/office/powerpoint/2010/main" val="6427355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a:t>分片</a:t>
            </a:r>
            <a:r>
              <a:rPr lang="zh-CN" altLang="en-US" sz="2000" dirty="0" smtClean="0"/>
              <a:t>首部</a:t>
            </a:r>
            <a:endParaRPr lang="en-US" altLang="zh-CN" sz="2000" dirty="0" smtClean="0"/>
          </a:p>
          <a:p>
            <a:endParaRPr lang="en-US" altLang="zh-CN" sz="2000" dirty="0"/>
          </a:p>
          <a:p>
            <a:endParaRPr lang="en-US" altLang="zh-CN" sz="2000" dirty="0" smtClean="0"/>
          </a:p>
          <a:p>
            <a:endParaRPr lang="en-US" altLang="zh-CN" sz="2000" dirty="0"/>
          </a:p>
          <a:p>
            <a:endParaRPr lang="en-US" altLang="zh-CN" sz="2000" dirty="0" smtClean="0"/>
          </a:p>
          <a:p>
            <a:endParaRPr lang="en-US" altLang="zh-CN" sz="2000" dirty="0"/>
          </a:p>
          <a:p>
            <a:endParaRPr lang="en-US" altLang="zh-CN" sz="2000" dirty="0" smtClean="0"/>
          </a:p>
          <a:p>
            <a:pPr lvl="1"/>
            <a:r>
              <a:rPr lang="zh-CN" altLang="en-US" sz="1600" dirty="0"/>
              <a:t>不可分片部分包括</a:t>
            </a:r>
            <a:r>
              <a:rPr lang="en-US" altLang="zh-CN" sz="1600" dirty="0"/>
              <a:t>IPv6</a:t>
            </a:r>
            <a:r>
              <a:rPr lang="zh-CN" altLang="en-US" sz="1600" dirty="0"/>
              <a:t>首部和必须由路由中的节点处理的扩展首部。也就是所有路由首部以前</a:t>
            </a:r>
            <a:r>
              <a:rPr lang="en-US" altLang="zh-CN" sz="1600" dirty="0"/>
              <a:t>(</a:t>
            </a:r>
            <a:r>
              <a:rPr lang="zh-CN" altLang="en-US" sz="1600" dirty="0"/>
              <a:t>含路由首部</a:t>
            </a:r>
            <a:r>
              <a:rPr lang="en-US" altLang="zh-CN" sz="1600" dirty="0"/>
              <a:t>)</a:t>
            </a:r>
            <a:r>
              <a:rPr lang="zh-CN" altLang="en-US" sz="1600" dirty="0"/>
              <a:t>的首部</a:t>
            </a:r>
            <a:r>
              <a:rPr lang="en-US" altLang="zh-CN" sz="1600" dirty="0"/>
              <a:t>(</a:t>
            </a:r>
            <a:r>
              <a:rPr lang="zh-CN" altLang="en-US" sz="1600" dirty="0"/>
              <a:t>如果存在的话</a:t>
            </a:r>
            <a:r>
              <a:rPr lang="en-US" altLang="zh-CN" sz="1600" dirty="0"/>
              <a:t>)</a:t>
            </a:r>
            <a:r>
              <a:rPr lang="zh-CN" altLang="en-US" sz="1600" dirty="0"/>
              <a:t>，或者是 逐跳 选项首部</a:t>
            </a:r>
            <a:r>
              <a:rPr lang="en-US" altLang="zh-CN" sz="1600" dirty="0"/>
              <a:t>(</a:t>
            </a:r>
            <a:r>
              <a:rPr lang="zh-CN" altLang="en-US" sz="1600" dirty="0"/>
              <a:t>如果存在的话</a:t>
            </a:r>
            <a:r>
              <a:rPr lang="en-US" altLang="zh-CN" sz="1600" dirty="0"/>
              <a:t>)</a:t>
            </a:r>
            <a:r>
              <a:rPr lang="zh-CN" altLang="en-US" sz="1600" dirty="0"/>
              <a:t>，或者没有扩展首部</a:t>
            </a:r>
            <a:r>
              <a:rPr lang="zh-CN" altLang="en-US" sz="1600" dirty="0" smtClean="0"/>
              <a:t>。</a:t>
            </a:r>
            <a:endParaRPr lang="en-US" altLang="zh-CN" sz="1600" dirty="0" smtClean="0"/>
          </a:p>
          <a:p>
            <a:pPr lvl="1"/>
            <a:r>
              <a:rPr lang="zh-CN" altLang="en-US" sz="1600" dirty="0"/>
              <a:t>可分片部分包括包的剩余部分，也就是只需由包的最终目的节点处理的扩展首部，以及上层协议首部和数据。</a:t>
            </a:r>
            <a:endParaRPr lang="en-US" altLang="zh-CN" sz="1600" dirty="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7" name="Picture 6"/>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83077" y="2329893"/>
            <a:ext cx="5759450" cy="307340"/>
          </a:xfrm>
          <a:prstGeom prst="rect">
            <a:avLst/>
          </a:prstGeom>
          <a:noFill/>
        </p:spPr>
      </p:pic>
      <p:cxnSp>
        <p:nvCxnSpPr>
          <p:cNvPr id="10" name="Straight Arrow Connector 9"/>
          <p:cNvCxnSpPr>
            <a:stCxn id="7" idx="2"/>
            <a:endCxn id="11" idx="0"/>
          </p:cNvCxnSpPr>
          <p:nvPr/>
        </p:nvCxnSpPr>
        <p:spPr>
          <a:xfrm>
            <a:off x="6062802" y="2637233"/>
            <a:ext cx="0" cy="25323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pic>
        <p:nvPicPr>
          <p:cNvPr id="11" name="Picture 10"/>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83077" y="2890464"/>
            <a:ext cx="5759450" cy="318770"/>
          </a:xfrm>
          <a:prstGeom prst="rect">
            <a:avLst/>
          </a:prstGeom>
          <a:noFill/>
        </p:spPr>
      </p:pic>
      <p:pic>
        <p:nvPicPr>
          <p:cNvPr id="13" name="Picture 12"/>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62894" y="3462465"/>
            <a:ext cx="3599815" cy="1096010"/>
          </a:xfrm>
          <a:prstGeom prst="rect">
            <a:avLst/>
          </a:prstGeom>
          <a:noFill/>
        </p:spPr>
      </p:pic>
      <p:cxnSp>
        <p:nvCxnSpPr>
          <p:cNvPr id="14" name="Straight Arrow Connector 13"/>
          <p:cNvCxnSpPr>
            <a:stCxn id="11" idx="2"/>
            <a:endCxn id="13" idx="0"/>
          </p:cNvCxnSpPr>
          <p:nvPr/>
        </p:nvCxnSpPr>
        <p:spPr>
          <a:xfrm>
            <a:off x="6062802" y="3209234"/>
            <a:ext cx="0" cy="25323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81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a:t>认证</a:t>
            </a:r>
            <a:r>
              <a:rPr lang="zh-CN" altLang="en-US" sz="2000" dirty="0" smtClean="0"/>
              <a:t>首部</a:t>
            </a:r>
            <a:endParaRPr lang="en-US" altLang="zh-CN" sz="2000" dirty="0" smtClean="0"/>
          </a:p>
          <a:p>
            <a:pPr lvl="1"/>
            <a:r>
              <a:rPr lang="zh-CN" altLang="en-US" sz="1600" dirty="0" smtClean="0"/>
              <a:t>提</a:t>
            </a:r>
            <a:r>
              <a:rPr lang="zh-CN" altLang="en-US" sz="1600" dirty="0"/>
              <a:t>供了一种源认证于保护</a:t>
            </a:r>
            <a:r>
              <a:rPr lang="en-US" altLang="zh-CN" sz="1600" dirty="0"/>
              <a:t>IP</a:t>
            </a:r>
            <a:r>
              <a:rPr lang="zh-CN" altLang="en-US" sz="1600" dirty="0"/>
              <a:t>数据报完整性的方法，只提供完整性而不提供机密性保护</a:t>
            </a:r>
            <a:r>
              <a:rPr lang="zh-CN" altLang="en-US" sz="1600" dirty="0" smtClean="0"/>
              <a:t>。</a:t>
            </a:r>
            <a:endParaRPr lang="en-US" altLang="zh-CN" sz="1600" dirty="0" smtClean="0"/>
          </a:p>
          <a:p>
            <a:pPr lvl="1"/>
            <a:endParaRPr lang="en-US" altLang="zh-CN" sz="16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smtClean="0"/>
          </a:p>
          <a:p>
            <a:pPr marL="457200" lvl="1" indent="0">
              <a:buNone/>
            </a:pPr>
            <a:r>
              <a:rPr lang="en-US" altLang="zh-CN" sz="1600" dirty="0" smtClean="0"/>
              <a:t>                  </a:t>
            </a:r>
            <a:r>
              <a:rPr lang="zh-CN" altLang="en-US" sz="1600" dirty="0" smtClean="0"/>
              <a:t>传</a:t>
            </a:r>
            <a:r>
              <a:rPr lang="zh-CN" altLang="en-US" sz="1600" dirty="0"/>
              <a:t>输模</a:t>
            </a:r>
            <a:r>
              <a:rPr lang="zh-CN" altLang="en-US" sz="1600" dirty="0" smtClean="0"/>
              <a:t>式                                                                                隧道模式</a:t>
            </a:r>
            <a:endParaRPr lang="en-US" altLang="zh-CN" sz="1600" dirty="0"/>
          </a:p>
          <a:p>
            <a:pPr marL="457200" lvl="1" indent="0">
              <a:buNone/>
            </a:pPr>
            <a:endParaRPr lang="en-US" altLang="zh-CN" sz="1600" dirty="0" smtClean="0"/>
          </a:p>
          <a:p>
            <a:endParaRPr lang="en-US" altLang="zh-CN" sz="2000" dirty="0" smtClean="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12" name="Picture 11" descr="https://img-blog.csdn.net/20160929075610740"/>
          <p:cNvPicPr>
            <a:picLocks noChangeAspect="1"/>
          </p:cNvPicPr>
          <p:nvPr/>
        </p:nvPicPr>
        <p:blipFill rotWithShape="1">
          <a:blip r:embed="rId2">
            <a:extLst>
              <a:ext uri="{28A0092B-C50C-407E-A947-70E740481C1C}">
                <a14:useLocalDpi xmlns:a14="http://schemas.microsoft.com/office/drawing/2010/main" val="0"/>
              </a:ext>
            </a:extLst>
          </a:blip>
          <a:srcRect l="4335" r="15378"/>
          <a:stretch/>
        </p:blipFill>
        <p:spPr bwMode="auto">
          <a:xfrm>
            <a:off x="1103585" y="2738999"/>
            <a:ext cx="3684364" cy="2880000"/>
          </a:xfrm>
          <a:prstGeom prst="rect">
            <a:avLst/>
          </a:prstGeom>
          <a:noFill/>
          <a:ln>
            <a:noFill/>
          </a:ln>
        </p:spPr>
      </p:pic>
      <p:pic>
        <p:nvPicPr>
          <p:cNvPr id="15" name="Picture 14" descr="https://img-blog.csdn.net/20160929080949330"/>
          <p:cNvPicPr>
            <a:picLocks noChangeAspect="1"/>
          </p:cNvPicPr>
          <p:nvPr/>
        </p:nvPicPr>
        <p:blipFill rotWithShape="1">
          <a:blip r:embed="rId3" cstate="print">
            <a:extLst>
              <a:ext uri="{28A0092B-C50C-407E-A947-70E740481C1C}">
                <a14:useLocalDpi xmlns:a14="http://schemas.microsoft.com/office/drawing/2010/main" val="0"/>
              </a:ext>
            </a:extLst>
          </a:blip>
          <a:srcRect l="3482" r="15318"/>
          <a:stretch/>
        </p:blipFill>
        <p:spPr bwMode="auto">
          <a:xfrm>
            <a:off x="6368142" y="2738999"/>
            <a:ext cx="4068098" cy="2880000"/>
          </a:xfrm>
          <a:prstGeom prst="rect">
            <a:avLst/>
          </a:prstGeom>
          <a:noFill/>
          <a:ln>
            <a:noFill/>
          </a:ln>
        </p:spPr>
      </p:pic>
    </p:spTree>
    <p:extLst>
      <p:ext uri="{BB962C8B-B14F-4D97-AF65-F5344CB8AC3E}">
        <p14:creationId xmlns:p14="http://schemas.microsoft.com/office/powerpoint/2010/main" val="41089426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a:t>认证</a:t>
            </a:r>
            <a:r>
              <a:rPr lang="zh-CN" altLang="en-US" sz="2000" dirty="0" smtClean="0"/>
              <a:t>首部</a:t>
            </a:r>
            <a:endParaRPr lang="en-US" altLang="zh-CN" sz="2000" dirty="0" smtClean="0"/>
          </a:p>
          <a:p>
            <a:endParaRPr lang="en-US" altLang="zh-CN" sz="2000" dirty="0"/>
          </a:p>
          <a:p>
            <a:endParaRPr lang="en-US" altLang="zh-CN" sz="2000" dirty="0" smtClean="0"/>
          </a:p>
          <a:p>
            <a:endParaRPr lang="en-US" altLang="zh-CN" sz="2000" dirty="0"/>
          </a:p>
          <a:p>
            <a:endParaRPr lang="en-US" altLang="zh-CN" sz="2000" dirty="0" smtClean="0"/>
          </a:p>
          <a:p>
            <a:pPr lvl="1"/>
            <a:r>
              <a:rPr lang="en-US" altLang="zh-CN" sz="1600" dirty="0" smtClean="0"/>
              <a:t>SPI</a:t>
            </a:r>
            <a:r>
              <a:rPr lang="zh-CN" altLang="en-US" sz="1600" dirty="0" smtClean="0"/>
              <a:t>：与</a:t>
            </a:r>
            <a:r>
              <a:rPr lang="zh-CN" altLang="en-US" sz="1600" dirty="0"/>
              <a:t>目标地址及安全协议（</a:t>
            </a:r>
            <a:r>
              <a:rPr lang="en-US" altLang="zh-CN" sz="1600" dirty="0"/>
              <a:t>AH </a:t>
            </a:r>
            <a:r>
              <a:rPr lang="zh-CN" altLang="en-US" sz="1600" dirty="0"/>
              <a:t>或 </a:t>
            </a:r>
            <a:r>
              <a:rPr lang="en-US" altLang="zh-CN" sz="1600" dirty="0"/>
              <a:t>ESP</a:t>
            </a:r>
            <a:r>
              <a:rPr lang="zh-CN" altLang="en-US" sz="1600" dirty="0"/>
              <a:t>）组合使用，以确保通信的正确安全关联。接收方使用该值确定数据包是使用哪一安全关联标识的。若</a:t>
            </a:r>
            <a:r>
              <a:rPr lang="en-US" altLang="zh-CN" sz="1600" dirty="0"/>
              <a:t>SPI</a:t>
            </a:r>
            <a:r>
              <a:rPr lang="zh-CN" altLang="en-US" sz="1600" dirty="0"/>
              <a:t>值为</a:t>
            </a:r>
            <a:r>
              <a:rPr lang="en-US" altLang="zh-CN" sz="1600" dirty="0"/>
              <a:t>0</a:t>
            </a:r>
            <a:r>
              <a:rPr lang="zh-CN" altLang="en-US" sz="1600" dirty="0"/>
              <a:t>，则表示只用于本地而不予传送；值</a:t>
            </a:r>
            <a:r>
              <a:rPr lang="en-US" altLang="zh-CN" sz="1600" dirty="0"/>
              <a:t>1~255</a:t>
            </a:r>
            <a:r>
              <a:rPr lang="zh-CN" altLang="en-US" sz="1600" dirty="0"/>
              <a:t>被</a:t>
            </a:r>
            <a:r>
              <a:rPr lang="en-US" altLang="zh-CN" sz="1600" dirty="0"/>
              <a:t>IANA</a:t>
            </a:r>
            <a:r>
              <a:rPr lang="zh-CN" altLang="en-US" sz="1600" dirty="0"/>
              <a:t>保留作将来使用</a:t>
            </a:r>
            <a:r>
              <a:rPr lang="zh-CN" altLang="en-US" sz="1600" dirty="0" smtClean="0"/>
              <a:t>。</a:t>
            </a:r>
            <a:endParaRPr lang="en-US" altLang="zh-CN" sz="1600" dirty="0" smtClean="0"/>
          </a:p>
          <a:p>
            <a:pPr lvl="1"/>
            <a:endParaRPr lang="en-US" altLang="zh-CN" sz="1600" dirty="0" smtClean="0"/>
          </a:p>
          <a:p>
            <a:pPr lvl="1"/>
            <a:r>
              <a:rPr lang="zh-CN" altLang="en-US" sz="1600" dirty="0"/>
              <a:t>序列号：为该数据包提供抗重播保护。序列号是</a:t>
            </a:r>
            <a:r>
              <a:rPr lang="en-US" altLang="zh-CN" sz="1600" dirty="0"/>
              <a:t>32</a:t>
            </a:r>
            <a:r>
              <a:rPr lang="zh-CN" altLang="en-US" sz="1600" dirty="0"/>
              <a:t>位、递增的数字（从</a:t>
            </a:r>
            <a:r>
              <a:rPr lang="en-US" altLang="zh-CN" sz="1600" dirty="0"/>
              <a:t>1</a:t>
            </a:r>
            <a:r>
              <a:rPr lang="zh-CN" altLang="en-US" sz="1600" dirty="0"/>
              <a:t>开始），它表示通过通信的安全关联所发送的数据包数。在快速模式安全关联的生存期内序列号不能重复。接收方将检查该字段，以确认使用该数字的安全关联数据包还没有被接收过。如果一个已经被接收，则数据包被拒绝</a:t>
            </a:r>
            <a:r>
              <a:rPr lang="zh-CN" altLang="en-US" sz="1600" dirty="0" smtClean="0"/>
              <a:t>。</a:t>
            </a:r>
            <a:endParaRPr lang="en-US" altLang="zh-CN" sz="1600" dirty="0" smtClean="0"/>
          </a:p>
          <a:p>
            <a:pPr lvl="1"/>
            <a:endParaRPr lang="en-US" altLang="zh-CN" sz="1600" dirty="0" smtClean="0"/>
          </a:p>
          <a:p>
            <a:pPr lvl="1"/>
            <a:r>
              <a:rPr lang="zh-CN" altLang="en-US" sz="1600" dirty="0"/>
              <a:t>认</a:t>
            </a:r>
            <a:r>
              <a:rPr lang="zh-CN" altLang="en-US" sz="1600" dirty="0" smtClean="0"/>
              <a:t>证数</a:t>
            </a:r>
            <a:r>
              <a:rPr lang="zh-CN" altLang="en-US" sz="1600" dirty="0"/>
              <a:t>据：长度可变（</a:t>
            </a:r>
            <a:r>
              <a:rPr lang="en-US" altLang="zh-CN" sz="1600" dirty="0"/>
              <a:t>32</a:t>
            </a:r>
            <a:r>
              <a:rPr lang="zh-CN" altLang="en-US" sz="1600" dirty="0"/>
              <a:t>位的整数倍），具体格式因认证算法而异。该认证数据也被称为数据报的完整性校验值（</a:t>
            </a:r>
            <a:r>
              <a:rPr lang="en-US" altLang="zh-CN" sz="1600" dirty="0"/>
              <a:t>ICV</a:t>
            </a:r>
            <a:r>
              <a:rPr lang="zh-CN" altLang="en-US" sz="1600" dirty="0"/>
              <a:t>）。</a:t>
            </a:r>
            <a:endParaRPr lang="en-US" altLang="zh-CN" sz="1600" dirty="0" smtClean="0"/>
          </a:p>
          <a:p>
            <a:endParaRPr lang="en-US" altLang="zh-CN" sz="2000" dirty="0" smtClean="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2802" y="2144432"/>
            <a:ext cx="8640000" cy="1569313"/>
          </a:xfrm>
          <a:prstGeom prst="rect">
            <a:avLst/>
          </a:prstGeom>
          <a:noFill/>
        </p:spPr>
      </p:pic>
    </p:spTree>
    <p:extLst>
      <p:ext uri="{BB962C8B-B14F-4D97-AF65-F5344CB8AC3E}">
        <p14:creationId xmlns:p14="http://schemas.microsoft.com/office/powerpoint/2010/main" val="29439647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fontScale="92500" lnSpcReduction="10000"/>
          </a:bodyPr>
          <a:lstStyle/>
          <a:p>
            <a:r>
              <a:rPr lang="en-US" altLang="zh-CN" sz="2000" b="1" dirty="0" smtClean="0"/>
              <a:t>IPv6</a:t>
            </a:r>
            <a:r>
              <a:rPr lang="zh-CN" altLang="en-US" sz="2000" b="1" dirty="0" smtClean="0"/>
              <a:t>扩展首部</a:t>
            </a:r>
            <a:endParaRPr lang="en-US" altLang="zh-CN" sz="2000" b="1" dirty="0" smtClean="0"/>
          </a:p>
          <a:p>
            <a:r>
              <a:rPr lang="zh-CN" altLang="en-US" sz="2000" dirty="0"/>
              <a:t>认证</a:t>
            </a:r>
            <a:r>
              <a:rPr lang="zh-CN" altLang="en-US" sz="2000" dirty="0" smtClean="0"/>
              <a:t>首部</a:t>
            </a:r>
            <a:endParaRPr lang="en-US" altLang="zh-CN" sz="2000" dirty="0" smtClean="0"/>
          </a:p>
          <a:p>
            <a:r>
              <a:rPr lang="zh-CN" altLang="en-US" sz="2000" dirty="0"/>
              <a:t>发</a:t>
            </a:r>
            <a:r>
              <a:rPr lang="zh-CN" altLang="en-US" sz="2000" dirty="0" smtClean="0"/>
              <a:t>送数据时，主机进行如下处理：</a:t>
            </a:r>
            <a:endParaRPr lang="en-US" altLang="zh-CN" sz="2000" dirty="0" smtClean="0"/>
          </a:p>
          <a:p>
            <a:pPr lvl="1"/>
            <a:r>
              <a:rPr lang="en-US" altLang="zh-CN" sz="1600" dirty="0"/>
              <a:t>1)	</a:t>
            </a:r>
            <a:r>
              <a:rPr lang="zh-CN" altLang="en-US" sz="1600" dirty="0"/>
              <a:t>使用相应的选择符（目的</a:t>
            </a:r>
            <a:r>
              <a:rPr lang="en-US" altLang="zh-CN" sz="1600" dirty="0"/>
              <a:t>IP</a:t>
            </a:r>
            <a:r>
              <a:rPr lang="zh-CN" altLang="en-US" sz="1600" dirty="0"/>
              <a:t>地址，端口号和传输协议）查找安全策略数据库获取策略。如需要对分组进行</a:t>
            </a:r>
            <a:r>
              <a:rPr lang="en-US" altLang="zh-CN" sz="1600" dirty="0" err="1"/>
              <a:t>IPSec</a:t>
            </a:r>
            <a:r>
              <a:rPr lang="zh-CN" altLang="en-US" sz="1600" dirty="0"/>
              <a:t>处理，且到目的主机的</a:t>
            </a:r>
            <a:r>
              <a:rPr lang="en-US" altLang="zh-CN" sz="1600" dirty="0"/>
              <a:t>SA</a:t>
            </a:r>
            <a:r>
              <a:rPr lang="zh-CN" altLang="en-US" sz="1600" dirty="0"/>
              <a:t>已经建立，那么符合分组选择符的</a:t>
            </a:r>
            <a:r>
              <a:rPr lang="en-US" altLang="zh-CN" sz="1600" dirty="0"/>
              <a:t>SPD</a:t>
            </a:r>
            <a:r>
              <a:rPr lang="zh-CN" altLang="en-US" sz="1600" dirty="0"/>
              <a:t>将指向外出</a:t>
            </a:r>
            <a:r>
              <a:rPr lang="en-US" altLang="zh-CN" sz="1600" dirty="0"/>
              <a:t>SA</a:t>
            </a:r>
            <a:r>
              <a:rPr lang="zh-CN" altLang="en-US" sz="1600" dirty="0"/>
              <a:t>数据库的一个相应</a:t>
            </a:r>
            <a:r>
              <a:rPr lang="en-US" altLang="zh-CN" sz="1600" dirty="0"/>
              <a:t>SA</a:t>
            </a:r>
            <a:r>
              <a:rPr lang="zh-CN" altLang="en-US" sz="1600" dirty="0"/>
              <a:t>束。如果</a:t>
            </a:r>
            <a:r>
              <a:rPr lang="en-US" altLang="zh-CN" sz="1600" dirty="0"/>
              <a:t>SA</a:t>
            </a:r>
            <a:r>
              <a:rPr lang="zh-CN" altLang="en-US" sz="1600" dirty="0"/>
              <a:t>还未建立，</a:t>
            </a:r>
            <a:r>
              <a:rPr lang="en-US" altLang="zh-CN" sz="1600" dirty="0" err="1"/>
              <a:t>IPSec</a:t>
            </a:r>
            <a:r>
              <a:rPr lang="zh-CN" altLang="en-US" sz="1600" dirty="0"/>
              <a:t>将调用</a:t>
            </a:r>
            <a:r>
              <a:rPr lang="en-US" altLang="zh-CN" sz="1600" dirty="0"/>
              <a:t>IKE</a:t>
            </a:r>
            <a:r>
              <a:rPr lang="zh-CN" altLang="en-US" sz="1600" dirty="0"/>
              <a:t>协商一个</a:t>
            </a:r>
            <a:r>
              <a:rPr lang="en-US" altLang="zh-CN" sz="1600" dirty="0"/>
              <a:t>SA</a:t>
            </a:r>
            <a:r>
              <a:rPr lang="zh-CN" altLang="en-US" sz="1600" dirty="0"/>
              <a:t>，并将其连接到</a:t>
            </a:r>
            <a:r>
              <a:rPr lang="en-US" altLang="zh-CN" sz="1600" dirty="0"/>
              <a:t>SPD</a:t>
            </a:r>
            <a:r>
              <a:rPr lang="zh-CN" altLang="en-US" sz="1600" dirty="0"/>
              <a:t>条目上；</a:t>
            </a:r>
          </a:p>
          <a:p>
            <a:pPr lvl="1"/>
            <a:r>
              <a:rPr lang="en-US" altLang="zh-CN" sz="1600" dirty="0"/>
              <a:t>2)	</a:t>
            </a:r>
            <a:r>
              <a:rPr lang="zh-CN" altLang="en-US" sz="1600" dirty="0"/>
              <a:t>产生或增加序列号，当一个新的</a:t>
            </a:r>
            <a:r>
              <a:rPr lang="en-US" altLang="zh-CN" sz="1600" dirty="0"/>
              <a:t>SA</a:t>
            </a:r>
            <a:r>
              <a:rPr lang="zh-CN" altLang="en-US" sz="1600" dirty="0"/>
              <a:t>建立时，序列号计数器初始化为</a:t>
            </a:r>
            <a:r>
              <a:rPr lang="en-US" altLang="zh-CN" sz="1600" dirty="0"/>
              <a:t>0</a:t>
            </a:r>
            <a:r>
              <a:rPr lang="zh-CN" altLang="en-US" sz="1600" dirty="0"/>
              <a:t>，以后每发一个分组，序列号加</a:t>
            </a:r>
            <a:r>
              <a:rPr lang="en-US" altLang="zh-CN" sz="1600" dirty="0"/>
              <a:t>1</a:t>
            </a:r>
            <a:r>
              <a:rPr lang="zh-CN" altLang="en-US" sz="1600" dirty="0"/>
              <a:t>；</a:t>
            </a:r>
          </a:p>
          <a:p>
            <a:pPr lvl="1"/>
            <a:r>
              <a:rPr lang="en-US" altLang="zh-CN" sz="1600" dirty="0"/>
              <a:t>3)	</a:t>
            </a:r>
            <a:r>
              <a:rPr lang="zh-CN" altLang="en-US" sz="1600" dirty="0"/>
              <a:t>计算</a:t>
            </a:r>
            <a:r>
              <a:rPr lang="en-US" altLang="zh-CN" sz="1600" dirty="0"/>
              <a:t>ICV</a:t>
            </a:r>
            <a:r>
              <a:rPr lang="zh-CN" altLang="en-US" sz="1600" dirty="0"/>
              <a:t>（完整性校验值）；</a:t>
            </a:r>
          </a:p>
          <a:p>
            <a:pPr lvl="1"/>
            <a:r>
              <a:rPr lang="en-US" altLang="zh-CN" sz="1600" dirty="0"/>
              <a:t>4)	</a:t>
            </a:r>
            <a:r>
              <a:rPr lang="zh-CN" altLang="en-US" sz="1600" dirty="0"/>
              <a:t>转发分组到目的节点</a:t>
            </a:r>
            <a:r>
              <a:rPr lang="zh-CN" altLang="en-US" sz="1600" dirty="0" smtClean="0"/>
              <a:t>。</a:t>
            </a:r>
            <a:endParaRPr lang="zh-CN" altLang="en-US" sz="1600" dirty="0"/>
          </a:p>
          <a:p>
            <a:r>
              <a:rPr lang="zh-CN" altLang="en-US" sz="2000" dirty="0" smtClean="0"/>
              <a:t>接收数据时，主机进行如下处理：</a:t>
            </a:r>
            <a:endParaRPr lang="en-US" altLang="zh-CN" sz="2000" dirty="0" smtClean="0"/>
          </a:p>
          <a:p>
            <a:pPr lvl="1"/>
            <a:r>
              <a:rPr lang="en-US" altLang="zh-CN" sz="1600" dirty="0"/>
              <a:t>1)	</a:t>
            </a:r>
            <a:r>
              <a:rPr lang="zh-CN" altLang="en-US" sz="1600" dirty="0"/>
              <a:t>若</a:t>
            </a:r>
            <a:r>
              <a:rPr lang="en-US" altLang="zh-CN" sz="1600" dirty="0"/>
              <a:t>IP</a:t>
            </a:r>
            <a:r>
              <a:rPr lang="zh-CN" altLang="en-US" sz="1600" dirty="0"/>
              <a:t>分组采用了分片处理，要等到所有分片到齐后重组；</a:t>
            </a:r>
          </a:p>
          <a:p>
            <a:pPr lvl="1"/>
            <a:r>
              <a:rPr lang="en-US" altLang="zh-CN" sz="1600" dirty="0"/>
              <a:t>2)	</a:t>
            </a:r>
            <a:r>
              <a:rPr lang="zh-CN" altLang="en-US" sz="1600" dirty="0"/>
              <a:t>使用</a:t>
            </a:r>
            <a:r>
              <a:rPr lang="en-US" altLang="zh-CN" sz="1600" dirty="0"/>
              <a:t>IP</a:t>
            </a:r>
            <a:r>
              <a:rPr lang="zh-CN" altLang="en-US" sz="1600" dirty="0"/>
              <a:t>分组头中的</a:t>
            </a:r>
            <a:r>
              <a:rPr lang="en-US" altLang="zh-CN" sz="1600" dirty="0"/>
              <a:t>SPI</a:t>
            </a:r>
            <a:r>
              <a:rPr lang="zh-CN" altLang="en-US" sz="1600" dirty="0"/>
              <a:t>、目的</a:t>
            </a:r>
            <a:r>
              <a:rPr lang="en-US" altLang="zh-CN" sz="1600" dirty="0"/>
              <a:t>IP</a:t>
            </a:r>
            <a:r>
              <a:rPr lang="zh-CN" altLang="en-US" sz="1600" dirty="0"/>
              <a:t>地址以及</a:t>
            </a:r>
            <a:r>
              <a:rPr lang="en-US" altLang="zh-CN" sz="1600" dirty="0" err="1"/>
              <a:t>IPSec</a:t>
            </a:r>
            <a:r>
              <a:rPr lang="zh-CN" altLang="en-US" sz="1600" dirty="0"/>
              <a:t>协议在进入的</a:t>
            </a:r>
            <a:r>
              <a:rPr lang="en-US" altLang="zh-CN" sz="1600" dirty="0"/>
              <a:t>SA</a:t>
            </a:r>
            <a:r>
              <a:rPr lang="zh-CN" altLang="en-US" sz="1600" dirty="0"/>
              <a:t>数据库中查找</a:t>
            </a:r>
            <a:r>
              <a:rPr lang="en-US" altLang="zh-CN" sz="1600" dirty="0"/>
              <a:t>SA</a:t>
            </a:r>
            <a:r>
              <a:rPr lang="zh-CN" altLang="en-US" sz="1600" dirty="0"/>
              <a:t>，如果查找失败，则抛弃该分组，并记录事件。</a:t>
            </a:r>
          </a:p>
          <a:p>
            <a:pPr lvl="1"/>
            <a:r>
              <a:rPr lang="en-US" altLang="zh-CN" sz="1600" dirty="0"/>
              <a:t>3)	</a:t>
            </a:r>
            <a:r>
              <a:rPr lang="zh-CN" altLang="en-US" sz="1600" dirty="0"/>
              <a:t>使用已查到的</a:t>
            </a:r>
            <a:r>
              <a:rPr lang="en-US" altLang="zh-CN" sz="1600" dirty="0"/>
              <a:t>SA</a:t>
            </a:r>
            <a:r>
              <a:rPr lang="zh-CN" altLang="en-US" sz="1600" dirty="0"/>
              <a:t>进行</a:t>
            </a:r>
            <a:r>
              <a:rPr lang="en-US" altLang="zh-CN" sz="1600" dirty="0" err="1"/>
              <a:t>IPSec</a:t>
            </a:r>
            <a:r>
              <a:rPr lang="zh-CN" altLang="en-US" sz="1600" dirty="0"/>
              <a:t>处理</a:t>
            </a:r>
          </a:p>
          <a:p>
            <a:pPr lvl="1"/>
            <a:r>
              <a:rPr lang="en-US" altLang="zh-CN" sz="1600" dirty="0"/>
              <a:t>4)	</a:t>
            </a:r>
            <a:r>
              <a:rPr lang="zh-CN" altLang="en-US" sz="1600" dirty="0"/>
              <a:t>使用分组中的选择符进入</a:t>
            </a:r>
            <a:r>
              <a:rPr lang="en-US" altLang="zh-CN" sz="1600" dirty="0"/>
              <a:t>SPD</a:t>
            </a:r>
            <a:r>
              <a:rPr lang="zh-CN" altLang="en-US" sz="1600" dirty="0"/>
              <a:t>查找一条域选择符匹配的策略，检查策略是否相符</a:t>
            </a:r>
          </a:p>
          <a:p>
            <a:pPr lvl="1"/>
            <a:r>
              <a:rPr lang="en-US" altLang="zh-CN" sz="1600" dirty="0"/>
              <a:t>5)	</a:t>
            </a:r>
            <a:r>
              <a:rPr lang="zh-CN" altLang="en-US" sz="1600" dirty="0"/>
              <a:t>检查序列号，确定是否为重放分组</a:t>
            </a:r>
          </a:p>
          <a:p>
            <a:pPr lvl="1"/>
            <a:r>
              <a:rPr lang="en-US" altLang="zh-CN" sz="1600" dirty="0"/>
              <a:t>6)	</a:t>
            </a:r>
            <a:r>
              <a:rPr lang="zh-CN" altLang="en-US" sz="1600" dirty="0"/>
              <a:t>使用</a:t>
            </a:r>
            <a:r>
              <a:rPr lang="en-US" altLang="zh-CN" sz="1600" dirty="0"/>
              <a:t>SA</a:t>
            </a:r>
            <a:r>
              <a:rPr lang="zh-CN" altLang="en-US" sz="1600" dirty="0"/>
              <a:t>指定的</a:t>
            </a:r>
            <a:r>
              <a:rPr lang="en-US" altLang="zh-CN" sz="1600" dirty="0"/>
              <a:t>MAC</a:t>
            </a:r>
            <a:r>
              <a:rPr lang="zh-CN" altLang="en-US" sz="1600" dirty="0"/>
              <a:t>算法计算</a:t>
            </a:r>
            <a:r>
              <a:rPr lang="en-US" altLang="zh-CN" sz="1600" dirty="0"/>
              <a:t>ICV</a:t>
            </a:r>
            <a:r>
              <a:rPr lang="zh-CN" altLang="en-US" sz="1600" dirty="0"/>
              <a:t>，并与认证数据域中的</a:t>
            </a:r>
            <a:r>
              <a:rPr lang="en-US" altLang="zh-CN" sz="1600" dirty="0"/>
              <a:t>ICV</a:t>
            </a:r>
            <a:r>
              <a:rPr lang="zh-CN" altLang="en-US" sz="1600" dirty="0"/>
              <a:t>比较，如果两值不同，则抛弃分组</a:t>
            </a:r>
          </a:p>
          <a:p>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spTree>
    <p:extLst>
      <p:ext uri="{BB962C8B-B14F-4D97-AF65-F5344CB8AC3E}">
        <p14:creationId xmlns:p14="http://schemas.microsoft.com/office/powerpoint/2010/main" val="17620734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smtClean="0"/>
              <a:t>封装安全负载首部</a:t>
            </a:r>
            <a:endParaRPr lang="en-US" altLang="zh-CN" sz="2000" dirty="0"/>
          </a:p>
          <a:p>
            <a:pPr lvl="1"/>
            <a:r>
              <a:rPr lang="zh-CN" altLang="en-US" sz="1600" dirty="0"/>
              <a:t>供一个可选的组合，包括机密性、完整性、原始认证以及对</a:t>
            </a:r>
            <a:r>
              <a:rPr lang="en-US" altLang="zh-CN" sz="1600" dirty="0"/>
              <a:t>IP</a:t>
            </a:r>
            <a:r>
              <a:rPr lang="zh-CN" altLang="en-US" sz="1600" dirty="0"/>
              <a:t>数据报的反重放保护</a:t>
            </a:r>
            <a:r>
              <a:rPr lang="zh-CN" altLang="en-US" sz="1600" dirty="0" smtClean="0"/>
              <a:t>。</a:t>
            </a:r>
            <a:endParaRPr lang="en-US" altLang="zh-CN" sz="1600" dirty="0" smtClean="0"/>
          </a:p>
          <a:p>
            <a:pPr lvl="1"/>
            <a:endParaRPr lang="en-US" altLang="zh-CN" sz="16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a:p>
          <a:p>
            <a:pPr marL="457200" lvl="1" indent="0">
              <a:buNone/>
            </a:pPr>
            <a:r>
              <a:rPr lang="en-US" altLang="zh-CN" sz="1600" dirty="0"/>
              <a:t> </a:t>
            </a:r>
            <a:r>
              <a:rPr lang="en-US" altLang="zh-CN" sz="1600" dirty="0" smtClean="0"/>
              <a:t>                        </a:t>
            </a:r>
            <a:r>
              <a:rPr lang="zh-CN" altLang="en-US" sz="1600" dirty="0" smtClean="0"/>
              <a:t>传输模式                                                                           隧道模式</a:t>
            </a:r>
            <a:endParaRPr lang="en-US" altLang="zh-CN" sz="1600" dirty="0" smtClean="0"/>
          </a:p>
          <a:p>
            <a:endParaRPr lang="en-US" altLang="zh-CN" sz="2000" dirty="0"/>
          </a:p>
          <a:p>
            <a:endParaRPr lang="en-US" altLang="zh-CN" sz="2000" dirty="0" smtClean="0"/>
          </a:p>
          <a:p>
            <a:endParaRPr lang="en-US" altLang="zh-CN" sz="2000" dirty="0"/>
          </a:p>
          <a:p>
            <a:endParaRPr lang="en-US" altLang="zh-CN" sz="2000" dirty="0" smtClean="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5" name="Picture 4" descr="https://img-blog.csdn.net/20160929225000893"/>
          <p:cNvPicPr>
            <a:picLocks noChangeAspect="1"/>
          </p:cNvPicPr>
          <p:nvPr/>
        </p:nvPicPr>
        <p:blipFill rotWithShape="1">
          <a:blip r:embed="rId2">
            <a:extLst>
              <a:ext uri="{28A0092B-C50C-407E-A947-70E740481C1C}">
                <a14:useLocalDpi xmlns:a14="http://schemas.microsoft.com/office/drawing/2010/main" val="0"/>
              </a:ext>
            </a:extLst>
          </a:blip>
          <a:srcRect r="10924"/>
          <a:stretch/>
        </p:blipFill>
        <p:spPr bwMode="auto">
          <a:xfrm>
            <a:off x="1617661" y="2584449"/>
            <a:ext cx="3679045" cy="2880000"/>
          </a:xfrm>
          <a:prstGeom prst="rect">
            <a:avLst/>
          </a:prstGeom>
          <a:noFill/>
          <a:ln>
            <a:noFill/>
          </a:ln>
        </p:spPr>
      </p:pic>
      <p:pic>
        <p:nvPicPr>
          <p:cNvPr id="6" name="Picture 5" descr="https://img-blog.csdn.net/20160929225646741"/>
          <p:cNvPicPr>
            <a:picLocks noChangeAspect="1"/>
          </p:cNvPicPr>
          <p:nvPr/>
        </p:nvPicPr>
        <p:blipFill rotWithShape="1">
          <a:blip r:embed="rId3">
            <a:extLst>
              <a:ext uri="{28A0092B-C50C-407E-A947-70E740481C1C}">
                <a14:useLocalDpi xmlns:a14="http://schemas.microsoft.com/office/drawing/2010/main" val="0"/>
              </a:ext>
            </a:extLst>
          </a:blip>
          <a:srcRect r="11595"/>
          <a:stretch/>
        </p:blipFill>
        <p:spPr bwMode="auto">
          <a:xfrm>
            <a:off x="6586311" y="2584449"/>
            <a:ext cx="3641168" cy="2880000"/>
          </a:xfrm>
          <a:prstGeom prst="rect">
            <a:avLst/>
          </a:prstGeom>
          <a:noFill/>
          <a:ln>
            <a:noFill/>
          </a:ln>
        </p:spPr>
      </p:pic>
    </p:spTree>
    <p:extLst>
      <p:ext uri="{BB962C8B-B14F-4D97-AF65-F5344CB8AC3E}">
        <p14:creationId xmlns:p14="http://schemas.microsoft.com/office/powerpoint/2010/main" val="160414278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smtClean="0"/>
              <a:t>封装安全负载首部</a:t>
            </a:r>
            <a:endParaRPr lang="en-US" altLang="zh-CN" sz="20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a:p>
          <a:p>
            <a:pPr lvl="1"/>
            <a:endParaRPr lang="en-US" altLang="zh-CN" sz="1600" dirty="0" smtClean="0"/>
          </a:p>
          <a:p>
            <a:pPr lvl="1"/>
            <a:endParaRPr lang="en-US" altLang="zh-CN" sz="1600" dirty="0"/>
          </a:p>
          <a:p>
            <a:pPr lvl="1"/>
            <a:r>
              <a:rPr lang="zh-CN" altLang="en-US" sz="1600" dirty="0"/>
              <a:t>负载数据：长度可变，通过加密保护的传输层协议内容（传输模式）或</a:t>
            </a:r>
            <a:r>
              <a:rPr lang="en-US" altLang="zh-CN" sz="1600" dirty="0"/>
              <a:t>IP</a:t>
            </a:r>
            <a:r>
              <a:rPr lang="zh-CN" altLang="en-US" sz="1600" dirty="0"/>
              <a:t>包（隧道模式）。如果受保护数据需要加密同步数据，那么初始化向量</a:t>
            </a:r>
            <a:r>
              <a:rPr lang="en-US" altLang="zh-CN" sz="1600" dirty="0"/>
              <a:t>IV</a:t>
            </a:r>
            <a:r>
              <a:rPr lang="zh-CN" altLang="en-US" sz="1600" dirty="0"/>
              <a:t>可以在受保护数据字段的开头携带，并且</a:t>
            </a:r>
            <a:r>
              <a:rPr lang="en-US" altLang="zh-CN" sz="1600" dirty="0"/>
              <a:t>IV</a:t>
            </a:r>
            <a:r>
              <a:rPr lang="zh-CN" altLang="en-US" sz="1600" dirty="0"/>
              <a:t>通常不加密，但经常被看作是密文的一部分。</a:t>
            </a:r>
            <a:endParaRPr lang="en-US" altLang="zh-CN" sz="1600" dirty="0" smtClean="0"/>
          </a:p>
          <a:p>
            <a:pPr lvl="1"/>
            <a:r>
              <a:rPr lang="zh-CN" altLang="en-US" sz="1600" dirty="0"/>
              <a:t>填充：长度可变，字段长范围为</a:t>
            </a:r>
            <a:r>
              <a:rPr lang="en-US" altLang="zh-CN" sz="1600" dirty="0"/>
              <a:t>0-255</a:t>
            </a:r>
            <a:r>
              <a:rPr lang="zh-CN" altLang="en-US" sz="1600" dirty="0"/>
              <a:t>，用于将明文扩充到需要加密的长度，同时隐藏载荷数据的真实长度。</a:t>
            </a:r>
            <a:endParaRPr lang="en-US" altLang="zh-CN" sz="1600" dirty="0" smtClean="0"/>
          </a:p>
          <a:p>
            <a:pPr lvl="1"/>
            <a:r>
              <a:rPr lang="zh-CN" altLang="en-US" sz="1600" dirty="0"/>
              <a:t>填充长</a:t>
            </a:r>
            <a:r>
              <a:rPr lang="zh-CN" altLang="en-US" sz="1600" dirty="0" smtClean="0"/>
              <a:t>度：</a:t>
            </a:r>
            <a:r>
              <a:rPr lang="en-US" altLang="zh-CN" sz="1600" dirty="0"/>
              <a:t>8</a:t>
            </a:r>
            <a:r>
              <a:rPr lang="zh-CN" altLang="en-US" sz="1600" dirty="0"/>
              <a:t>位无符号整数，表示填充的字节数</a:t>
            </a:r>
            <a:endParaRPr lang="en-US" altLang="zh-CN" sz="1600" dirty="0" smtClean="0"/>
          </a:p>
          <a:p>
            <a:pPr lvl="1"/>
            <a:r>
              <a:rPr lang="zh-CN" altLang="en-US" sz="1600" dirty="0" smtClean="0"/>
              <a:t>下一个首部：下一个首部的类型</a:t>
            </a:r>
            <a:endParaRPr lang="en-US" altLang="zh-CN" sz="1600" dirty="0" smtClean="0"/>
          </a:p>
          <a:p>
            <a:pPr lvl="1"/>
            <a:endParaRPr lang="en-US" altLang="zh-CN" sz="1600" dirty="0" smtClean="0"/>
          </a:p>
          <a:p>
            <a:pPr lvl="1"/>
            <a:endParaRPr lang="en-US" altLang="zh-CN" sz="1600" dirty="0"/>
          </a:p>
          <a:p>
            <a:pPr lvl="1"/>
            <a:endParaRPr lang="en-US" altLang="zh-CN" sz="1600" dirty="0" smtClean="0"/>
          </a:p>
          <a:p>
            <a:endParaRPr lang="en-US" altLang="zh-CN" sz="2000" dirty="0"/>
          </a:p>
          <a:p>
            <a:endParaRPr lang="en-US" altLang="zh-CN" sz="2000" dirty="0" smtClean="0"/>
          </a:p>
          <a:p>
            <a:endParaRPr lang="en-US" altLang="zh-CN" sz="2000" dirty="0"/>
          </a:p>
          <a:p>
            <a:endParaRPr lang="en-US" altLang="zh-CN" sz="2000" dirty="0" smtClean="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2907" y="2132346"/>
            <a:ext cx="5939790" cy="2169795"/>
          </a:xfrm>
          <a:prstGeom prst="rect">
            <a:avLst/>
          </a:prstGeom>
          <a:noFill/>
        </p:spPr>
      </p:pic>
    </p:spTree>
    <p:extLst>
      <p:ext uri="{BB962C8B-B14F-4D97-AF65-F5344CB8AC3E}">
        <p14:creationId xmlns:p14="http://schemas.microsoft.com/office/powerpoint/2010/main" val="1149304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half" idx="1"/>
          </p:nvPr>
        </p:nvSpPr>
        <p:spPr>
          <a:xfrm>
            <a:off x="608520" y="1273628"/>
            <a:ext cx="10908565" cy="5069420"/>
          </a:xfrm>
        </p:spPr>
        <p:txBody>
          <a:bodyPr>
            <a:normAutofit/>
          </a:bodyPr>
          <a:lstStyle/>
          <a:p>
            <a:r>
              <a:rPr lang="en-US" altLang="zh-CN" sz="2000" b="1" dirty="0" smtClean="0"/>
              <a:t>IPv6</a:t>
            </a:r>
            <a:r>
              <a:rPr lang="zh-CN" altLang="en-US" sz="2000" b="1" dirty="0" smtClean="0"/>
              <a:t>扩展首部</a:t>
            </a:r>
            <a:endParaRPr lang="en-US" altLang="zh-CN" sz="2000" b="1" dirty="0" smtClean="0"/>
          </a:p>
          <a:p>
            <a:r>
              <a:rPr lang="zh-CN" altLang="en-US" sz="2000" dirty="0" smtClean="0"/>
              <a:t>封装安全负载首部</a:t>
            </a:r>
            <a:endParaRPr lang="en-US" altLang="zh-CN" sz="2000" dirty="0" smtClean="0"/>
          </a:p>
          <a:p>
            <a:r>
              <a:rPr lang="zh-CN" altLang="en-US" sz="2000" dirty="0"/>
              <a:t>发送数据时，主机应进行如下处理：</a:t>
            </a:r>
            <a:endParaRPr lang="en-US" altLang="zh-CN" sz="2000" dirty="0" smtClean="0"/>
          </a:p>
          <a:p>
            <a:pPr lvl="1"/>
            <a:r>
              <a:rPr lang="en-US" altLang="zh-CN" sz="1600" dirty="0"/>
              <a:t>1)	</a:t>
            </a:r>
            <a:r>
              <a:rPr lang="zh-CN" altLang="en-US" sz="1600" dirty="0"/>
              <a:t>使用分组的相应选择符（目的</a:t>
            </a:r>
            <a:r>
              <a:rPr lang="en-US" altLang="zh-CN" sz="1600" dirty="0"/>
              <a:t>IP</a:t>
            </a:r>
            <a:r>
              <a:rPr lang="zh-CN" altLang="en-US" sz="1600" dirty="0"/>
              <a:t>地址、端口、传输协议等）查找安全策略数据</a:t>
            </a:r>
            <a:r>
              <a:rPr lang="zh-CN" altLang="en-US" sz="1600" dirty="0" smtClean="0"/>
              <a:t>库获</a:t>
            </a:r>
            <a:r>
              <a:rPr lang="zh-CN" altLang="en-US" sz="1600" dirty="0"/>
              <a:t>取策略，如分组需要</a:t>
            </a:r>
            <a:r>
              <a:rPr lang="en-US" altLang="zh-CN" sz="1600" dirty="0" err="1"/>
              <a:t>IPSec</a:t>
            </a:r>
            <a:r>
              <a:rPr lang="zh-CN" altLang="en-US" sz="1600" dirty="0"/>
              <a:t>处理，且其</a:t>
            </a:r>
            <a:r>
              <a:rPr lang="en-US" altLang="zh-CN" sz="1600" dirty="0"/>
              <a:t>SA</a:t>
            </a:r>
            <a:r>
              <a:rPr lang="zh-CN" altLang="en-US" sz="1600" dirty="0"/>
              <a:t>已建立，则与选择符相匹配的</a:t>
            </a:r>
            <a:r>
              <a:rPr lang="en-US" altLang="zh-CN" sz="1600" dirty="0"/>
              <a:t>SPD</a:t>
            </a:r>
            <a:r>
              <a:rPr lang="zh-CN" altLang="en-US" sz="1600" dirty="0"/>
              <a:t>项将指向安全关联数据库中的相应</a:t>
            </a:r>
            <a:r>
              <a:rPr lang="en-US" altLang="zh-CN" sz="1600" dirty="0"/>
              <a:t>SA</a:t>
            </a:r>
            <a:r>
              <a:rPr lang="zh-CN" altLang="en-US" sz="1600" dirty="0"/>
              <a:t>，否则则使用</a:t>
            </a:r>
            <a:r>
              <a:rPr lang="en-US" altLang="zh-CN" sz="1600" dirty="0"/>
              <a:t>IKE</a:t>
            </a:r>
            <a:r>
              <a:rPr lang="zh-CN" altLang="en-US" sz="1600" dirty="0"/>
              <a:t>建立</a:t>
            </a:r>
            <a:r>
              <a:rPr lang="en-US" altLang="zh-CN" sz="1600" dirty="0"/>
              <a:t>SA</a:t>
            </a:r>
          </a:p>
          <a:p>
            <a:pPr lvl="1"/>
            <a:r>
              <a:rPr lang="en-US" altLang="zh-CN" sz="1600" dirty="0"/>
              <a:t>2)	</a:t>
            </a:r>
            <a:r>
              <a:rPr lang="zh-CN" altLang="en-US" sz="1600" dirty="0"/>
              <a:t>生成或增加序列号</a:t>
            </a:r>
          </a:p>
          <a:p>
            <a:pPr lvl="1"/>
            <a:r>
              <a:rPr lang="en-US" altLang="zh-CN" sz="1600" dirty="0"/>
              <a:t>3)	</a:t>
            </a:r>
            <a:r>
              <a:rPr lang="zh-CN" altLang="en-US" sz="1600" dirty="0"/>
              <a:t>加密分组，</a:t>
            </a:r>
            <a:r>
              <a:rPr lang="en-US" altLang="zh-CN" sz="1600" dirty="0"/>
              <a:t>SA</a:t>
            </a:r>
            <a:r>
              <a:rPr lang="zh-CN" altLang="en-US" sz="1600" dirty="0"/>
              <a:t>指明加密算法，一般采用对称密码算法</a:t>
            </a:r>
          </a:p>
          <a:p>
            <a:pPr lvl="1"/>
            <a:r>
              <a:rPr lang="en-US" altLang="zh-CN" sz="1600" dirty="0"/>
              <a:t>4)	</a:t>
            </a:r>
            <a:r>
              <a:rPr lang="zh-CN" altLang="en-US" sz="1600" dirty="0"/>
              <a:t>计算完整性校验值</a:t>
            </a:r>
          </a:p>
          <a:p>
            <a:r>
              <a:rPr lang="zh-CN" altLang="en-US" sz="2000" dirty="0"/>
              <a:t>接收数据时，主机应进行如下处理：</a:t>
            </a:r>
            <a:endParaRPr lang="en-US" altLang="zh-CN" sz="2000" dirty="0" smtClean="0"/>
          </a:p>
          <a:p>
            <a:pPr lvl="1"/>
            <a:r>
              <a:rPr lang="en-US" altLang="zh-CN" sz="1600" dirty="0"/>
              <a:t>1)	</a:t>
            </a:r>
            <a:r>
              <a:rPr lang="zh-CN" altLang="en-US" sz="1600" dirty="0"/>
              <a:t>若</a:t>
            </a:r>
            <a:r>
              <a:rPr lang="en-US" altLang="zh-CN" sz="1600" dirty="0"/>
              <a:t>IP</a:t>
            </a:r>
            <a:r>
              <a:rPr lang="zh-CN" altLang="en-US" sz="1600" dirty="0"/>
              <a:t>分组采用了分片处理，要等到所有分片到齐后重组；</a:t>
            </a:r>
          </a:p>
          <a:p>
            <a:pPr lvl="1"/>
            <a:r>
              <a:rPr lang="en-US" altLang="zh-CN" sz="1600" dirty="0"/>
              <a:t>2)	</a:t>
            </a:r>
            <a:r>
              <a:rPr lang="zh-CN" altLang="en-US" sz="1600" dirty="0"/>
              <a:t>使用目的</a:t>
            </a:r>
            <a:r>
              <a:rPr lang="en-US" altLang="zh-CN" sz="1600" dirty="0"/>
              <a:t>IP</a:t>
            </a:r>
            <a:r>
              <a:rPr lang="zh-CN" altLang="en-US" sz="1600" dirty="0"/>
              <a:t>地址、</a:t>
            </a:r>
            <a:r>
              <a:rPr lang="en-US" altLang="zh-CN" sz="1600" dirty="0" err="1"/>
              <a:t>IPSec</a:t>
            </a:r>
            <a:r>
              <a:rPr lang="zh-CN" altLang="en-US" sz="1600" dirty="0"/>
              <a:t>协议、</a:t>
            </a:r>
            <a:r>
              <a:rPr lang="en-US" altLang="zh-CN" sz="1600" dirty="0"/>
              <a:t>SPI</a:t>
            </a:r>
            <a:r>
              <a:rPr lang="zh-CN" altLang="en-US" sz="1600" dirty="0"/>
              <a:t>进入</a:t>
            </a:r>
            <a:r>
              <a:rPr lang="en-US" altLang="zh-CN" sz="1600" dirty="0"/>
              <a:t>SAD</a:t>
            </a:r>
            <a:r>
              <a:rPr lang="zh-CN" altLang="en-US" sz="1600" dirty="0"/>
              <a:t>索引</a:t>
            </a:r>
            <a:r>
              <a:rPr lang="en-US" altLang="zh-CN" sz="1600" dirty="0"/>
              <a:t>SA</a:t>
            </a:r>
            <a:r>
              <a:rPr lang="zh-CN" altLang="en-US" sz="1600" dirty="0"/>
              <a:t>，如果查找失败，则丢弃分组</a:t>
            </a:r>
          </a:p>
          <a:p>
            <a:pPr lvl="1"/>
            <a:r>
              <a:rPr lang="en-US" altLang="zh-CN" sz="1600" dirty="0"/>
              <a:t>3)	</a:t>
            </a:r>
            <a:r>
              <a:rPr lang="zh-CN" altLang="en-US" sz="1600" dirty="0"/>
              <a:t>使用分组的选择符进入</a:t>
            </a:r>
            <a:r>
              <a:rPr lang="en-US" altLang="zh-CN" sz="1600" dirty="0"/>
              <a:t>SPD</a:t>
            </a:r>
            <a:r>
              <a:rPr lang="zh-CN" altLang="en-US" sz="1600" dirty="0"/>
              <a:t>中查找与之匹配的策略，根据策略检查该分组是否满足</a:t>
            </a:r>
            <a:r>
              <a:rPr lang="en-US" altLang="zh-CN" sz="1600" dirty="0" err="1"/>
              <a:t>IPSec</a:t>
            </a:r>
            <a:r>
              <a:rPr lang="zh-CN" altLang="en-US" sz="1600" dirty="0"/>
              <a:t>处理要求</a:t>
            </a:r>
          </a:p>
          <a:p>
            <a:pPr lvl="1"/>
            <a:r>
              <a:rPr lang="en-US" altLang="zh-CN" sz="1600" dirty="0"/>
              <a:t>4)	</a:t>
            </a:r>
            <a:r>
              <a:rPr lang="zh-CN" altLang="en-US" sz="1600" dirty="0"/>
              <a:t>检查抗重播功能</a:t>
            </a:r>
          </a:p>
          <a:p>
            <a:pPr lvl="1"/>
            <a:r>
              <a:rPr lang="en-US" altLang="zh-CN" sz="1600" dirty="0"/>
              <a:t>5)	</a:t>
            </a:r>
            <a:r>
              <a:rPr lang="zh-CN" altLang="en-US" sz="1600" dirty="0"/>
              <a:t>如</a:t>
            </a:r>
            <a:r>
              <a:rPr lang="en-US" altLang="zh-CN" sz="1600" dirty="0"/>
              <a:t>SA</a:t>
            </a:r>
            <a:r>
              <a:rPr lang="zh-CN" altLang="en-US" sz="1600" dirty="0"/>
              <a:t>指定需要认证，则检查数据完整性</a:t>
            </a:r>
          </a:p>
          <a:p>
            <a:pPr lvl="1"/>
            <a:r>
              <a:rPr lang="en-US" altLang="zh-CN" sz="1600" dirty="0"/>
              <a:t>6)	</a:t>
            </a:r>
            <a:r>
              <a:rPr lang="zh-CN" altLang="en-US" sz="1600" dirty="0"/>
              <a:t>解</a:t>
            </a:r>
            <a:r>
              <a:rPr lang="zh-CN" altLang="en-US" sz="1600" dirty="0" smtClean="0"/>
              <a:t>密</a:t>
            </a:r>
            <a:endParaRPr lang="en-US" altLang="zh-CN" sz="1600" dirty="0" smtClean="0"/>
          </a:p>
          <a:p>
            <a:endParaRPr lang="en-US" altLang="zh-CN" sz="2000" dirty="0"/>
          </a:p>
          <a:p>
            <a:endParaRPr lang="en-US" altLang="zh-CN" sz="2000" dirty="0" smtClean="0"/>
          </a:p>
          <a:p>
            <a:endParaRPr lang="en-US" altLang="zh-CN" sz="2000" dirty="0" smtClean="0"/>
          </a:p>
          <a:p>
            <a:endParaRPr lang="en-US" altLang="zh-CN" sz="2000" dirty="0"/>
          </a:p>
          <a:p>
            <a:pPr marL="0" indent="0">
              <a:buNone/>
            </a:pPr>
            <a:endParaRPr lang="en-US" altLang="zh-CN" sz="2000" dirty="0"/>
          </a:p>
        </p:txBody>
      </p:sp>
      <p:sp>
        <p:nvSpPr>
          <p:cNvPr id="3" name="标题 2"/>
          <p:cNvSpPr>
            <a:spLocks noGrp="1"/>
          </p:cNvSpPr>
          <p:nvPr>
            <p:ph type="title"/>
          </p:nvPr>
        </p:nvSpPr>
        <p:spPr/>
        <p:txBody>
          <a:bodyPr/>
          <a:lstStyle/>
          <a:p>
            <a:r>
              <a:rPr lang="en-US" altLang="zh-CN" dirty="0" smtClean="0"/>
              <a:t>IPv6</a:t>
            </a:r>
            <a:r>
              <a:rPr lang="zh-CN" altLang="en-US" dirty="0" smtClean="0"/>
              <a:t>首部</a:t>
            </a:r>
            <a:endParaRPr lang="zh-CN" altLang="en-US" dirty="0"/>
          </a:p>
        </p:txBody>
      </p:sp>
      <p:sp>
        <p:nvSpPr>
          <p:cNvPr id="4" name="内容占位符 3"/>
          <p:cNvSpPr>
            <a:spLocks noGrp="1"/>
          </p:cNvSpPr>
          <p:nvPr>
            <p:ph sz="half" idx="10"/>
          </p:nvPr>
        </p:nvSpPr>
        <p:spPr/>
        <p:txBody>
          <a:bodyPr/>
          <a:lstStyle/>
          <a:p>
            <a:r>
              <a:rPr lang="en-US" altLang="zh-CN" dirty="0" smtClean="0"/>
              <a:t>IPv6 Header</a:t>
            </a:r>
            <a:endParaRPr lang="zh-CN" altLang="en-US" dirty="0"/>
          </a:p>
        </p:txBody>
      </p:sp>
    </p:spTree>
    <p:extLst>
      <p:ext uri="{BB962C8B-B14F-4D97-AF65-F5344CB8AC3E}">
        <p14:creationId xmlns:p14="http://schemas.microsoft.com/office/powerpoint/2010/main" val="20813555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THANK YOU</a:t>
            </a:r>
            <a:endParaRPr lang="zh-CN" altLang="en-US" dirty="0"/>
          </a:p>
        </p:txBody>
      </p:sp>
    </p:spTree>
    <p:extLst>
      <p:ext uri="{BB962C8B-B14F-4D97-AF65-F5344CB8AC3E}">
        <p14:creationId xmlns:p14="http://schemas.microsoft.com/office/powerpoint/2010/main" val="46004109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2329</TotalTime>
  <Words>4538</Words>
  <Application>Microsoft Office PowerPoint</Application>
  <PresentationFormat>Widescreen</PresentationFormat>
  <Paragraphs>779</Paragraphs>
  <Slides>33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 Unicode MS</vt:lpstr>
      <vt:lpstr>DengXian</vt:lpstr>
      <vt:lpstr>宋体</vt:lpstr>
      <vt:lpstr>微软雅黑</vt:lpstr>
      <vt:lpstr>Arial</vt:lpstr>
      <vt:lpstr>Calibri</vt:lpstr>
      <vt:lpstr>Calibri Light</vt:lpstr>
      <vt:lpstr>Times New Roman</vt:lpstr>
      <vt:lpstr>Wingdings</vt:lpstr>
      <vt:lpstr>Office 主题</vt:lpstr>
      <vt:lpstr>车载以太网IPv6协议规范总结</vt:lpstr>
      <vt:lpstr>版本信息</vt:lpstr>
      <vt:lpstr>概述 IPv6地址 IPv6首部 </vt:lpstr>
      <vt:lpstr>概述</vt:lpstr>
      <vt:lpstr>概述</vt:lpstr>
      <vt:lpstr>IPv6地址</vt:lpstr>
      <vt:lpstr>IPv6地址</vt:lpstr>
      <vt:lpstr>IPv6地址</vt:lpstr>
      <vt:lpstr>IPv6地址</vt:lpstr>
      <vt:lpstr>IPv6地址</vt:lpstr>
      <vt:lpstr>IPv6地址</vt:lpstr>
      <vt:lpstr>IPv6地址</vt:lpstr>
      <vt:lpstr>IPv6地址</vt:lpstr>
      <vt:lpstr>IPv6地址</vt:lpstr>
      <vt:lpstr>IPv6首部</vt:lpstr>
      <vt:lpstr>IPv6首部</vt:lpstr>
      <vt:lpstr>IPv6首部</vt:lpstr>
      <vt:lpstr>IPv6首部</vt:lpstr>
      <vt:lpstr>IPv6首部</vt:lpstr>
      <vt:lpstr>IPv6首部</vt:lpstr>
      <vt:lpstr>IPv6首部</vt:lpstr>
      <vt:lpstr>IPv6首部</vt:lpstr>
      <vt:lpstr>IPv6首部</vt:lpstr>
      <vt:lpstr>IPv6首部</vt:lpstr>
      <vt:lpstr>IPv6首部</vt:lpstr>
      <vt:lpstr>IPv6首部</vt:lpstr>
      <vt:lpstr>IPv6首部</vt:lpstr>
      <vt:lpstr>IPv6首部</vt:lpstr>
      <vt:lpstr>IPv6首部</vt:lpstr>
      <vt:lpstr>IPv6首部</vt:lpstr>
      <vt:lpstr>IPv6首部</vt:lpstr>
      <vt:lpstr>IPv6首部</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泛 亚 展 稿 模 版</dc:title>
  <dc:creator>Shaoping Sun</dc:creator>
  <cp:lastModifiedBy>Yu Zhonghao 于钟皓(HE,PATAC)</cp:lastModifiedBy>
  <cp:revision>181</cp:revision>
  <dcterms:created xsi:type="dcterms:W3CDTF">2016-04-15T11:56:07Z</dcterms:created>
  <dcterms:modified xsi:type="dcterms:W3CDTF">2018-12-19T07:16:37Z</dcterms:modified>
</cp:coreProperties>
</file>