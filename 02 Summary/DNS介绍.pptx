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2" r:id="rId5"/>
    <p:sldId id="266" r:id="rId6"/>
    <p:sldId id="281" r:id="rId7"/>
    <p:sldId id="278" r:id="rId8"/>
    <p:sldId id="279" r:id="rId9"/>
    <p:sldId id="280" r:id="rId10"/>
    <p:sldId id="269" r:id="rId11"/>
    <p:sldId id="270" r:id="rId12"/>
    <p:sldId id="282" r:id="rId13"/>
    <p:sldId id="284" r:id="rId14"/>
    <p:sldId id="285" r:id="rId15"/>
    <p:sldId id="286" r:id="rId16"/>
    <p:sldId id="287" r:id="rId17"/>
    <p:sldId id="288" r:id="rId18"/>
    <p:sldId id="289" r:id="rId19"/>
    <p:sldId id="290" r:id="rId20"/>
    <p:sldId id="291" r:id="rId21"/>
    <p:sldId id="292" r:id="rId22"/>
    <p:sldId id="265"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61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75" d="100"/>
          <a:sy n="75" d="100"/>
        </p:scale>
        <p:origin x="854" y="25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88560" cy="6858000"/>
          </a:xfrm>
          <a:prstGeom prst="rect">
            <a:avLst/>
          </a:prstGeom>
        </p:spPr>
      </p:pic>
      <p:sp>
        <p:nvSpPr>
          <p:cNvPr id="8" name="Subtitle 2"/>
          <p:cNvSpPr>
            <a:spLocks noGrp="1"/>
          </p:cNvSpPr>
          <p:nvPr>
            <p:ph type="subTitle" idx="1"/>
          </p:nvPr>
        </p:nvSpPr>
        <p:spPr>
          <a:xfrm>
            <a:off x="4947558" y="3075508"/>
            <a:ext cx="6406242" cy="562737"/>
          </a:xfrm>
        </p:spPr>
        <p:txBody>
          <a:bodyPr>
            <a:noAutofit/>
          </a:bodyPr>
          <a:lstStyle>
            <a:lvl1pPr marL="0" indent="0" algn="l">
              <a:buNone/>
              <a:defRPr sz="3400">
                <a:solidFill>
                  <a:srgbClr val="616163"/>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单击此处编辑母版副标题样式</a:t>
            </a:r>
            <a:endParaRPr lang="en-US" dirty="0"/>
          </a:p>
        </p:txBody>
      </p:sp>
      <p:sp>
        <p:nvSpPr>
          <p:cNvPr id="9" name="Title 1"/>
          <p:cNvSpPr>
            <a:spLocks noGrp="1"/>
          </p:cNvSpPr>
          <p:nvPr>
            <p:ph type="ctrTitle"/>
          </p:nvPr>
        </p:nvSpPr>
        <p:spPr>
          <a:xfrm>
            <a:off x="4947558" y="2277694"/>
            <a:ext cx="6406242" cy="765159"/>
          </a:xfrm>
        </p:spPr>
        <p:txBody>
          <a:bodyPr anchor="b">
            <a:noAutofit/>
          </a:bodyPr>
          <a:lstStyle>
            <a:lvl1pPr algn="l">
              <a:defRPr sz="3700">
                <a:solidFill>
                  <a:srgbClr val="616163"/>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10" name="Date Placeholder 3"/>
          <p:cNvSpPr>
            <a:spLocks noGrp="1"/>
          </p:cNvSpPr>
          <p:nvPr>
            <p:ph type="dt" sz="half" idx="10"/>
          </p:nvPr>
        </p:nvSpPr>
        <p:spPr>
          <a:xfrm>
            <a:off x="838200" y="6356350"/>
            <a:ext cx="2743200" cy="365125"/>
          </a:xfrm>
        </p:spPr>
        <p:txBody>
          <a:bodyPr/>
          <a:lstStyle/>
          <a:p>
            <a:fld id="{0E531E82-64DB-449D-B90B-BF00E4CB7395}" type="datetimeFigureOut">
              <a:rPr lang="zh-CN" altLang="en-US" smtClean="0"/>
              <a:t>2018/12/21</a:t>
            </a:fld>
            <a:endParaRPr lang="zh-CN" altLang="en-US"/>
          </a:p>
        </p:txBody>
      </p:sp>
      <p:sp>
        <p:nvSpPr>
          <p:cNvPr id="11" name="Footer Placeholder 4"/>
          <p:cNvSpPr>
            <a:spLocks noGrp="1"/>
          </p:cNvSpPr>
          <p:nvPr>
            <p:ph type="ftr" sz="quarter" idx="11"/>
          </p:nvPr>
        </p:nvSpPr>
        <p:spPr>
          <a:xfrm>
            <a:off x="4038600" y="6356350"/>
            <a:ext cx="4114800" cy="365125"/>
          </a:xfrm>
        </p:spPr>
        <p:txBody>
          <a:bodyPr/>
          <a:lstStyle/>
          <a:p>
            <a:endParaRPr lang="zh-CN" altLang="en-US"/>
          </a:p>
        </p:txBody>
      </p:sp>
      <p:sp>
        <p:nvSpPr>
          <p:cNvPr id="12" name="Slide Number Placeholder 5"/>
          <p:cNvSpPr>
            <a:spLocks noGrp="1"/>
          </p:cNvSpPr>
          <p:nvPr>
            <p:ph type="sldNum" sz="quarter" idx="12"/>
          </p:nvPr>
        </p:nvSpPr>
        <p:spPr>
          <a:xfrm>
            <a:off x="8610600" y="6356350"/>
            <a:ext cx="2743200" cy="365125"/>
          </a:xfrm>
        </p:spPr>
        <p:txBody>
          <a:bodyPr/>
          <a:lstStyle/>
          <a:p>
            <a:fld id="{5DE70D9F-83B0-43BD-B835-7C0078D8551A}" type="slidenum">
              <a:rPr lang="zh-CN" altLang="en-US" smtClean="0"/>
              <a:t>‹#›</a:t>
            </a:fld>
            <a:endParaRPr lang="zh-CN" altLang="en-US"/>
          </a:p>
        </p:txBody>
      </p:sp>
      <p:sp>
        <p:nvSpPr>
          <p:cNvPr id="13" name="Text Placeholder 9"/>
          <p:cNvSpPr>
            <a:spLocks noGrp="1"/>
          </p:cNvSpPr>
          <p:nvPr>
            <p:ph type="body" sz="quarter" idx="13"/>
          </p:nvPr>
        </p:nvSpPr>
        <p:spPr>
          <a:xfrm>
            <a:off x="4947558" y="3742114"/>
            <a:ext cx="3424171" cy="421672"/>
          </a:xfrm>
          <a:prstGeom prst="rect">
            <a:avLst/>
          </a:prstGeom>
        </p:spPr>
        <p:txBody>
          <a:bodyPr>
            <a:normAutofit/>
          </a:bodyPr>
          <a:lstStyle>
            <a:lvl1pPr marL="0" indent="0" algn="l">
              <a:buNone/>
              <a:defRPr sz="2400" b="0">
                <a:solidFill>
                  <a:srgbClr val="616163"/>
                </a:solidFill>
                <a:latin typeface="Arial Unicode MS" panose="020B0604020202020204" pitchFamily="34" charset="-122"/>
                <a:ea typeface="Arial Unicode MS" panose="020B0604020202020204" pitchFamily="34" charset="-122"/>
                <a:cs typeface="Arial Unicode MS" panose="020B0604020202020204" pitchFamily="34" charset="-122"/>
              </a:defRPr>
            </a:lvl1pPr>
          </a:lstStyle>
          <a:p>
            <a:endParaRPr lang="zh-CN" altLang="en-US" dirty="0"/>
          </a:p>
        </p:txBody>
      </p:sp>
    </p:spTree>
    <p:extLst>
      <p:ext uri="{BB962C8B-B14F-4D97-AF65-F5344CB8AC3E}">
        <p14:creationId xmlns:p14="http://schemas.microsoft.com/office/powerpoint/2010/main" val="4122755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9936"/>
          </a:xfrm>
          <a:prstGeom prst="rect">
            <a:avLst/>
          </a:prstGeom>
        </p:spPr>
      </p:pic>
      <p:grpSp>
        <p:nvGrpSpPr>
          <p:cNvPr id="3" name="组合 2"/>
          <p:cNvGrpSpPr/>
          <p:nvPr userDrawn="1"/>
        </p:nvGrpSpPr>
        <p:grpSpPr>
          <a:xfrm>
            <a:off x="5185646" y="524281"/>
            <a:ext cx="1817268" cy="1055222"/>
            <a:chOff x="5185646" y="1293723"/>
            <a:chExt cx="1817268" cy="1055222"/>
          </a:xfrm>
        </p:grpSpPr>
        <p:sp>
          <p:nvSpPr>
            <p:cNvPr id="12" name="文本框 11"/>
            <p:cNvSpPr txBox="1"/>
            <p:nvPr userDrawn="1"/>
          </p:nvSpPr>
          <p:spPr>
            <a:xfrm>
              <a:off x="5499868" y="1293723"/>
              <a:ext cx="1188825" cy="646331"/>
            </a:xfrm>
            <a:prstGeom prst="rect">
              <a:avLst/>
            </a:prstGeom>
            <a:noFill/>
          </p:spPr>
          <p:txBody>
            <a:bodyPr wrap="square" rtlCol="0">
              <a:spAutoFit/>
            </a:bodyPr>
            <a:lstStyle/>
            <a:p>
              <a:pPr algn="ctr"/>
              <a:r>
                <a:rPr lang="zh-CN" altLang="en-US" sz="3600" dirty="0">
                  <a:solidFill>
                    <a:srgbClr val="616163"/>
                  </a:solidFill>
                  <a:latin typeface="微软雅黑" panose="020B0503020204020204" pitchFamily="34" charset="-122"/>
                  <a:ea typeface="微软雅黑" panose="020B0503020204020204" pitchFamily="34" charset="-122"/>
                </a:rPr>
                <a:t>目录</a:t>
              </a:r>
            </a:p>
          </p:txBody>
        </p:sp>
        <p:sp>
          <p:nvSpPr>
            <p:cNvPr id="13" name="文本框 12"/>
            <p:cNvSpPr txBox="1"/>
            <p:nvPr userDrawn="1"/>
          </p:nvSpPr>
          <p:spPr>
            <a:xfrm>
              <a:off x="5185646" y="1825725"/>
              <a:ext cx="1817268" cy="523220"/>
            </a:xfrm>
            <a:prstGeom prst="rect">
              <a:avLst/>
            </a:prstGeom>
            <a:noFill/>
          </p:spPr>
          <p:txBody>
            <a:bodyPr wrap="square" rtlCol="0">
              <a:spAutoFit/>
            </a:bodyPr>
            <a:lstStyle/>
            <a:p>
              <a:pPr algn="ctr"/>
              <a:r>
                <a:rPr lang="en-US" altLang="zh-CN" sz="2800" dirty="0" smtClean="0">
                  <a:solidFill>
                    <a:srgbClr val="616163"/>
                  </a:solidFill>
                  <a:latin typeface="Arial Unicode MS" panose="020B0604020202020204" pitchFamily="34" charset="-122"/>
                  <a:ea typeface="Arial Unicode MS" panose="020B0604020202020204" pitchFamily="34" charset="-122"/>
                  <a:cs typeface="Arial Unicode MS" panose="020B0604020202020204" pitchFamily="34" charset="-122"/>
                </a:rPr>
                <a:t>Content</a:t>
              </a:r>
              <a:endParaRPr lang="zh-CN" altLang="en-US" sz="2800" dirty="0">
                <a:solidFill>
                  <a:srgbClr val="616163"/>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sp>
        <p:nvSpPr>
          <p:cNvPr id="8" name="Text Placeholder 9"/>
          <p:cNvSpPr>
            <a:spLocks noGrp="1"/>
          </p:cNvSpPr>
          <p:nvPr>
            <p:ph type="body" sz="quarter" idx="13"/>
          </p:nvPr>
        </p:nvSpPr>
        <p:spPr>
          <a:xfrm>
            <a:off x="6240659" y="1800480"/>
            <a:ext cx="3523827" cy="3887948"/>
          </a:xfrm>
          <a:prstGeom prst="rect">
            <a:avLst/>
          </a:prstGeom>
        </p:spPr>
        <p:txBody>
          <a:bodyPr>
            <a:normAutofit/>
          </a:bodyPr>
          <a:lstStyle>
            <a:lvl1pPr marL="0" indent="0">
              <a:lnSpc>
                <a:spcPct val="150000"/>
              </a:lnSpc>
              <a:buNone/>
              <a:defRPr sz="2800" b="0">
                <a:solidFill>
                  <a:srgbClr val="616163"/>
                </a:solidFill>
                <a:latin typeface="Arial Unicode MS" panose="020B0604020202020204" pitchFamily="34" charset="-122"/>
                <a:ea typeface="Arial Unicode MS" panose="020B0604020202020204" pitchFamily="34" charset="-122"/>
                <a:cs typeface="Arial Unicode MS" panose="020B0604020202020204" pitchFamily="34" charset="-122"/>
              </a:defRPr>
            </a:lvl1pPr>
          </a:lstStyle>
          <a:p>
            <a:endParaRPr lang="en-US" altLang="zh-CN" dirty="0" smtClean="0"/>
          </a:p>
        </p:txBody>
      </p:sp>
      <p:sp>
        <p:nvSpPr>
          <p:cNvPr id="9" name="Title 8"/>
          <p:cNvSpPr>
            <a:spLocks noGrp="1"/>
          </p:cNvSpPr>
          <p:nvPr>
            <p:ph type="title" hasCustomPrompt="1"/>
          </p:nvPr>
        </p:nvSpPr>
        <p:spPr>
          <a:xfrm>
            <a:off x="2730595" y="1794631"/>
            <a:ext cx="3363685" cy="3879045"/>
          </a:xfrm>
          <a:prstGeom prst="rect">
            <a:avLst/>
          </a:prstGeom>
        </p:spPr>
        <p:txBody>
          <a:bodyPr anchor="t">
            <a:normAutofit/>
          </a:bodyPr>
          <a:lstStyle>
            <a:lvl1pPr marL="0" indent="0">
              <a:lnSpc>
                <a:spcPct val="150000"/>
              </a:lnSpc>
              <a:buFont typeface="Wingdings" panose="05000000000000000000" pitchFamily="2" charset="2"/>
              <a:buNone/>
              <a:defRPr sz="3200" b="0" baseline="0">
                <a:solidFill>
                  <a:srgbClr val="616163"/>
                </a:solidFill>
                <a:latin typeface="微软雅黑" panose="020B0503020204020204" pitchFamily="34" charset="-122"/>
                <a:ea typeface="微软雅黑" panose="020B0503020204020204" pitchFamily="34" charset="-122"/>
              </a:defRPr>
            </a:lvl1pPr>
          </a:lstStyle>
          <a:p>
            <a:r>
              <a:rPr lang="en-US" altLang="zh-CN" dirty="0" smtClean="0"/>
              <a:t>Click to add text</a:t>
            </a:r>
            <a:endParaRPr lang="zh-CN" altLang="en-US" dirty="0"/>
          </a:p>
        </p:txBody>
      </p:sp>
      <p:sp>
        <p:nvSpPr>
          <p:cNvPr id="15" name="Slide Number Placeholder 1"/>
          <p:cNvSpPr txBox="1">
            <a:spLocks/>
          </p:cNvSpPr>
          <p:nvPr userDrawn="1"/>
        </p:nvSpPr>
        <p:spPr>
          <a:xfrm>
            <a:off x="9473292" y="6625817"/>
            <a:ext cx="2133600" cy="208142"/>
          </a:xfrm>
          <a:prstGeom prst="rect">
            <a:avLst/>
          </a:prstGeom>
        </p:spPr>
        <p:txBody>
          <a:bodyPr/>
          <a:lstStyle>
            <a:defPPr>
              <a:defRPr lang="zh-CN"/>
            </a:defPPr>
            <a:lvl1pPr marL="0" algn="r" defTabSz="914400" rtl="0" eaLnBrk="1" latinLnBrk="0" hangingPunct="1">
              <a:defRPr sz="1200" b="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P</a:t>
            </a:r>
            <a:r>
              <a:rPr lang="en-US" altLang="zh-CN"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age  </a:t>
            </a:r>
            <a:fld id="{EE43992F-D7C3-4F00-A94C-EF7AC265FCDF}" type="slidenum">
              <a:rPr lang="en-US" sz="90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r"/>
              <a:t>‹#›</a:t>
            </a:fld>
            <a:r>
              <a:rPr lang="en-US" sz="900" baseline="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PATAC Confidential</a:t>
            </a:r>
            <a:endParaRPr lang="en-US" sz="900" dirty="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312052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9936"/>
          </a:xfrm>
          <a:prstGeom prst="rect">
            <a:avLst/>
          </a:prstGeom>
        </p:spPr>
      </p:pic>
      <p:sp>
        <p:nvSpPr>
          <p:cNvPr id="9" name="Title 1"/>
          <p:cNvSpPr>
            <a:spLocks noGrp="1"/>
          </p:cNvSpPr>
          <p:nvPr>
            <p:ph type="ctrTitle"/>
          </p:nvPr>
        </p:nvSpPr>
        <p:spPr>
          <a:xfrm>
            <a:off x="4171951" y="2920456"/>
            <a:ext cx="6327320" cy="512754"/>
          </a:xfrm>
        </p:spPr>
        <p:txBody>
          <a:bodyPr anchor="b">
            <a:noAutofit/>
          </a:bodyPr>
          <a:lstStyle>
            <a:lvl1pPr algn="r">
              <a:defRPr sz="3200">
                <a:solidFill>
                  <a:srgbClr val="616163"/>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10" name="Subtitle 2"/>
          <p:cNvSpPr>
            <a:spLocks noGrp="1"/>
          </p:cNvSpPr>
          <p:nvPr>
            <p:ph type="subTitle" idx="1"/>
          </p:nvPr>
        </p:nvSpPr>
        <p:spPr>
          <a:xfrm>
            <a:off x="4171951" y="3512989"/>
            <a:ext cx="6327320" cy="520168"/>
          </a:xfrm>
        </p:spPr>
        <p:txBody>
          <a:bodyPr>
            <a:noAutofit/>
          </a:bodyPr>
          <a:lstStyle>
            <a:lvl1pPr marL="0" indent="0" algn="r">
              <a:buNone/>
              <a:defRPr sz="3200">
                <a:solidFill>
                  <a:srgbClr val="616163"/>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单击此处编辑母版副标题样式</a:t>
            </a:r>
            <a:endParaRPr lang="en-US" dirty="0"/>
          </a:p>
        </p:txBody>
      </p:sp>
    </p:spTree>
    <p:extLst>
      <p:ext uri="{BB962C8B-B14F-4D97-AF65-F5344CB8AC3E}">
        <p14:creationId xmlns:p14="http://schemas.microsoft.com/office/powerpoint/2010/main" val="2904461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88560" cy="6858000"/>
          </a:xfrm>
          <a:prstGeom prst="rect">
            <a:avLst/>
          </a:prstGeom>
        </p:spPr>
      </p:pic>
      <p:sp>
        <p:nvSpPr>
          <p:cNvPr id="10" name="Content Placeholder 2"/>
          <p:cNvSpPr>
            <a:spLocks noGrp="1"/>
          </p:cNvSpPr>
          <p:nvPr>
            <p:ph sz="half" idx="1"/>
          </p:nvPr>
        </p:nvSpPr>
        <p:spPr>
          <a:xfrm>
            <a:off x="608520" y="1273628"/>
            <a:ext cx="10908565" cy="4792435"/>
          </a:xfrm>
        </p:spPr>
        <p:txBody>
          <a:bodyPr>
            <a:normAutofit/>
          </a:bodyPr>
          <a:lstStyle>
            <a:lvl1pPr>
              <a:lnSpc>
                <a:spcPct val="100000"/>
              </a:lnSpc>
              <a:defRPr sz="2800">
                <a:solidFill>
                  <a:srgbClr val="616163"/>
                </a:solidFill>
                <a:latin typeface="微软雅黑" panose="020B0503020204020204" pitchFamily="34" charset="-122"/>
                <a:ea typeface="微软雅黑" panose="020B0503020204020204" pitchFamily="34" charset="-122"/>
              </a:defRPr>
            </a:lvl1pPr>
            <a:lvl2pPr>
              <a:lnSpc>
                <a:spcPct val="100000"/>
              </a:lnSpc>
              <a:defRPr sz="2400">
                <a:solidFill>
                  <a:srgbClr val="616163"/>
                </a:solidFill>
                <a:latin typeface="微软雅黑" panose="020B0503020204020204" pitchFamily="34" charset="-122"/>
                <a:ea typeface="微软雅黑" panose="020B0503020204020204" pitchFamily="34" charset="-122"/>
              </a:defRPr>
            </a:lvl2pPr>
            <a:lvl3pPr>
              <a:lnSpc>
                <a:spcPct val="100000"/>
              </a:lnSpc>
              <a:defRPr sz="2000">
                <a:solidFill>
                  <a:srgbClr val="616163"/>
                </a:solidFill>
                <a:latin typeface="微软雅黑" panose="020B0503020204020204" pitchFamily="34" charset="-122"/>
                <a:ea typeface="微软雅黑" panose="020B0503020204020204" pitchFamily="34" charset="-122"/>
              </a:defRPr>
            </a:lvl3pPr>
            <a:lvl4pPr>
              <a:lnSpc>
                <a:spcPct val="100000"/>
              </a:lnSpc>
              <a:defRPr sz="1800">
                <a:solidFill>
                  <a:srgbClr val="616163"/>
                </a:solidFill>
                <a:latin typeface="微软雅黑" panose="020B0503020204020204" pitchFamily="34" charset="-122"/>
                <a:ea typeface="微软雅黑" panose="020B0503020204020204" pitchFamily="34" charset="-122"/>
              </a:defRPr>
            </a:lvl4pPr>
            <a:lvl5pPr>
              <a:lnSpc>
                <a:spcPct val="100000"/>
              </a:lnSpc>
              <a:defRPr sz="1800">
                <a:solidFill>
                  <a:srgbClr val="616163"/>
                </a:solidFill>
                <a:latin typeface="微软雅黑" panose="020B0503020204020204" pitchFamily="34" charset="-122"/>
                <a:ea typeface="微软雅黑" panose="020B0503020204020204"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14" name="Title 1"/>
          <p:cNvSpPr>
            <a:spLocks noGrp="1"/>
          </p:cNvSpPr>
          <p:nvPr>
            <p:ph type="title"/>
          </p:nvPr>
        </p:nvSpPr>
        <p:spPr>
          <a:xfrm>
            <a:off x="608520" y="208314"/>
            <a:ext cx="8187896" cy="414317"/>
          </a:xfrm>
          <a:prstGeom prst="rect">
            <a:avLst/>
          </a:prstGeom>
        </p:spPr>
        <p:txBody>
          <a:bodyPr anchor="ctr">
            <a:noAutofit/>
          </a:bodyPr>
          <a:lstStyle>
            <a:lvl1pPr>
              <a:lnSpc>
                <a:spcPct val="100000"/>
              </a:lnSpc>
              <a:defRPr sz="3200">
                <a:solidFill>
                  <a:srgbClr val="616163"/>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15" name="Content Placeholder 2"/>
          <p:cNvSpPr>
            <a:spLocks noGrp="1"/>
          </p:cNvSpPr>
          <p:nvPr>
            <p:ph sz="half" idx="10"/>
          </p:nvPr>
        </p:nvSpPr>
        <p:spPr>
          <a:xfrm>
            <a:off x="608520" y="656093"/>
            <a:ext cx="8173261" cy="321686"/>
          </a:xfrm>
          <a:prstGeom prst="rect">
            <a:avLst/>
          </a:prstGeom>
        </p:spPr>
        <p:txBody>
          <a:bodyPr anchor="ctr">
            <a:noAutofit/>
          </a:bodyPr>
          <a:lstStyle>
            <a:lvl1pPr marL="0" indent="0">
              <a:lnSpc>
                <a:spcPct val="100000"/>
              </a:lnSpc>
              <a:buNone/>
              <a:defRPr sz="2400">
                <a:solidFill>
                  <a:srgbClr val="616163"/>
                </a:solidFill>
                <a:latin typeface="微软雅黑" panose="020B0503020204020204" pitchFamily="34" charset="-122"/>
                <a:ea typeface="微软雅黑" panose="020B0503020204020204" pitchFamily="34" charset="-122"/>
              </a:defRPr>
            </a:lvl1pPr>
            <a:lvl2pPr>
              <a:lnSpc>
                <a:spcPct val="100000"/>
              </a:lnSpc>
              <a:defRPr sz="2000">
                <a:solidFill>
                  <a:srgbClr val="616163"/>
                </a:solidFill>
                <a:latin typeface="微软雅黑" panose="020B0503020204020204" pitchFamily="34" charset="-122"/>
                <a:ea typeface="微软雅黑" panose="020B0503020204020204" pitchFamily="34" charset="-122"/>
              </a:defRPr>
            </a:lvl2pPr>
            <a:lvl3pPr>
              <a:lnSpc>
                <a:spcPct val="100000"/>
              </a:lnSpc>
              <a:defRPr sz="1800">
                <a:solidFill>
                  <a:srgbClr val="616163"/>
                </a:solidFill>
                <a:latin typeface="微软雅黑" panose="020B0503020204020204" pitchFamily="34" charset="-122"/>
                <a:ea typeface="微软雅黑" panose="020B0503020204020204" pitchFamily="34" charset="-122"/>
              </a:defRPr>
            </a:lvl3pPr>
            <a:lvl4pPr>
              <a:lnSpc>
                <a:spcPct val="100000"/>
              </a:lnSpc>
              <a:defRPr sz="1600">
                <a:solidFill>
                  <a:srgbClr val="616163"/>
                </a:solidFill>
                <a:latin typeface="微软雅黑" panose="020B0503020204020204" pitchFamily="34" charset="-122"/>
                <a:ea typeface="微软雅黑" panose="020B0503020204020204" pitchFamily="34" charset="-122"/>
              </a:defRPr>
            </a:lvl4pPr>
            <a:lvl5pPr>
              <a:lnSpc>
                <a:spcPct val="100000"/>
              </a:lnSpc>
              <a:defRPr sz="1600">
                <a:solidFill>
                  <a:srgbClr val="616163"/>
                </a:solidFill>
                <a:latin typeface="微软雅黑" panose="020B0503020204020204" pitchFamily="34" charset="-122"/>
                <a:ea typeface="微软雅黑" panose="020B0503020204020204" pitchFamily="34" charset="-122"/>
              </a:defRPr>
            </a:lvl5pPr>
          </a:lstStyle>
          <a:p>
            <a:pPr lvl="0"/>
            <a:r>
              <a:rPr lang="zh-CN" altLang="en-US" dirty="0" smtClean="0"/>
              <a:t>单击此处编辑母版文本样式</a:t>
            </a:r>
          </a:p>
        </p:txBody>
      </p:sp>
      <p:sp>
        <p:nvSpPr>
          <p:cNvPr id="16" name="Slide Number Placeholder 1"/>
          <p:cNvSpPr txBox="1">
            <a:spLocks/>
          </p:cNvSpPr>
          <p:nvPr userDrawn="1"/>
        </p:nvSpPr>
        <p:spPr>
          <a:xfrm>
            <a:off x="9473292" y="6625817"/>
            <a:ext cx="2133600" cy="208142"/>
          </a:xfrm>
          <a:prstGeom prst="rect">
            <a:avLst/>
          </a:prstGeom>
        </p:spPr>
        <p:txBody>
          <a:bodyPr/>
          <a:lstStyle>
            <a:defPPr>
              <a:defRPr lang="zh-CN"/>
            </a:defPPr>
            <a:lvl1pPr marL="0" algn="r" defTabSz="914400" rtl="0" eaLnBrk="1" latinLnBrk="0" hangingPunct="1">
              <a:defRPr sz="1200" b="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P</a:t>
            </a:r>
            <a:r>
              <a:rPr lang="en-US" altLang="zh-CN"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age  </a:t>
            </a:r>
            <a:fld id="{EE43992F-D7C3-4F00-A94C-EF7AC265FCDF}" type="slidenum">
              <a:rPr lang="en-US" sz="90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r"/>
              <a:t>‹#›</a:t>
            </a:fld>
            <a:r>
              <a:rPr lang="en-US" sz="900" baseline="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PATAC Confidential</a:t>
            </a:r>
            <a:endParaRPr lang="en-US" sz="900" dirty="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3325059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88560" cy="6858000"/>
          </a:xfrm>
          <a:prstGeom prst="rect">
            <a:avLst/>
          </a:prstGeom>
        </p:spPr>
      </p:pic>
      <p:sp>
        <p:nvSpPr>
          <p:cNvPr id="10" name="Content Placeholder 2"/>
          <p:cNvSpPr>
            <a:spLocks noGrp="1"/>
          </p:cNvSpPr>
          <p:nvPr>
            <p:ph sz="half" idx="1"/>
          </p:nvPr>
        </p:nvSpPr>
        <p:spPr>
          <a:xfrm>
            <a:off x="608520" y="1273628"/>
            <a:ext cx="5387705" cy="4792435"/>
          </a:xfrm>
        </p:spPr>
        <p:txBody>
          <a:bodyPr>
            <a:normAutofit/>
          </a:bodyPr>
          <a:lstStyle>
            <a:lvl1pPr>
              <a:lnSpc>
                <a:spcPct val="100000"/>
              </a:lnSpc>
              <a:defRPr sz="2800">
                <a:solidFill>
                  <a:srgbClr val="616163"/>
                </a:solidFill>
                <a:latin typeface="微软雅黑" panose="020B0503020204020204" pitchFamily="34" charset="-122"/>
                <a:ea typeface="微软雅黑" panose="020B0503020204020204" pitchFamily="34" charset="-122"/>
              </a:defRPr>
            </a:lvl1pPr>
            <a:lvl2pPr>
              <a:lnSpc>
                <a:spcPct val="100000"/>
              </a:lnSpc>
              <a:defRPr sz="2400">
                <a:solidFill>
                  <a:srgbClr val="616163"/>
                </a:solidFill>
                <a:latin typeface="微软雅黑" panose="020B0503020204020204" pitchFamily="34" charset="-122"/>
                <a:ea typeface="微软雅黑" panose="020B0503020204020204" pitchFamily="34" charset="-122"/>
              </a:defRPr>
            </a:lvl2pPr>
            <a:lvl3pPr>
              <a:lnSpc>
                <a:spcPct val="100000"/>
              </a:lnSpc>
              <a:defRPr sz="2000">
                <a:solidFill>
                  <a:srgbClr val="616163"/>
                </a:solidFill>
                <a:latin typeface="微软雅黑" panose="020B0503020204020204" pitchFamily="34" charset="-122"/>
                <a:ea typeface="微软雅黑" panose="020B0503020204020204" pitchFamily="34" charset="-122"/>
              </a:defRPr>
            </a:lvl3pPr>
            <a:lvl4pPr>
              <a:lnSpc>
                <a:spcPct val="100000"/>
              </a:lnSpc>
              <a:defRPr sz="1800">
                <a:solidFill>
                  <a:srgbClr val="616163"/>
                </a:solidFill>
                <a:latin typeface="微软雅黑" panose="020B0503020204020204" pitchFamily="34" charset="-122"/>
                <a:ea typeface="微软雅黑" panose="020B0503020204020204" pitchFamily="34" charset="-122"/>
              </a:defRPr>
            </a:lvl4pPr>
            <a:lvl5pPr>
              <a:lnSpc>
                <a:spcPct val="100000"/>
              </a:lnSpc>
              <a:defRPr sz="1800">
                <a:solidFill>
                  <a:srgbClr val="616163"/>
                </a:solidFill>
                <a:latin typeface="微软雅黑" panose="020B0503020204020204" pitchFamily="34" charset="-122"/>
                <a:ea typeface="微软雅黑" panose="020B0503020204020204"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14" name="Title 1"/>
          <p:cNvSpPr>
            <a:spLocks noGrp="1"/>
          </p:cNvSpPr>
          <p:nvPr>
            <p:ph type="title"/>
          </p:nvPr>
        </p:nvSpPr>
        <p:spPr>
          <a:xfrm>
            <a:off x="608520" y="208314"/>
            <a:ext cx="8187896" cy="414317"/>
          </a:xfrm>
          <a:prstGeom prst="rect">
            <a:avLst/>
          </a:prstGeom>
        </p:spPr>
        <p:txBody>
          <a:bodyPr anchor="ctr">
            <a:noAutofit/>
          </a:bodyPr>
          <a:lstStyle>
            <a:lvl1pPr>
              <a:lnSpc>
                <a:spcPct val="100000"/>
              </a:lnSpc>
              <a:defRPr sz="3200">
                <a:solidFill>
                  <a:srgbClr val="616163"/>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15" name="Content Placeholder 2"/>
          <p:cNvSpPr>
            <a:spLocks noGrp="1"/>
          </p:cNvSpPr>
          <p:nvPr>
            <p:ph sz="half" idx="10"/>
          </p:nvPr>
        </p:nvSpPr>
        <p:spPr>
          <a:xfrm>
            <a:off x="608520" y="656093"/>
            <a:ext cx="8173261" cy="321686"/>
          </a:xfrm>
          <a:prstGeom prst="rect">
            <a:avLst/>
          </a:prstGeom>
        </p:spPr>
        <p:txBody>
          <a:bodyPr anchor="ctr">
            <a:noAutofit/>
          </a:bodyPr>
          <a:lstStyle>
            <a:lvl1pPr marL="0" indent="0">
              <a:lnSpc>
                <a:spcPct val="100000"/>
              </a:lnSpc>
              <a:buNone/>
              <a:defRPr sz="2400">
                <a:solidFill>
                  <a:srgbClr val="616163"/>
                </a:solidFill>
                <a:latin typeface="微软雅黑" panose="020B0503020204020204" pitchFamily="34" charset="-122"/>
                <a:ea typeface="微软雅黑" panose="020B0503020204020204" pitchFamily="34" charset="-122"/>
              </a:defRPr>
            </a:lvl1pPr>
            <a:lvl2pPr>
              <a:lnSpc>
                <a:spcPct val="100000"/>
              </a:lnSpc>
              <a:defRPr sz="2000">
                <a:solidFill>
                  <a:srgbClr val="616163"/>
                </a:solidFill>
                <a:latin typeface="微软雅黑" panose="020B0503020204020204" pitchFamily="34" charset="-122"/>
                <a:ea typeface="微软雅黑" panose="020B0503020204020204" pitchFamily="34" charset="-122"/>
              </a:defRPr>
            </a:lvl2pPr>
            <a:lvl3pPr>
              <a:lnSpc>
                <a:spcPct val="100000"/>
              </a:lnSpc>
              <a:defRPr sz="1800">
                <a:solidFill>
                  <a:srgbClr val="616163"/>
                </a:solidFill>
                <a:latin typeface="微软雅黑" panose="020B0503020204020204" pitchFamily="34" charset="-122"/>
                <a:ea typeface="微软雅黑" panose="020B0503020204020204" pitchFamily="34" charset="-122"/>
              </a:defRPr>
            </a:lvl3pPr>
            <a:lvl4pPr>
              <a:lnSpc>
                <a:spcPct val="100000"/>
              </a:lnSpc>
              <a:defRPr sz="1600">
                <a:solidFill>
                  <a:srgbClr val="616163"/>
                </a:solidFill>
                <a:latin typeface="微软雅黑" panose="020B0503020204020204" pitchFamily="34" charset="-122"/>
                <a:ea typeface="微软雅黑" panose="020B0503020204020204" pitchFamily="34" charset="-122"/>
              </a:defRPr>
            </a:lvl4pPr>
            <a:lvl5pPr>
              <a:lnSpc>
                <a:spcPct val="100000"/>
              </a:lnSpc>
              <a:defRPr sz="1600">
                <a:solidFill>
                  <a:srgbClr val="616163"/>
                </a:solidFill>
                <a:latin typeface="微软雅黑" panose="020B0503020204020204" pitchFamily="34" charset="-122"/>
                <a:ea typeface="微软雅黑" panose="020B0503020204020204" pitchFamily="34" charset="-122"/>
              </a:defRPr>
            </a:lvl5pPr>
          </a:lstStyle>
          <a:p>
            <a:pPr lvl="0"/>
            <a:r>
              <a:rPr lang="zh-CN" altLang="en-US" dirty="0" smtClean="0"/>
              <a:t>单击此处编辑母版文本样式</a:t>
            </a:r>
          </a:p>
        </p:txBody>
      </p:sp>
      <p:sp>
        <p:nvSpPr>
          <p:cNvPr id="16" name="Content Placeholder 2"/>
          <p:cNvSpPr>
            <a:spLocks noGrp="1"/>
          </p:cNvSpPr>
          <p:nvPr>
            <p:ph sz="half" idx="11"/>
          </p:nvPr>
        </p:nvSpPr>
        <p:spPr>
          <a:xfrm>
            <a:off x="6111249" y="1273628"/>
            <a:ext cx="5387705" cy="4792435"/>
          </a:xfrm>
        </p:spPr>
        <p:txBody>
          <a:bodyPr>
            <a:normAutofit/>
          </a:bodyPr>
          <a:lstStyle>
            <a:lvl1pPr>
              <a:lnSpc>
                <a:spcPct val="100000"/>
              </a:lnSpc>
              <a:defRPr sz="2800">
                <a:solidFill>
                  <a:srgbClr val="616163"/>
                </a:solidFill>
                <a:latin typeface="微软雅黑" panose="020B0503020204020204" pitchFamily="34" charset="-122"/>
                <a:ea typeface="微软雅黑" panose="020B0503020204020204" pitchFamily="34" charset="-122"/>
              </a:defRPr>
            </a:lvl1pPr>
            <a:lvl2pPr>
              <a:lnSpc>
                <a:spcPct val="100000"/>
              </a:lnSpc>
              <a:defRPr sz="2400">
                <a:solidFill>
                  <a:srgbClr val="616163"/>
                </a:solidFill>
                <a:latin typeface="微软雅黑" panose="020B0503020204020204" pitchFamily="34" charset="-122"/>
                <a:ea typeface="微软雅黑" panose="020B0503020204020204" pitchFamily="34" charset="-122"/>
              </a:defRPr>
            </a:lvl2pPr>
            <a:lvl3pPr>
              <a:lnSpc>
                <a:spcPct val="100000"/>
              </a:lnSpc>
              <a:defRPr sz="2000">
                <a:solidFill>
                  <a:srgbClr val="616163"/>
                </a:solidFill>
                <a:latin typeface="微软雅黑" panose="020B0503020204020204" pitchFamily="34" charset="-122"/>
                <a:ea typeface="微软雅黑" panose="020B0503020204020204" pitchFamily="34" charset="-122"/>
              </a:defRPr>
            </a:lvl3pPr>
            <a:lvl4pPr>
              <a:lnSpc>
                <a:spcPct val="100000"/>
              </a:lnSpc>
              <a:defRPr sz="1800">
                <a:solidFill>
                  <a:srgbClr val="616163"/>
                </a:solidFill>
                <a:latin typeface="微软雅黑" panose="020B0503020204020204" pitchFamily="34" charset="-122"/>
                <a:ea typeface="微软雅黑" panose="020B0503020204020204" pitchFamily="34" charset="-122"/>
              </a:defRPr>
            </a:lvl4pPr>
            <a:lvl5pPr>
              <a:lnSpc>
                <a:spcPct val="100000"/>
              </a:lnSpc>
              <a:defRPr sz="1800">
                <a:solidFill>
                  <a:srgbClr val="616163"/>
                </a:solidFill>
                <a:latin typeface="微软雅黑" panose="020B0503020204020204" pitchFamily="34" charset="-122"/>
                <a:ea typeface="微软雅黑" panose="020B0503020204020204"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17" name="Slide Number Placeholder 1"/>
          <p:cNvSpPr txBox="1">
            <a:spLocks/>
          </p:cNvSpPr>
          <p:nvPr userDrawn="1"/>
        </p:nvSpPr>
        <p:spPr>
          <a:xfrm>
            <a:off x="9473292" y="6625817"/>
            <a:ext cx="2133600" cy="208142"/>
          </a:xfrm>
          <a:prstGeom prst="rect">
            <a:avLst/>
          </a:prstGeom>
        </p:spPr>
        <p:txBody>
          <a:bodyPr/>
          <a:lstStyle>
            <a:defPPr>
              <a:defRPr lang="zh-CN"/>
            </a:defPPr>
            <a:lvl1pPr marL="0" algn="r" defTabSz="914400" rtl="0" eaLnBrk="1" latinLnBrk="0" hangingPunct="1">
              <a:defRPr sz="1200" b="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P</a:t>
            </a:r>
            <a:r>
              <a:rPr lang="en-US" altLang="zh-CN"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age  </a:t>
            </a:r>
            <a:fld id="{EE43992F-D7C3-4F00-A94C-EF7AC265FCDF}" type="slidenum">
              <a:rPr lang="en-US" sz="90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r"/>
              <a:t>‹#›</a:t>
            </a:fld>
            <a:r>
              <a:rPr lang="en-US" sz="900" baseline="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PATAC Confidential</a:t>
            </a:r>
            <a:endParaRPr lang="en-US" sz="900" dirty="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1218778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两栏内容">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5" name="Title 1"/>
          <p:cNvSpPr>
            <a:spLocks noGrp="1"/>
          </p:cNvSpPr>
          <p:nvPr>
            <p:ph type="title"/>
          </p:nvPr>
        </p:nvSpPr>
        <p:spPr>
          <a:xfrm>
            <a:off x="0" y="2915301"/>
            <a:ext cx="12192000" cy="1027398"/>
          </a:xfrm>
          <a:prstGeom prst="rect">
            <a:avLst/>
          </a:prstGeom>
        </p:spPr>
        <p:txBody>
          <a:bodyPr anchor="ctr">
            <a:noAutofit/>
          </a:bodyPr>
          <a:lstStyle>
            <a:lvl1pPr algn="ctr">
              <a:lnSpc>
                <a:spcPct val="100000"/>
              </a:lnSpc>
              <a:defRPr sz="5400" b="1">
                <a:solidFill>
                  <a:srgbClr val="616163"/>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Tree>
    <p:extLst>
      <p:ext uri="{BB962C8B-B14F-4D97-AF65-F5344CB8AC3E}">
        <p14:creationId xmlns:p14="http://schemas.microsoft.com/office/powerpoint/2010/main" val="9896905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33F572-7296-44CA-B8CF-8C259B54199B}" type="datetimeFigureOut">
              <a:rPr lang="zh-CN" altLang="en-US" smtClean="0"/>
              <a:t>2018/12/21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495F81-0E1E-4C52-979B-3B851EB8B816}" type="slidenum">
              <a:rPr lang="zh-CN" altLang="en-US" smtClean="0"/>
              <a:t>‹#›</a:t>
            </a:fld>
            <a:endParaRPr lang="zh-CN" altLang="en-US"/>
          </a:p>
        </p:txBody>
      </p:sp>
    </p:spTree>
    <p:extLst>
      <p:ext uri="{BB962C8B-B14F-4D97-AF65-F5344CB8AC3E}">
        <p14:creationId xmlns:p14="http://schemas.microsoft.com/office/powerpoint/2010/main" val="21867166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www.baidu.com/" TargetMode="External"/><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image" Target="../media/image14.wmf"/><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r>
              <a:rPr lang="en-US" altLang="zh-CN" dirty="0" smtClean="0"/>
              <a:t>DNS Introduction</a:t>
            </a:r>
            <a:endParaRPr lang="zh-CN" altLang="en-US" dirty="0"/>
          </a:p>
        </p:txBody>
      </p:sp>
      <p:sp>
        <p:nvSpPr>
          <p:cNvPr id="3" name="标题 2"/>
          <p:cNvSpPr>
            <a:spLocks noGrp="1"/>
          </p:cNvSpPr>
          <p:nvPr>
            <p:ph type="ctrTitle"/>
          </p:nvPr>
        </p:nvSpPr>
        <p:spPr/>
        <p:txBody>
          <a:bodyPr/>
          <a:lstStyle/>
          <a:p>
            <a:r>
              <a:rPr lang="en-US" altLang="zh-CN" dirty="0" smtClean="0"/>
              <a:t>DNS</a:t>
            </a:r>
            <a:r>
              <a:rPr lang="zh-CN" altLang="en-US" dirty="0" smtClean="0"/>
              <a:t> 介绍</a:t>
            </a:r>
            <a:endParaRPr lang="zh-CN" altLang="en-US" dirty="0"/>
          </a:p>
        </p:txBody>
      </p:sp>
      <p:sp>
        <p:nvSpPr>
          <p:cNvPr id="4" name="文本占位符 3"/>
          <p:cNvSpPr>
            <a:spLocks noGrp="1"/>
          </p:cNvSpPr>
          <p:nvPr>
            <p:ph type="body" sz="quarter" idx="13"/>
          </p:nvPr>
        </p:nvSpPr>
        <p:spPr/>
        <p:txBody>
          <a:bodyPr/>
          <a:lstStyle/>
          <a:p>
            <a:r>
              <a:rPr lang="en-US" altLang="zh-CN" smtClean="0"/>
              <a:t>2018-12-20</a:t>
            </a:r>
            <a:endParaRPr lang="zh-CN" altLang="en-US" dirty="0"/>
          </a:p>
        </p:txBody>
      </p:sp>
    </p:spTree>
    <p:extLst>
      <p:ext uri="{BB962C8B-B14F-4D97-AF65-F5344CB8AC3E}">
        <p14:creationId xmlns:p14="http://schemas.microsoft.com/office/powerpoint/2010/main" val="31753092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1"/>
          <p:cNvSpPr>
            <a:spLocks noGrp="1"/>
          </p:cNvSpPr>
          <p:nvPr>
            <p:ph type="body" sz="quarter" idx="13"/>
          </p:nvPr>
        </p:nvSpPr>
        <p:spPr>
          <a:xfrm>
            <a:off x="6240659" y="1800480"/>
            <a:ext cx="4424133" cy="3887948"/>
          </a:xfrm>
        </p:spPr>
        <p:txBody>
          <a:bodyPr/>
          <a:lstStyle/>
          <a:p>
            <a:r>
              <a:rPr lang="en-US" altLang="zh-CN" dirty="0" smtClean="0"/>
              <a:t>Overview</a:t>
            </a:r>
            <a:endParaRPr lang="en-US" altLang="zh-CN" dirty="0"/>
          </a:p>
          <a:p>
            <a:r>
              <a:rPr lang="en-US" altLang="zh-CN" dirty="0" smtClean="0"/>
              <a:t>Structure</a:t>
            </a:r>
            <a:endParaRPr lang="zh-CN" altLang="en-US" dirty="0" smtClean="0"/>
          </a:p>
          <a:p>
            <a:r>
              <a:rPr lang="en-US" altLang="zh-CN" dirty="0" smtClean="0"/>
              <a:t>Working Procedure</a:t>
            </a:r>
            <a:endParaRPr lang="en-US" altLang="zh-CN" dirty="0"/>
          </a:p>
          <a:p>
            <a:r>
              <a:rPr lang="en-US" altLang="zh-CN" dirty="0" smtClean="0"/>
              <a:t>Capture Analyzation</a:t>
            </a:r>
            <a:endParaRPr lang="en-US" altLang="zh-CN" dirty="0"/>
          </a:p>
        </p:txBody>
      </p:sp>
      <p:sp>
        <p:nvSpPr>
          <p:cNvPr id="8" name="标题 2"/>
          <p:cNvSpPr>
            <a:spLocks noGrp="1"/>
          </p:cNvSpPr>
          <p:nvPr>
            <p:ph type="title"/>
          </p:nvPr>
        </p:nvSpPr>
        <p:spPr>
          <a:xfrm>
            <a:off x="2730595" y="1794631"/>
            <a:ext cx="3363685" cy="3879045"/>
          </a:xfrm>
        </p:spPr>
        <p:txBody>
          <a:bodyPr/>
          <a:lstStyle/>
          <a:p>
            <a:r>
              <a:rPr lang="zh-CN" altLang="en-US" dirty="0"/>
              <a:t>概述</a:t>
            </a:r>
            <a:r>
              <a:rPr lang="en-US" altLang="zh-CN" dirty="0" smtClean="0"/>
              <a:t/>
            </a:r>
            <a:br>
              <a:rPr lang="en-US" altLang="zh-CN" dirty="0" smtClean="0"/>
            </a:br>
            <a:r>
              <a:rPr lang="zh-CN" altLang="en-US" dirty="0"/>
              <a:t>结构</a:t>
            </a:r>
            <a:r>
              <a:rPr lang="en-US" altLang="zh-CN" dirty="0" smtClean="0"/>
              <a:t/>
            </a:r>
            <a:br>
              <a:rPr lang="en-US" altLang="zh-CN" dirty="0" smtClean="0"/>
            </a:br>
            <a:r>
              <a:rPr lang="zh-CN" altLang="en-US" dirty="0" smtClean="0"/>
              <a:t>工作过程</a:t>
            </a:r>
            <a:r>
              <a:rPr lang="en-US" altLang="zh-CN" dirty="0"/>
              <a:t/>
            </a:r>
            <a:br>
              <a:rPr lang="en-US" altLang="zh-CN" dirty="0"/>
            </a:br>
            <a:r>
              <a:rPr lang="zh-CN" altLang="en-US" dirty="0"/>
              <a:t>抓包分析</a:t>
            </a:r>
          </a:p>
        </p:txBody>
      </p:sp>
    </p:spTree>
    <p:extLst>
      <p:ext uri="{BB962C8B-B14F-4D97-AF65-F5344CB8AC3E}">
        <p14:creationId xmlns:p14="http://schemas.microsoft.com/office/powerpoint/2010/main" val="28185281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概述</a:t>
            </a:r>
            <a:endParaRPr lang="zh-CN" altLang="en-US" dirty="0"/>
          </a:p>
        </p:txBody>
      </p:sp>
      <p:sp>
        <p:nvSpPr>
          <p:cNvPr id="3" name="副标题 2"/>
          <p:cNvSpPr>
            <a:spLocks noGrp="1"/>
          </p:cNvSpPr>
          <p:nvPr>
            <p:ph type="subTitle" idx="1"/>
          </p:nvPr>
        </p:nvSpPr>
        <p:spPr/>
        <p:txBody>
          <a:bodyPr/>
          <a:lstStyle/>
          <a:p>
            <a:r>
              <a:rPr lang="en-US" altLang="zh-CN" dirty="0" smtClean="0"/>
              <a:t>Overview</a:t>
            </a:r>
            <a:endParaRPr lang="zh-CN" altLang="en-US" dirty="0"/>
          </a:p>
        </p:txBody>
      </p:sp>
    </p:spTree>
    <p:extLst>
      <p:ext uri="{BB962C8B-B14F-4D97-AF65-F5344CB8AC3E}">
        <p14:creationId xmlns:p14="http://schemas.microsoft.com/office/powerpoint/2010/main" val="39619166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1800" dirty="0" smtClean="0"/>
              <a:t>域名系统（</a:t>
            </a:r>
            <a:r>
              <a:rPr lang="en-US" altLang="zh-CN" sz="1800" dirty="0" smtClean="0"/>
              <a:t>Domain Name System</a:t>
            </a:r>
            <a:r>
              <a:rPr lang="zh-CN" altLang="en-US" sz="1800" dirty="0" smtClean="0"/>
              <a:t>，</a:t>
            </a:r>
            <a:r>
              <a:rPr lang="en-US" altLang="zh-CN" sz="1800" dirty="0" smtClean="0"/>
              <a:t>DNS</a:t>
            </a:r>
            <a:r>
              <a:rPr lang="zh-CN" altLang="en-US" sz="1800" dirty="0" smtClean="0"/>
              <a:t>）工作在应用层，是</a:t>
            </a:r>
            <a:r>
              <a:rPr lang="zh-CN" altLang="en-US" sz="1800" dirty="0"/>
              <a:t>负</a:t>
            </a:r>
            <a:r>
              <a:rPr lang="zh-CN" altLang="en-US" sz="1800" dirty="0" smtClean="0"/>
              <a:t>责标识的</a:t>
            </a:r>
            <a:r>
              <a:rPr lang="zh-CN" altLang="en-US" sz="1800" dirty="0"/>
              <a:t>统一命名、翻译、查询的管理、技术体系，通过全球统一规划、统一管理、分级授权维护的方式进行的</a:t>
            </a:r>
            <a:r>
              <a:rPr lang="zh-CN" altLang="en-US" sz="1800" dirty="0" smtClean="0"/>
              <a:t>。</a:t>
            </a:r>
            <a:r>
              <a:rPr lang="zh-CN" altLang="en-US" sz="1800" dirty="0"/>
              <a:t>它</a:t>
            </a:r>
            <a:r>
              <a:rPr lang="zh-CN" altLang="en-US" sz="1800" dirty="0" smtClean="0"/>
              <a:t>所</a:t>
            </a:r>
            <a:r>
              <a:rPr lang="zh-CN" altLang="en-US" sz="1800" dirty="0"/>
              <a:t>提供的服务是用来将主机名和域名转换为</a:t>
            </a:r>
            <a:r>
              <a:rPr lang="en-US" altLang="zh-CN" sz="1800" dirty="0"/>
              <a:t>IP</a:t>
            </a:r>
            <a:r>
              <a:rPr lang="zh-CN" altLang="en-US" sz="1800" dirty="0"/>
              <a:t>地址的工作。</a:t>
            </a:r>
            <a:endParaRPr lang="en-US" altLang="zh-CN" sz="1800" dirty="0" smtClean="0"/>
          </a:p>
          <a:p>
            <a:endParaRPr lang="en-US" altLang="zh-CN" sz="1800" dirty="0"/>
          </a:p>
          <a:p>
            <a:r>
              <a:rPr lang="zh-CN" altLang="en-US" sz="1800" dirty="0" smtClean="0"/>
              <a:t>起源</a:t>
            </a:r>
            <a:endParaRPr lang="en-US" altLang="zh-CN" sz="1800" dirty="0" smtClean="0"/>
          </a:p>
          <a:p>
            <a:pPr lvl="1"/>
            <a:r>
              <a:rPr lang="zh-CN" altLang="en-US" sz="1400" dirty="0"/>
              <a:t>网</a:t>
            </a:r>
            <a:r>
              <a:rPr lang="zh-CN" altLang="en-US" sz="1400" dirty="0" smtClean="0"/>
              <a:t>络早期直接使用</a:t>
            </a:r>
            <a:r>
              <a:rPr lang="en-US" altLang="zh-CN" sz="1400" dirty="0" smtClean="0"/>
              <a:t>IP</a:t>
            </a:r>
            <a:r>
              <a:rPr lang="zh-CN" altLang="en-US" sz="1400" dirty="0" smtClean="0"/>
              <a:t>地址通信</a:t>
            </a:r>
            <a:endParaRPr lang="en-US" altLang="zh-CN" sz="1400" dirty="0" smtClean="0"/>
          </a:p>
          <a:p>
            <a:pPr lvl="1"/>
            <a:r>
              <a:rPr lang="zh-CN" altLang="en-US" sz="1400" dirty="0"/>
              <a:t>随</a:t>
            </a:r>
            <a:r>
              <a:rPr lang="zh-CN" altLang="en-US" sz="1400" dirty="0" smtClean="0"/>
              <a:t>着主机增多，</a:t>
            </a:r>
            <a:r>
              <a:rPr lang="en-US" altLang="zh-CN" sz="1400" dirty="0" smtClean="0"/>
              <a:t>IP</a:t>
            </a:r>
            <a:r>
              <a:rPr lang="zh-CN" altLang="en-US" sz="1400" dirty="0" smtClean="0"/>
              <a:t>地址不便于记忆，在</a:t>
            </a:r>
            <a:r>
              <a:rPr lang="en-US" altLang="zh-CN" sz="1400" dirty="0" smtClean="0"/>
              <a:t>UNIX</a:t>
            </a:r>
            <a:r>
              <a:rPr lang="zh-CN" altLang="en-US" sz="1400" dirty="0" smtClean="0"/>
              <a:t>上建立</a:t>
            </a:r>
            <a:r>
              <a:rPr lang="en-US" altLang="zh-CN" sz="1400" dirty="0" smtClean="0"/>
              <a:t>hosts</a:t>
            </a:r>
            <a:r>
              <a:rPr lang="zh-CN" altLang="en-US" sz="1400" dirty="0" smtClean="0"/>
              <a:t>文件，存放主机名称和</a:t>
            </a:r>
            <a:r>
              <a:rPr lang="en-US" altLang="zh-CN" sz="1400" dirty="0" smtClean="0"/>
              <a:t>IP</a:t>
            </a:r>
            <a:r>
              <a:rPr lang="zh-CN" altLang="en-US" sz="1400" dirty="0" smtClean="0"/>
              <a:t>地址，输入主机名称后系统就会加载</a:t>
            </a:r>
            <a:r>
              <a:rPr lang="en-US" altLang="zh-CN" sz="1400" dirty="0" smtClean="0"/>
              <a:t>hosts</a:t>
            </a:r>
            <a:r>
              <a:rPr lang="zh-CN" altLang="en-US" sz="1400" dirty="0" smtClean="0"/>
              <a:t>文件并查找对应关系，找到对应的</a:t>
            </a:r>
            <a:r>
              <a:rPr lang="en-US" altLang="zh-CN" sz="1400" dirty="0" smtClean="0"/>
              <a:t>IP</a:t>
            </a:r>
          </a:p>
          <a:p>
            <a:pPr lvl="1"/>
            <a:r>
              <a:rPr lang="zh-CN" altLang="en-US" sz="1400" dirty="0"/>
              <a:t>随</a:t>
            </a:r>
            <a:r>
              <a:rPr lang="zh-CN" altLang="en-US" sz="1400" dirty="0" smtClean="0"/>
              <a:t>着主机进一步增多，无法保证所有人都能拿到同一的最新的</a:t>
            </a:r>
            <a:r>
              <a:rPr lang="en-US" altLang="zh-CN" sz="1400" dirty="0" smtClean="0"/>
              <a:t>hosts</a:t>
            </a:r>
            <a:r>
              <a:rPr lang="zh-CN" altLang="en-US" sz="1400" dirty="0" smtClean="0"/>
              <a:t>文件，就将</a:t>
            </a:r>
            <a:r>
              <a:rPr lang="en-US" altLang="zh-CN" sz="1400" dirty="0" smtClean="0"/>
              <a:t>hosts</a:t>
            </a:r>
            <a:r>
              <a:rPr lang="zh-CN" altLang="en-US" sz="1400" dirty="0" smtClean="0"/>
              <a:t>文件集中存放到服务器上供下载使用</a:t>
            </a:r>
            <a:endParaRPr lang="en-US" altLang="zh-CN" sz="1400" dirty="0" smtClean="0"/>
          </a:p>
          <a:p>
            <a:pPr lvl="1"/>
            <a:r>
              <a:rPr lang="zh-CN" altLang="en-US" sz="1400" dirty="0"/>
              <a:t>随</a:t>
            </a:r>
            <a:r>
              <a:rPr lang="zh-CN" altLang="en-US" sz="1400" dirty="0" smtClean="0"/>
              <a:t>着主机进两步增多，出现了</a:t>
            </a:r>
            <a:r>
              <a:rPr lang="en-US" altLang="zh-CN" sz="1400" dirty="0" smtClean="0"/>
              <a:t>DNS</a:t>
            </a:r>
            <a:r>
              <a:rPr lang="zh-CN" altLang="en-US" sz="1400" dirty="0" smtClean="0"/>
              <a:t>，在不断地演化后，形成了今天的多层架构体系</a:t>
            </a:r>
            <a:endParaRPr lang="en-US" altLang="zh-CN" sz="1400" dirty="0" smtClean="0"/>
          </a:p>
          <a:p>
            <a:endParaRPr lang="en-US" altLang="zh-CN" sz="1800" dirty="0" smtClean="0"/>
          </a:p>
          <a:p>
            <a:r>
              <a:rPr lang="zh-CN" altLang="en-US" sz="1800" dirty="0" smtClean="0"/>
              <a:t>基于</a:t>
            </a:r>
            <a:r>
              <a:rPr lang="en-US" altLang="zh-CN" sz="1800" dirty="0" smtClean="0"/>
              <a:t>UDP</a:t>
            </a:r>
            <a:r>
              <a:rPr lang="zh-CN" altLang="en-US" sz="1800" dirty="0" smtClean="0"/>
              <a:t>，默认端口号</a:t>
            </a:r>
            <a:r>
              <a:rPr lang="en-US" altLang="zh-CN" sz="1800" dirty="0" smtClean="0"/>
              <a:t>53</a:t>
            </a:r>
          </a:p>
          <a:p>
            <a:endParaRPr lang="en-US" altLang="zh-CN" sz="1800" dirty="0"/>
          </a:p>
          <a:p>
            <a:r>
              <a:rPr lang="en-US" altLang="zh-CN" sz="1800" dirty="0" smtClean="0"/>
              <a:t>RFC1034, RFC1035</a:t>
            </a:r>
          </a:p>
        </p:txBody>
      </p:sp>
      <p:sp>
        <p:nvSpPr>
          <p:cNvPr id="3" name="标题 2"/>
          <p:cNvSpPr>
            <a:spLocks noGrp="1"/>
          </p:cNvSpPr>
          <p:nvPr>
            <p:ph type="title"/>
          </p:nvPr>
        </p:nvSpPr>
        <p:spPr/>
        <p:txBody>
          <a:bodyPr/>
          <a:lstStyle/>
          <a:p>
            <a:r>
              <a:rPr lang="zh-CN" altLang="en-US" dirty="0" smtClean="0"/>
              <a:t>概述</a:t>
            </a:r>
            <a:endParaRPr lang="zh-CN" altLang="en-US" dirty="0"/>
          </a:p>
        </p:txBody>
      </p:sp>
      <p:sp>
        <p:nvSpPr>
          <p:cNvPr id="4" name="内容占位符 3"/>
          <p:cNvSpPr>
            <a:spLocks noGrp="1"/>
          </p:cNvSpPr>
          <p:nvPr>
            <p:ph sz="half" idx="10"/>
          </p:nvPr>
        </p:nvSpPr>
        <p:spPr/>
        <p:txBody>
          <a:bodyPr/>
          <a:lstStyle/>
          <a:p>
            <a:r>
              <a:rPr lang="en-US" altLang="zh-CN" dirty="0" smtClean="0"/>
              <a:t>Overview</a:t>
            </a:r>
            <a:endParaRPr lang="zh-CN" altLang="en-US" dirty="0"/>
          </a:p>
        </p:txBody>
      </p:sp>
    </p:spTree>
    <p:extLst>
      <p:ext uri="{BB962C8B-B14F-4D97-AF65-F5344CB8AC3E}">
        <p14:creationId xmlns:p14="http://schemas.microsoft.com/office/powerpoint/2010/main" val="23115783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结构</a:t>
            </a:r>
            <a:endParaRPr lang="zh-CN" altLang="en-US" dirty="0"/>
          </a:p>
        </p:txBody>
      </p:sp>
      <p:sp>
        <p:nvSpPr>
          <p:cNvPr id="3" name="副标题 2"/>
          <p:cNvSpPr>
            <a:spLocks noGrp="1"/>
          </p:cNvSpPr>
          <p:nvPr>
            <p:ph type="subTitle" idx="1"/>
          </p:nvPr>
        </p:nvSpPr>
        <p:spPr/>
        <p:txBody>
          <a:bodyPr/>
          <a:lstStyle/>
          <a:p>
            <a:r>
              <a:rPr lang="en-US" altLang="zh-CN" dirty="0" smtClean="0"/>
              <a:t>Structure</a:t>
            </a:r>
          </a:p>
        </p:txBody>
      </p:sp>
    </p:spTree>
    <p:extLst>
      <p:ext uri="{BB962C8B-B14F-4D97-AF65-F5344CB8AC3E}">
        <p14:creationId xmlns:p14="http://schemas.microsoft.com/office/powerpoint/2010/main" val="35327526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1800" b="1" dirty="0" smtClean="0"/>
              <a:t>域名管理体系</a:t>
            </a:r>
            <a:endParaRPr lang="en-US" altLang="zh-CN" sz="1800" b="1" dirty="0" smtClean="0"/>
          </a:p>
          <a:p>
            <a:r>
              <a:rPr lang="zh-CN" altLang="en-US" sz="1800" dirty="0"/>
              <a:t>全球同一管理机</a:t>
            </a:r>
            <a:r>
              <a:rPr lang="zh-CN" altLang="en-US" sz="1800" dirty="0" smtClean="0"/>
              <a:t>构</a:t>
            </a:r>
            <a:endParaRPr lang="en-US" altLang="zh-CN" sz="1800" dirty="0" smtClean="0"/>
          </a:p>
          <a:p>
            <a:pPr lvl="1"/>
            <a:r>
              <a:rPr lang="zh-CN" altLang="en-US" sz="1400" dirty="0" smtClean="0"/>
              <a:t>由</a:t>
            </a:r>
            <a:r>
              <a:rPr lang="zh-CN" altLang="en-US" sz="1400" dirty="0"/>
              <a:t>美国政府授权的互联网域名与号码分配机构</a:t>
            </a:r>
            <a:r>
              <a:rPr lang="en-US" altLang="zh-CN" sz="1400" dirty="0" smtClean="0"/>
              <a:t>ICANN</a:t>
            </a:r>
            <a:r>
              <a:rPr lang="zh-CN" altLang="en-US" sz="1400" dirty="0" smtClean="0"/>
              <a:t>（</a:t>
            </a:r>
            <a:r>
              <a:rPr lang="en-US" altLang="zh-CN" sz="1400" dirty="0"/>
              <a:t>The Internet Corporation for Assigned Names and Numbers</a:t>
            </a:r>
            <a:r>
              <a:rPr lang="zh-CN" altLang="en-US" sz="1400" dirty="0" smtClean="0"/>
              <a:t>）统</a:t>
            </a:r>
            <a:r>
              <a:rPr lang="zh-CN" altLang="en-US" sz="1400" dirty="0"/>
              <a:t>一管理，负责全球互联网域名跟服务器</a:t>
            </a:r>
            <a:r>
              <a:rPr lang="zh-CN" altLang="en-US" sz="1400" dirty="0" smtClean="0"/>
              <a:t>、域</a:t>
            </a:r>
            <a:r>
              <a:rPr lang="zh-CN" altLang="en-US" sz="1400" dirty="0"/>
              <a:t>名体系和</a:t>
            </a:r>
            <a:r>
              <a:rPr lang="en-US" altLang="zh-CN" sz="1400" dirty="0"/>
              <a:t>IP</a:t>
            </a:r>
            <a:r>
              <a:rPr lang="zh-CN" altLang="en-US" sz="1400" dirty="0"/>
              <a:t>地址等的管理</a:t>
            </a:r>
            <a:endParaRPr lang="en-US" altLang="zh-CN" sz="1400" dirty="0"/>
          </a:p>
          <a:p>
            <a:r>
              <a:rPr lang="zh-CN" altLang="en-US" sz="1800" dirty="0" smtClean="0"/>
              <a:t>服务器</a:t>
            </a:r>
            <a:endParaRPr lang="en-US" altLang="zh-CN" sz="1800" dirty="0" smtClean="0"/>
          </a:p>
          <a:p>
            <a:pPr lvl="1"/>
            <a:r>
              <a:rPr lang="en-US" altLang="zh-CN" sz="1400" dirty="0" smtClean="0"/>
              <a:t>DNS</a:t>
            </a:r>
            <a:r>
              <a:rPr lang="zh-CN" altLang="en-US" sz="1400" dirty="0"/>
              <a:t>最</a:t>
            </a:r>
            <a:r>
              <a:rPr lang="zh-CN" altLang="en-US" sz="1400" dirty="0" smtClean="0"/>
              <a:t>高管理机构是根服务器，跟服务器主要用来管理互联网的主目录，全世界只有</a:t>
            </a:r>
            <a:r>
              <a:rPr lang="en-US" altLang="zh-CN" sz="1400" dirty="0" smtClean="0"/>
              <a:t>13</a:t>
            </a:r>
            <a:r>
              <a:rPr lang="zh-CN" altLang="en-US" sz="1400" dirty="0" smtClean="0"/>
              <a:t>台，</a:t>
            </a:r>
            <a:r>
              <a:rPr lang="en-US" altLang="zh-CN" sz="1400" dirty="0" smtClean="0"/>
              <a:t>1</a:t>
            </a:r>
            <a:r>
              <a:rPr lang="zh-CN" altLang="en-US" sz="1400" dirty="0" smtClean="0"/>
              <a:t>个为主根服务器，放置在美国。其余</a:t>
            </a:r>
            <a:r>
              <a:rPr lang="en-US" altLang="zh-CN" sz="1400" dirty="0" smtClean="0"/>
              <a:t>12</a:t>
            </a:r>
            <a:r>
              <a:rPr lang="zh-CN" altLang="en-US" sz="1400" dirty="0" smtClean="0"/>
              <a:t>个为辅根服务器，其中</a:t>
            </a:r>
            <a:r>
              <a:rPr lang="en-US" altLang="zh-CN" sz="1400" dirty="0" smtClean="0"/>
              <a:t>9</a:t>
            </a:r>
            <a:r>
              <a:rPr lang="zh-CN" altLang="en-US" sz="1400" dirty="0" smtClean="0"/>
              <a:t>个在美国，</a:t>
            </a:r>
            <a:r>
              <a:rPr lang="en-US" altLang="zh-CN" sz="1400" dirty="0" smtClean="0"/>
              <a:t>1</a:t>
            </a:r>
            <a:r>
              <a:rPr lang="zh-CN" altLang="en-US" sz="1400" dirty="0" smtClean="0"/>
              <a:t>个在英国，</a:t>
            </a:r>
            <a:r>
              <a:rPr lang="en-US" altLang="zh-CN" sz="1400" dirty="0" smtClean="0"/>
              <a:t>1</a:t>
            </a:r>
            <a:r>
              <a:rPr lang="zh-CN" altLang="en-US" sz="1400" dirty="0" smtClean="0"/>
              <a:t>个在瑞典，</a:t>
            </a:r>
            <a:r>
              <a:rPr lang="en-US" altLang="zh-CN" sz="1400" dirty="0" smtClean="0"/>
              <a:t>1</a:t>
            </a:r>
            <a:r>
              <a:rPr lang="zh-CN" altLang="en-US" sz="1400" dirty="0" smtClean="0"/>
              <a:t>个在日本。</a:t>
            </a:r>
            <a:endParaRPr lang="en-US" altLang="zh-CN" sz="1400" dirty="0" smtClean="0"/>
          </a:p>
          <a:p>
            <a:r>
              <a:rPr lang="zh-CN" altLang="en-US" sz="1800" dirty="0" smtClean="0"/>
              <a:t>分级授权</a:t>
            </a:r>
            <a:endParaRPr lang="en-US" altLang="zh-CN" sz="1800" dirty="0" smtClean="0"/>
          </a:p>
          <a:p>
            <a:pPr lvl="1"/>
            <a:r>
              <a:rPr lang="zh-CN" altLang="en-US" sz="1400" dirty="0" smtClean="0"/>
              <a:t>根服务器可以授权下一级区域</a:t>
            </a:r>
            <a:r>
              <a:rPr lang="en-US" altLang="zh-CN" sz="1400" dirty="0" smtClean="0"/>
              <a:t>DNS</a:t>
            </a:r>
            <a:r>
              <a:rPr lang="zh-CN" altLang="en-US" sz="1400" dirty="0" smtClean="0"/>
              <a:t>管理服务器，如“</a:t>
            </a:r>
            <a:r>
              <a:rPr lang="en-US" altLang="zh-CN" sz="1400" dirty="0" smtClean="0"/>
              <a:t>.com</a:t>
            </a:r>
            <a:r>
              <a:rPr lang="zh-CN" altLang="en-US" sz="1400" dirty="0" smtClean="0"/>
              <a:t>”、“</a:t>
            </a:r>
            <a:r>
              <a:rPr lang="en-US" altLang="zh-CN" sz="1400" dirty="0" smtClean="0"/>
              <a:t>.</a:t>
            </a:r>
            <a:r>
              <a:rPr lang="en-US" altLang="zh-CN" sz="1400" dirty="0" err="1" smtClean="0"/>
              <a:t>edu</a:t>
            </a:r>
            <a:r>
              <a:rPr lang="zh-CN" altLang="en-US" sz="1400" dirty="0" smtClean="0"/>
              <a:t>”、“</a:t>
            </a:r>
            <a:r>
              <a:rPr lang="en-US" altLang="zh-CN" sz="1400" dirty="0" smtClean="0"/>
              <a:t>.</a:t>
            </a:r>
            <a:r>
              <a:rPr lang="en-US" altLang="zh-CN" sz="1400" dirty="0" err="1" smtClean="0"/>
              <a:t>gov</a:t>
            </a:r>
            <a:r>
              <a:rPr lang="zh-CN" altLang="en-US" sz="1400" dirty="0" smtClean="0"/>
              <a:t>”等</a:t>
            </a:r>
            <a:endParaRPr lang="en-US" altLang="zh-CN" sz="1400" dirty="0" smtClean="0"/>
          </a:p>
          <a:p>
            <a:pPr lvl="1"/>
            <a:r>
              <a:rPr lang="zh-CN" altLang="en-US" sz="1400" dirty="0"/>
              <a:t>下</a:t>
            </a:r>
            <a:r>
              <a:rPr lang="zh-CN" altLang="en-US" sz="1400" dirty="0" smtClean="0"/>
              <a:t>级服务器可以继续授权下一级，如“</a:t>
            </a:r>
            <a:r>
              <a:rPr lang="en-US" altLang="zh-CN" sz="1400" dirty="0" smtClean="0"/>
              <a:t>.com</a:t>
            </a:r>
            <a:r>
              <a:rPr lang="zh-CN" altLang="en-US" sz="1400" dirty="0" smtClean="0"/>
              <a:t>”授权给“</a:t>
            </a:r>
            <a:r>
              <a:rPr lang="en-US" altLang="zh-CN" sz="1400" dirty="0" smtClean="0"/>
              <a:t>.baidu.com</a:t>
            </a:r>
            <a:r>
              <a:rPr lang="zh-CN" altLang="en-US" sz="1400" dirty="0" smtClean="0"/>
              <a:t>”</a:t>
            </a:r>
            <a:endParaRPr lang="en-US" altLang="zh-CN" sz="1400" dirty="0" smtClean="0"/>
          </a:p>
          <a:p>
            <a:pPr marL="228600" lvl="1">
              <a:spcBef>
                <a:spcPts val="1000"/>
              </a:spcBef>
            </a:pPr>
            <a:r>
              <a:rPr lang="zh-CN" altLang="en-US" sz="1800" dirty="0"/>
              <a:t>权</a:t>
            </a:r>
            <a:r>
              <a:rPr lang="zh-CN" altLang="en-US" sz="1800" dirty="0" smtClean="0"/>
              <a:t>威</a:t>
            </a:r>
            <a:endParaRPr lang="en-US" altLang="zh-CN" sz="1800" dirty="0" smtClean="0"/>
          </a:p>
          <a:p>
            <a:pPr marL="685800" lvl="2">
              <a:spcBef>
                <a:spcPts val="1000"/>
              </a:spcBef>
            </a:pPr>
            <a:r>
              <a:rPr lang="zh-CN" altLang="en-US" sz="1400" dirty="0"/>
              <a:t>拥</a:t>
            </a:r>
            <a:r>
              <a:rPr lang="zh-CN" altLang="en-US" sz="1400" dirty="0" smtClean="0"/>
              <a:t>有</a:t>
            </a:r>
            <a:r>
              <a:rPr lang="en-US" altLang="zh-CN" sz="1400" dirty="0" smtClean="0"/>
              <a:t>SOA</a:t>
            </a:r>
            <a:r>
              <a:rPr lang="zh-CN" altLang="en-US" sz="1400" dirty="0" smtClean="0"/>
              <a:t>（</a:t>
            </a:r>
            <a:r>
              <a:rPr lang="en-US" altLang="zh-CN" sz="1400" dirty="0" smtClean="0"/>
              <a:t>Start of Authority</a:t>
            </a:r>
            <a:r>
              <a:rPr lang="zh-CN" altLang="en-US" sz="1400" dirty="0" smtClean="0"/>
              <a:t>）记录的服务器称为权威服务器，其解析答案具有权威性</a:t>
            </a:r>
            <a:endParaRPr lang="en-US" altLang="zh-CN" sz="1400" dirty="0" smtClean="0"/>
          </a:p>
          <a:p>
            <a:pPr marL="685800" lvl="2">
              <a:spcBef>
                <a:spcPts val="1000"/>
              </a:spcBef>
            </a:pPr>
            <a:r>
              <a:rPr lang="zh-CN" altLang="en-US" sz="1400" dirty="0"/>
              <a:t>相对</a:t>
            </a:r>
            <a:r>
              <a:rPr lang="zh-CN" altLang="en-US" sz="1400" dirty="0" smtClean="0"/>
              <a:t>于权威服务器，一般的授权服务器解析的答案可工参考</a:t>
            </a:r>
            <a:endParaRPr lang="en-US" altLang="zh-CN" sz="1400" dirty="0" smtClean="0"/>
          </a:p>
        </p:txBody>
      </p:sp>
      <p:sp>
        <p:nvSpPr>
          <p:cNvPr id="3" name="标题 2"/>
          <p:cNvSpPr>
            <a:spLocks noGrp="1"/>
          </p:cNvSpPr>
          <p:nvPr>
            <p:ph type="title"/>
          </p:nvPr>
        </p:nvSpPr>
        <p:spPr/>
        <p:txBody>
          <a:bodyPr/>
          <a:lstStyle/>
          <a:p>
            <a:r>
              <a:rPr lang="zh-CN" altLang="en-US" dirty="0" smtClean="0"/>
              <a:t>结构</a:t>
            </a:r>
            <a:endParaRPr lang="zh-CN" altLang="en-US" dirty="0"/>
          </a:p>
        </p:txBody>
      </p:sp>
      <p:sp>
        <p:nvSpPr>
          <p:cNvPr id="4" name="内容占位符 3"/>
          <p:cNvSpPr>
            <a:spLocks noGrp="1"/>
          </p:cNvSpPr>
          <p:nvPr>
            <p:ph sz="half" idx="10"/>
          </p:nvPr>
        </p:nvSpPr>
        <p:spPr/>
        <p:txBody>
          <a:bodyPr/>
          <a:lstStyle/>
          <a:p>
            <a:r>
              <a:rPr lang="en-US" altLang="zh-CN" dirty="0" smtClean="0"/>
              <a:t>Structure</a:t>
            </a:r>
            <a:endParaRPr lang="en-US" altLang="zh-CN" dirty="0"/>
          </a:p>
        </p:txBody>
      </p:sp>
    </p:spTree>
    <p:extLst>
      <p:ext uri="{BB962C8B-B14F-4D97-AF65-F5344CB8AC3E}">
        <p14:creationId xmlns:p14="http://schemas.microsoft.com/office/powerpoint/2010/main" val="34997134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en-US" altLang="zh-CN" sz="1800" b="1" dirty="0" smtClean="0"/>
              <a:t>IP</a:t>
            </a:r>
            <a:r>
              <a:rPr lang="zh-CN" altLang="en-US" sz="1800" b="1" dirty="0" smtClean="0"/>
              <a:t>地址管理体系与域名空间</a:t>
            </a:r>
            <a:endParaRPr lang="en-US" altLang="zh-CN" sz="1800" b="1" dirty="0" smtClean="0"/>
          </a:p>
          <a:p>
            <a:r>
              <a:rPr lang="en-US" altLang="zh-CN" sz="1800" dirty="0" smtClean="0"/>
              <a:t>IANA</a:t>
            </a:r>
            <a:r>
              <a:rPr lang="zh-CN" altLang="en-US" sz="1800" dirty="0" smtClean="0"/>
              <a:t>（</a:t>
            </a:r>
            <a:r>
              <a:rPr lang="en-US" altLang="zh-CN" sz="1800" dirty="0" smtClean="0"/>
              <a:t>Internet </a:t>
            </a:r>
            <a:r>
              <a:rPr lang="en-US" altLang="zh-CN" sz="1800" dirty="0"/>
              <a:t>A</a:t>
            </a:r>
            <a:r>
              <a:rPr lang="en-US" altLang="zh-CN" sz="1800" dirty="0" smtClean="0"/>
              <a:t>ssigned Numbers </a:t>
            </a:r>
            <a:r>
              <a:rPr lang="en-US" altLang="zh-CN" sz="1800" dirty="0"/>
              <a:t>A</a:t>
            </a:r>
            <a:r>
              <a:rPr lang="en-US" altLang="zh-CN" sz="1800" dirty="0" smtClean="0"/>
              <a:t>uthority</a:t>
            </a:r>
            <a:r>
              <a:rPr lang="zh-CN" altLang="en-US" sz="1800" dirty="0" smtClean="0"/>
              <a:t>）</a:t>
            </a:r>
            <a:r>
              <a:rPr lang="zh-CN" altLang="en-US" sz="1800" dirty="0"/>
              <a:t>负</a:t>
            </a:r>
            <a:r>
              <a:rPr lang="zh-CN" altLang="en-US" sz="1800" dirty="0" smtClean="0"/>
              <a:t>责对</a:t>
            </a:r>
            <a:r>
              <a:rPr lang="en-US" altLang="zh-CN" sz="1800" dirty="0" smtClean="0"/>
              <a:t>IP</a:t>
            </a:r>
            <a:r>
              <a:rPr lang="zh-CN" altLang="en-US" sz="1800" dirty="0" smtClean="0"/>
              <a:t>地址分配规划以及对</a:t>
            </a:r>
            <a:r>
              <a:rPr lang="en-US" altLang="zh-CN" sz="1800" dirty="0" smtClean="0"/>
              <a:t>TCP/UDP</a:t>
            </a:r>
            <a:r>
              <a:rPr lang="zh-CN" altLang="en-US" sz="1800" dirty="0" smtClean="0"/>
              <a:t>公共服务端口的定义</a:t>
            </a:r>
            <a:r>
              <a:rPr lang="en-US" altLang="zh-CN" sz="1800" dirty="0" smtClean="0"/>
              <a:t>,IP</a:t>
            </a:r>
            <a:r>
              <a:rPr lang="zh-CN" altLang="en-US" sz="1800" dirty="0" smtClean="0"/>
              <a:t>地址由国际组织统一分配，逐级</a:t>
            </a:r>
            <a:r>
              <a:rPr lang="zh-CN" altLang="en-US" sz="1800" dirty="0"/>
              <a:t>管</a:t>
            </a:r>
            <a:r>
              <a:rPr lang="zh-CN" altLang="en-US" sz="1800" dirty="0" smtClean="0"/>
              <a:t>理。</a:t>
            </a:r>
            <a:endParaRPr lang="en-US" altLang="zh-CN" sz="1800" dirty="0" smtClean="0"/>
          </a:p>
          <a:p>
            <a:r>
              <a:rPr lang="en-US" altLang="zh-CN" sz="1800" dirty="0" smtClean="0"/>
              <a:t>DNS</a:t>
            </a:r>
            <a:r>
              <a:rPr lang="zh-CN" altLang="en-US" sz="1800" dirty="0" smtClean="0"/>
              <a:t>中的</a:t>
            </a:r>
            <a:r>
              <a:rPr lang="en-US" altLang="zh-CN" sz="1800" dirty="0" smtClean="0"/>
              <a:t>IP</a:t>
            </a:r>
            <a:r>
              <a:rPr lang="zh-CN" altLang="en-US" sz="1800" dirty="0" smtClean="0"/>
              <a:t>地址体系</a:t>
            </a:r>
            <a:endParaRPr lang="en-US" altLang="zh-CN" sz="1800" dirty="0" smtClean="0"/>
          </a:p>
          <a:p>
            <a:pPr lvl="1"/>
            <a:r>
              <a:rPr lang="en-US" altLang="zh-CN" sz="1400" dirty="0" smtClean="0"/>
              <a:t>DNS</a:t>
            </a:r>
            <a:r>
              <a:rPr lang="zh-CN" altLang="en-US" sz="1400" dirty="0" smtClean="0"/>
              <a:t>体系中，名称体系负责正向解析（名称转</a:t>
            </a:r>
            <a:r>
              <a:rPr lang="en-US" altLang="zh-CN" sz="1400" dirty="0" smtClean="0"/>
              <a:t>IP</a:t>
            </a:r>
            <a:r>
              <a:rPr lang="zh-CN" altLang="en-US" sz="1400" dirty="0" smtClean="0"/>
              <a:t>地址），</a:t>
            </a:r>
            <a:r>
              <a:rPr lang="en-US" altLang="zh-CN" sz="1400" dirty="0" smtClean="0"/>
              <a:t>IP</a:t>
            </a:r>
            <a:r>
              <a:rPr lang="zh-CN" altLang="en-US" sz="1400" dirty="0" smtClean="0"/>
              <a:t>地址体系负责反响解析（</a:t>
            </a:r>
            <a:r>
              <a:rPr lang="en-US" altLang="zh-CN" sz="1400" dirty="0" smtClean="0"/>
              <a:t>IP</a:t>
            </a:r>
            <a:r>
              <a:rPr lang="zh-CN" altLang="en-US" sz="1400" dirty="0" smtClean="0"/>
              <a:t>地址转名称）</a:t>
            </a:r>
            <a:endParaRPr lang="en-US" altLang="zh-CN" sz="1400" dirty="0" smtClean="0"/>
          </a:p>
        </p:txBody>
      </p:sp>
      <p:sp>
        <p:nvSpPr>
          <p:cNvPr id="3" name="标题 2"/>
          <p:cNvSpPr>
            <a:spLocks noGrp="1"/>
          </p:cNvSpPr>
          <p:nvPr>
            <p:ph type="title"/>
          </p:nvPr>
        </p:nvSpPr>
        <p:spPr/>
        <p:txBody>
          <a:bodyPr/>
          <a:lstStyle/>
          <a:p>
            <a:r>
              <a:rPr lang="zh-CN" altLang="en-US" dirty="0" smtClean="0"/>
              <a:t>结构</a:t>
            </a:r>
            <a:endParaRPr lang="zh-CN" altLang="en-US" dirty="0"/>
          </a:p>
        </p:txBody>
      </p:sp>
      <p:sp>
        <p:nvSpPr>
          <p:cNvPr id="4" name="内容占位符 3"/>
          <p:cNvSpPr>
            <a:spLocks noGrp="1"/>
          </p:cNvSpPr>
          <p:nvPr>
            <p:ph sz="half" idx="10"/>
          </p:nvPr>
        </p:nvSpPr>
        <p:spPr/>
        <p:txBody>
          <a:bodyPr/>
          <a:lstStyle/>
          <a:p>
            <a:r>
              <a:rPr lang="en-US" altLang="zh-CN" dirty="0" smtClean="0"/>
              <a:t>Structure</a:t>
            </a:r>
            <a:endParaRPr lang="en-US" altLang="zh-C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9924" y="2993882"/>
            <a:ext cx="3630815" cy="3240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8982" y="2993882"/>
            <a:ext cx="4104429" cy="3240000"/>
          </a:xfrm>
          <a:prstGeom prst="rect">
            <a:avLst/>
          </a:prstGeom>
        </p:spPr>
      </p:pic>
    </p:spTree>
    <p:extLst>
      <p:ext uri="{BB962C8B-B14F-4D97-AF65-F5344CB8AC3E}">
        <p14:creationId xmlns:p14="http://schemas.microsoft.com/office/powerpoint/2010/main" val="22666441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en-US" altLang="zh-CN" sz="1800" b="1" dirty="0" smtClean="0"/>
              <a:t>DNS</a:t>
            </a:r>
            <a:r>
              <a:rPr lang="zh-CN" altLang="en-US" sz="1800" b="1" dirty="0" smtClean="0"/>
              <a:t>解析顺序</a:t>
            </a:r>
            <a:endParaRPr lang="en-US" altLang="zh-CN" sz="1800" b="1" dirty="0" smtClean="0"/>
          </a:p>
          <a:p>
            <a:r>
              <a:rPr lang="en-US" altLang="zh-CN" sz="1800" dirty="0" smtClean="0"/>
              <a:t>1. </a:t>
            </a:r>
            <a:r>
              <a:rPr lang="zh-CN" altLang="en-US" sz="1800" dirty="0" smtClean="0"/>
              <a:t>本机缓存</a:t>
            </a:r>
            <a:endParaRPr lang="en-US" altLang="zh-CN" sz="1800" dirty="0" smtClean="0"/>
          </a:p>
          <a:p>
            <a:r>
              <a:rPr lang="en-US" altLang="zh-CN" sz="1800" dirty="0" smtClean="0"/>
              <a:t>2. </a:t>
            </a:r>
            <a:r>
              <a:rPr lang="zh-CN" altLang="en-US" sz="1800" dirty="0" smtClean="0"/>
              <a:t>本机</a:t>
            </a:r>
            <a:r>
              <a:rPr lang="en-US" altLang="zh-CN" sz="1800" dirty="0" smtClean="0"/>
              <a:t>hosts</a:t>
            </a:r>
            <a:r>
              <a:rPr lang="zh-CN" altLang="en-US" sz="1800" dirty="0" smtClean="0"/>
              <a:t>文件</a:t>
            </a:r>
            <a:endParaRPr lang="en-US" altLang="zh-CN" sz="1800" dirty="0" smtClean="0"/>
          </a:p>
          <a:p>
            <a:r>
              <a:rPr lang="en-US" altLang="zh-CN" sz="1800" dirty="0" smtClean="0"/>
              <a:t>3. </a:t>
            </a:r>
            <a:r>
              <a:rPr lang="zh-CN" altLang="en-US" sz="1800" dirty="0" smtClean="0"/>
              <a:t>指定</a:t>
            </a:r>
            <a:r>
              <a:rPr lang="en-US" altLang="zh-CN" sz="1800" dirty="0" smtClean="0"/>
              <a:t>DNS</a:t>
            </a:r>
            <a:r>
              <a:rPr lang="zh-CN" altLang="en-US" sz="1800" dirty="0" smtClean="0"/>
              <a:t>服务器缓存</a:t>
            </a:r>
            <a:endParaRPr lang="en-US" altLang="zh-CN" sz="1800" dirty="0" smtClean="0"/>
          </a:p>
          <a:p>
            <a:r>
              <a:rPr lang="en-US" altLang="zh-CN" sz="1800" dirty="0" smtClean="0"/>
              <a:t>4. </a:t>
            </a:r>
            <a:r>
              <a:rPr lang="zh-CN" altLang="en-US" sz="1800" dirty="0" smtClean="0"/>
              <a:t>更高级的</a:t>
            </a:r>
            <a:r>
              <a:rPr lang="en-US" altLang="zh-CN" sz="1800" dirty="0" smtClean="0"/>
              <a:t>DNS</a:t>
            </a:r>
            <a:r>
              <a:rPr lang="zh-CN" altLang="en-US" sz="1800" dirty="0" smtClean="0"/>
              <a:t>服务器缓存</a:t>
            </a:r>
            <a:endParaRPr lang="en-US" altLang="zh-CN" sz="1800" dirty="0" smtClean="0"/>
          </a:p>
        </p:txBody>
      </p:sp>
      <p:sp>
        <p:nvSpPr>
          <p:cNvPr id="3" name="标题 2"/>
          <p:cNvSpPr>
            <a:spLocks noGrp="1"/>
          </p:cNvSpPr>
          <p:nvPr>
            <p:ph type="title"/>
          </p:nvPr>
        </p:nvSpPr>
        <p:spPr/>
        <p:txBody>
          <a:bodyPr/>
          <a:lstStyle/>
          <a:p>
            <a:r>
              <a:rPr lang="zh-CN" altLang="en-US" dirty="0" smtClean="0"/>
              <a:t>结构</a:t>
            </a:r>
            <a:endParaRPr lang="zh-CN" altLang="en-US" dirty="0"/>
          </a:p>
        </p:txBody>
      </p:sp>
      <p:sp>
        <p:nvSpPr>
          <p:cNvPr id="4" name="内容占位符 3"/>
          <p:cNvSpPr>
            <a:spLocks noGrp="1"/>
          </p:cNvSpPr>
          <p:nvPr>
            <p:ph sz="half" idx="10"/>
          </p:nvPr>
        </p:nvSpPr>
        <p:spPr/>
        <p:txBody>
          <a:bodyPr/>
          <a:lstStyle/>
          <a:p>
            <a:r>
              <a:rPr lang="en-US" altLang="zh-CN" dirty="0" smtClean="0"/>
              <a:t>Structure</a:t>
            </a:r>
            <a:endParaRPr lang="en-US" altLang="zh-CN" dirty="0"/>
          </a:p>
        </p:txBody>
      </p:sp>
    </p:spTree>
    <p:extLst>
      <p:ext uri="{BB962C8B-B14F-4D97-AF65-F5344CB8AC3E}">
        <p14:creationId xmlns:p14="http://schemas.microsoft.com/office/powerpoint/2010/main" val="4788359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1800" b="1" dirty="0"/>
              <a:t>资</a:t>
            </a:r>
            <a:r>
              <a:rPr lang="zh-CN" altLang="en-US" sz="1800" b="1" dirty="0" smtClean="0"/>
              <a:t>源记录</a:t>
            </a:r>
            <a:endParaRPr lang="en-US" altLang="zh-CN" sz="1800" b="1" dirty="0" smtClean="0"/>
          </a:p>
          <a:p>
            <a:r>
              <a:rPr lang="en-US" altLang="zh-CN" sz="1800" dirty="0" smtClean="0"/>
              <a:t>A</a:t>
            </a:r>
            <a:r>
              <a:rPr lang="zh-CN" altLang="en-US" sz="1800" dirty="0" smtClean="0"/>
              <a:t>记录：主机纪录，用来指定域名对应的</a:t>
            </a:r>
            <a:r>
              <a:rPr lang="en-US" altLang="zh-CN" sz="1800" dirty="0" smtClean="0"/>
              <a:t>IP</a:t>
            </a:r>
            <a:r>
              <a:rPr lang="zh-CN" altLang="en-US" sz="1800" dirty="0" smtClean="0"/>
              <a:t>地址记录。</a:t>
            </a:r>
            <a:endParaRPr lang="en-US" altLang="zh-CN" sz="1800" dirty="0" smtClean="0"/>
          </a:p>
          <a:p>
            <a:r>
              <a:rPr lang="en-US" altLang="zh-CN" sz="1800" dirty="0" smtClean="0"/>
              <a:t>NS</a:t>
            </a:r>
            <a:r>
              <a:rPr lang="zh-CN" altLang="en-US" sz="1800" dirty="0" smtClean="0"/>
              <a:t>记录：服务器记录，用于说明这个区域有哪些</a:t>
            </a:r>
            <a:r>
              <a:rPr lang="en-US" altLang="zh-CN" sz="1800" dirty="0" smtClean="0"/>
              <a:t>DNS</a:t>
            </a:r>
            <a:r>
              <a:rPr lang="zh-CN" altLang="en-US" sz="1800" dirty="0" smtClean="0"/>
              <a:t>服务器负责解析</a:t>
            </a:r>
            <a:endParaRPr lang="en-US" altLang="zh-CN" sz="1800" dirty="0" smtClean="0"/>
          </a:p>
          <a:p>
            <a:r>
              <a:rPr lang="en-US" altLang="zh-CN" sz="1800" dirty="0" smtClean="0"/>
              <a:t>SOA</a:t>
            </a:r>
            <a:r>
              <a:rPr lang="zh-CN" altLang="en-US" sz="1800" dirty="0" smtClean="0"/>
              <a:t>记录：起始授权机构记录，说明了在众多</a:t>
            </a:r>
            <a:r>
              <a:rPr lang="en-US" altLang="zh-CN" sz="1800" dirty="0" smtClean="0"/>
              <a:t>NS</a:t>
            </a:r>
            <a:r>
              <a:rPr lang="zh-CN" altLang="en-US" sz="1800" dirty="0" smtClean="0"/>
              <a:t>记录中，哪一台是主服务器</a:t>
            </a:r>
            <a:endParaRPr lang="en-US" altLang="zh-CN" sz="1800" dirty="0" smtClean="0"/>
          </a:p>
          <a:p>
            <a:r>
              <a:rPr lang="en-US" altLang="zh-CN" sz="1800" dirty="0" smtClean="0"/>
              <a:t>MX</a:t>
            </a:r>
            <a:r>
              <a:rPr lang="zh-CN" altLang="en-US" sz="1800" dirty="0" smtClean="0"/>
              <a:t>记录：邮件交换记录，若</a:t>
            </a:r>
            <a:r>
              <a:rPr lang="en-US" altLang="zh-CN" sz="1800" dirty="0" smtClean="0"/>
              <a:t>A</a:t>
            </a:r>
            <a:r>
              <a:rPr lang="zh-CN" altLang="en-US" sz="1800" dirty="0" smtClean="0"/>
              <a:t>向</a:t>
            </a:r>
            <a:r>
              <a:rPr lang="en-US" altLang="zh-CN" sz="1800" dirty="0" smtClean="0"/>
              <a:t>B</a:t>
            </a:r>
            <a:r>
              <a:rPr lang="zh-CN" altLang="en-US" sz="1800" dirty="0" smtClean="0"/>
              <a:t>发送一封邮件，</a:t>
            </a:r>
            <a:r>
              <a:rPr lang="en-US" altLang="zh-CN" sz="1800" dirty="0" smtClean="0"/>
              <a:t>A</a:t>
            </a:r>
            <a:r>
              <a:rPr lang="zh-CN" altLang="en-US" sz="1800" dirty="0" smtClean="0"/>
              <a:t>需要向</a:t>
            </a:r>
            <a:r>
              <a:rPr lang="en-US" altLang="zh-CN" sz="1800" dirty="0" smtClean="0"/>
              <a:t>DNS</a:t>
            </a:r>
            <a:r>
              <a:rPr lang="zh-CN" altLang="en-US" sz="1800" dirty="0" smtClean="0"/>
              <a:t>查询</a:t>
            </a:r>
            <a:r>
              <a:rPr lang="en-US" altLang="zh-CN" sz="1800" dirty="0" smtClean="0"/>
              <a:t>B</a:t>
            </a:r>
            <a:r>
              <a:rPr lang="zh-CN" altLang="en-US" sz="1800" dirty="0" smtClean="0"/>
              <a:t>的</a:t>
            </a:r>
            <a:r>
              <a:rPr lang="en-US" altLang="zh-CN" sz="1800" dirty="0" smtClean="0"/>
              <a:t>MX</a:t>
            </a:r>
            <a:r>
              <a:rPr lang="zh-CN" altLang="en-US" sz="1800" dirty="0" smtClean="0"/>
              <a:t>记录，</a:t>
            </a:r>
            <a:r>
              <a:rPr lang="en-US" altLang="zh-CN" sz="1800" dirty="0" smtClean="0"/>
              <a:t>DNS</a:t>
            </a:r>
            <a:r>
              <a:rPr lang="zh-CN" altLang="en-US" sz="1800" dirty="0" smtClean="0"/>
              <a:t>在定位到了</a:t>
            </a:r>
            <a:r>
              <a:rPr lang="en-US" altLang="zh-CN" sz="1800" dirty="0" smtClean="0"/>
              <a:t>B</a:t>
            </a:r>
            <a:r>
              <a:rPr lang="zh-CN" altLang="en-US" sz="1800" dirty="0" smtClean="0"/>
              <a:t>的</a:t>
            </a:r>
            <a:r>
              <a:rPr lang="en-US" altLang="zh-CN" sz="1800" dirty="0" smtClean="0"/>
              <a:t>MX</a:t>
            </a:r>
            <a:r>
              <a:rPr lang="zh-CN" altLang="en-US" sz="1800" dirty="0" smtClean="0"/>
              <a:t>记录后反馈给</a:t>
            </a:r>
            <a:r>
              <a:rPr lang="en-US" altLang="zh-CN" sz="1800" dirty="0" smtClean="0"/>
              <a:t>A</a:t>
            </a:r>
            <a:r>
              <a:rPr lang="zh-CN" altLang="en-US" sz="1800" dirty="0" smtClean="0"/>
              <a:t>，然后</a:t>
            </a:r>
            <a:r>
              <a:rPr lang="en-US" altLang="zh-CN" sz="1800" dirty="0" smtClean="0"/>
              <a:t>A</a:t>
            </a:r>
            <a:r>
              <a:rPr lang="zh-CN" altLang="en-US" sz="1800" dirty="0" smtClean="0"/>
              <a:t>把邮件投递到</a:t>
            </a:r>
            <a:r>
              <a:rPr lang="en-US" altLang="zh-CN" sz="1800" dirty="0" smtClean="0"/>
              <a:t>B</a:t>
            </a:r>
            <a:r>
              <a:rPr lang="zh-CN" altLang="en-US" sz="1800" dirty="0" smtClean="0"/>
              <a:t>的</a:t>
            </a:r>
            <a:r>
              <a:rPr lang="en-US" altLang="zh-CN" sz="1800" dirty="0" smtClean="0"/>
              <a:t>MX</a:t>
            </a:r>
            <a:r>
              <a:rPr lang="zh-CN" altLang="en-US" sz="1800" dirty="0" smtClean="0"/>
              <a:t>记录服务器中</a:t>
            </a:r>
            <a:endParaRPr lang="en-US" altLang="zh-CN" sz="1800" dirty="0" smtClean="0"/>
          </a:p>
          <a:p>
            <a:r>
              <a:rPr lang="en-US" altLang="zh-CN" sz="1800" dirty="0" smtClean="0"/>
              <a:t>CNAME</a:t>
            </a:r>
            <a:r>
              <a:rPr lang="zh-CN" altLang="en-US" sz="1800" dirty="0" smtClean="0"/>
              <a:t>记录：别名记录，</a:t>
            </a:r>
            <a:r>
              <a:rPr lang="zh-CN" altLang="en-US" sz="1800" dirty="0"/>
              <a:t>允许将多个域名映射到同一个主机或服务</a:t>
            </a:r>
            <a:r>
              <a:rPr lang="zh-CN" altLang="en-US" sz="1800" dirty="0" smtClean="0"/>
              <a:t>器</a:t>
            </a:r>
            <a:endParaRPr lang="en-US" altLang="zh-CN" sz="1800" dirty="0" smtClean="0"/>
          </a:p>
          <a:p>
            <a:r>
              <a:rPr lang="en-US" altLang="zh-CN" sz="1800" dirty="0" smtClean="0"/>
              <a:t>SRV</a:t>
            </a:r>
            <a:r>
              <a:rPr lang="zh-CN" altLang="en-US" sz="1800" dirty="0" smtClean="0"/>
              <a:t>记录：服务器资源记录，说明一个服务器能提供什么样的服务。</a:t>
            </a:r>
            <a:endParaRPr lang="en-US" altLang="zh-CN" sz="1800" dirty="0" smtClean="0"/>
          </a:p>
          <a:p>
            <a:r>
              <a:rPr lang="en-US" altLang="zh-CN" sz="1800" dirty="0" smtClean="0"/>
              <a:t>PTR</a:t>
            </a:r>
            <a:r>
              <a:rPr lang="zh-CN" altLang="en-US" sz="1800" dirty="0" smtClean="0"/>
              <a:t>记录：指针记录，</a:t>
            </a:r>
            <a:r>
              <a:rPr lang="en-US" altLang="zh-CN" sz="1800" dirty="0" smtClean="0"/>
              <a:t>A</a:t>
            </a:r>
            <a:r>
              <a:rPr lang="zh-CN" altLang="en-US" sz="1800" dirty="0" smtClean="0"/>
              <a:t>记录的逆向记录</a:t>
            </a:r>
            <a:endParaRPr lang="en-US" altLang="zh-CN" sz="1800" dirty="0" smtClean="0"/>
          </a:p>
        </p:txBody>
      </p:sp>
      <p:sp>
        <p:nvSpPr>
          <p:cNvPr id="3" name="标题 2"/>
          <p:cNvSpPr>
            <a:spLocks noGrp="1"/>
          </p:cNvSpPr>
          <p:nvPr>
            <p:ph type="title"/>
          </p:nvPr>
        </p:nvSpPr>
        <p:spPr/>
        <p:txBody>
          <a:bodyPr/>
          <a:lstStyle/>
          <a:p>
            <a:r>
              <a:rPr lang="zh-CN" altLang="en-US" dirty="0" smtClean="0"/>
              <a:t>结构</a:t>
            </a:r>
            <a:endParaRPr lang="zh-CN" altLang="en-US" dirty="0"/>
          </a:p>
        </p:txBody>
      </p:sp>
      <p:sp>
        <p:nvSpPr>
          <p:cNvPr id="4" name="内容占位符 3"/>
          <p:cNvSpPr>
            <a:spLocks noGrp="1"/>
          </p:cNvSpPr>
          <p:nvPr>
            <p:ph sz="half" idx="10"/>
          </p:nvPr>
        </p:nvSpPr>
        <p:spPr/>
        <p:txBody>
          <a:bodyPr/>
          <a:lstStyle/>
          <a:p>
            <a:r>
              <a:rPr lang="en-US" altLang="zh-CN" dirty="0" smtClean="0"/>
              <a:t>Structure</a:t>
            </a:r>
            <a:endParaRPr lang="en-US" altLang="zh-CN" dirty="0"/>
          </a:p>
        </p:txBody>
      </p:sp>
    </p:spTree>
    <p:extLst>
      <p:ext uri="{BB962C8B-B14F-4D97-AF65-F5344CB8AC3E}">
        <p14:creationId xmlns:p14="http://schemas.microsoft.com/office/powerpoint/2010/main" val="514657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工作过程</a:t>
            </a:r>
            <a:endParaRPr lang="zh-CN" altLang="en-US" dirty="0"/>
          </a:p>
        </p:txBody>
      </p:sp>
      <p:sp>
        <p:nvSpPr>
          <p:cNvPr id="3" name="副标题 2"/>
          <p:cNvSpPr>
            <a:spLocks noGrp="1"/>
          </p:cNvSpPr>
          <p:nvPr>
            <p:ph type="subTitle" idx="1"/>
          </p:nvPr>
        </p:nvSpPr>
        <p:spPr/>
        <p:txBody>
          <a:bodyPr/>
          <a:lstStyle/>
          <a:p>
            <a:r>
              <a:rPr lang="en-US" altLang="zh-CN" dirty="0" smtClean="0"/>
              <a:t>Working Procedure</a:t>
            </a:r>
            <a:endParaRPr lang="zh-CN" altLang="en-US" dirty="0"/>
          </a:p>
        </p:txBody>
      </p:sp>
    </p:spTree>
    <p:extLst>
      <p:ext uri="{BB962C8B-B14F-4D97-AF65-F5344CB8AC3E}">
        <p14:creationId xmlns:p14="http://schemas.microsoft.com/office/powerpoint/2010/main" val="37604817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en-US" altLang="zh-CN" sz="1800" dirty="0" smtClean="0"/>
              <a:t>DNS</a:t>
            </a:r>
            <a:r>
              <a:rPr lang="zh-CN" altLang="en-US" sz="1800" dirty="0" smtClean="0"/>
              <a:t>采用</a:t>
            </a:r>
            <a:r>
              <a:rPr lang="en-US" altLang="zh-CN" sz="1800" dirty="0" smtClean="0"/>
              <a:t>client/server</a:t>
            </a:r>
            <a:r>
              <a:rPr lang="zh-CN" altLang="en-US" sz="1800" dirty="0" smtClean="0"/>
              <a:t>模型，</a:t>
            </a:r>
            <a:r>
              <a:rPr lang="en-US" altLang="zh-CN" sz="1800" dirty="0" smtClean="0"/>
              <a:t>client</a:t>
            </a:r>
            <a:r>
              <a:rPr lang="zh-CN" altLang="en-US" sz="1800" dirty="0" smtClean="0"/>
              <a:t>向</a:t>
            </a:r>
            <a:r>
              <a:rPr lang="en-US" altLang="zh-CN" sz="1800" dirty="0" smtClean="0"/>
              <a:t>server</a:t>
            </a:r>
            <a:r>
              <a:rPr lang="zh-CN" altLang="en-US" sz="1800" dirty="0" smtClean="0"/>
              <a:t>问一个域名的</a:t>
            </a:r>
            <a:r>
              <a:rPr lang="en-US" altLang="zh-CN" sz="1800" dirty="0" smtClean="0"/>
              <a:t>IP</a:t>
            </a:r>
            <a:r>
              <a:rPr lang="zh-CN" altLang="en-US" sz="1800" dirty="0" smtClean="0"/>
              <a:t>地址，</a:t>
            </a:r>
            <a:r>
              <a:rPr lang="en-US" altLang="zh-CN" sz="1800" dirty="0" smtClean="0"/>
              <a:t>server</a:t>
            </a:r>
            <a:r>
              <a:rPr lang="zh-CN" altLang="en-US" sz="1800" dirty="0" smtClean="0"/>
              <a:t>则必须要回答此域名的</a:t>
            </a:r>
            <a:r>
              <a:rPr lang="en-US" altLang="zh-CN" sz="1800" dirty="0" smtClean="0"/>
              <a:t>IP</a:t>
            </a:r>
            <a:r>
              <a:rPr lang="zh-CN" altLang="en-US" sz="1800" dirty="0" smtClean="0"/>
              <a:t>地址</a:t>
            </a:r>
            <a:endParaRPr lang="en-US" altLang="zh-CN" sz="1800" dirty="0" smtClean="0"/>
          </a:p>
          <a:p>
            <a:r>
              <a:rPr lang="zh-CN" altLang="en-US" sz="1800" b="1" dirty="0"/>
              <a:t>查询方式</a:t>
            </a:r>
            <a:endParaRPr lang="en-US" altLang="zh-CN" sz="1800" b="1" dirty="0"/>
          </a:p>
          <a:p>
            <a:pPr lvl="1"/>
            <a:r>
              <a:rPr lang="zh-CN" altLang="en-US" sz="1400" dirty="0"/>
              <a:t>递归查询：</a:t>
            </a:r>
            <a:r>
              <a:rPr lang="en-US" altLang="zh-CN" sz="1400" dirty="0"/>
              <a:t>DNS</a:t>
            </a:r>
            <a:r>
              <a:rPr lang="zh-CN" altLang="en-US" sz="1400" dirty="0"/>
              <a:t>服务器收到域名查询请求后，如果本服务器无法解析，则继续向其他服务器发起查询，直到获得最终解析结果并返回给查询方</a:t>
            </a:r>
            <a:endParaRPr lang="en-US" altLang="zh-CN" sz="1400" dirty="0"/>
          </a:p>
          <a:p>
            <a:pPr lvl="1"/>
            <a:r>
              <a:rPr lang="zh-CN" altLang="en-US" sz="1400" dirty="0" smtClean="0"/>
              <a:t>迭</a:t>
            </a:r>
            <a:r>
              <a:rPr lang="zh-CN" altLang="en-US" sz="1400" dirty="0"/>
              <a:t>代查询：</a:t>
            </a:r>
            <a:r>
              <a:rPr lang="en-US" altLang="zh-CN" sz="1400" dirty="0"/>
              <a:t>DNS</a:t>
            </a:r>
            <a:r>
              <a:rPr lang="zh-CN" altLang="en-US" sz="1400" dirty="0"/>
              <a:t>服务器收到域名查询请求后，如果本服务器无法解析，则直接返回查询下一个可以提供解析的</a:t>
            </a:r>
            <a:r>
              <a:rPr lang="en-US" altLang="zh-CN" sz="1400" dirty="0"/>
              <a:t>DNS</a:t>
            </a:r>
            <a:r>
              <a:rPr lang="zh-CN" altLang="en-US" sz="1400" dirty="0"/>
              <a:t>服务器的</a:t>
            </a:r>
            <a:r>
              <a:rPr lang="en-US" altLang="zh-CN" sz="1400" dirty="0"/>
              <a:t>IP</a:t>
            </a:r>
            <a:r>
              <a:rPr lang="zh-CN" altLang="en-US" sz="1400" dirty="0"/>
              <a:t>，由查询方向新的服务器发起查询</a:t>
            </a:r>
            <a:endParaRPr lang="en-US" altLang="zh-CN" sz="1400" dirty="0"/>
          </a:p>
          <a:p>
            <a:endParaRPr lang="zh-CN" altLang="en-US" sz="1400" dirty="0"/>
          </a:p>
        </p:txBody>
      </p:sp>
      <p:sp>
        <p:nvSpPr>
          <p:cNvPr id="3" name="标题 2"/>
          <p:cNvSpPr>
            <a:spLocks noGrp="1"/>
          </p:cNvSpPr>
          <p:nvPr>
            <p:ph type="title"/>
          </p:nvPr>
        </p:nvSpPr>
        <p:spPr/>
        <p:txBody>
          <a:bodyPr/>
          <a:lstStyle/>
          <a:p>
            <a:r>
              <a:rPr lang="zh-CN" altLang="en-US" dirty="0" smtClean="0"/>
              <a:t>工作过程</a:t>
            </a:r>
            <a:endParaRPr lang="zh-CN" altLang="en-US" dirty="0"/>
          </a:p>
        </p:txBody>
      </p:sp>
      <p:sp>
        <p:nvSpPr>
          <p:cNvPr id="4" name="内容占位符 3"/>
          <p:cNvSpPr>
            <a:spLocks noGrp="1"/>
          </p:cNvSpPr>
          <p:nvPr>
            <p:ph sz="half" idx="10"/>
          </p:nvPr>
        </p:nvSpPr>
        <p:spPr/>
        <p:txBody>
          <a:bodyPr/>
          <a:lstStyle/>
          <a:p>
            <a:r>
              <a:rPr lang="en-US" altLang="zh-CN" dirty="0" smtClean="0"/>
              <a:t>Working Procedure</a:t>
            </a:r>
            <a:endParaRPr lang="zh-CN" altLang="en-US" dirty="0"/>
          </a:p>
        </p:txBody>
      </p:sp>
      <p:pic>
        <p:nvPicPr>
          <p:cNvPr id="7" name="Picture 6"/>
          <p:cNvPicPr>
            <a:picLocks noChangeAspect="1"/>
          </p:cNvPicPr>
          <p:nvPr/>
        </p:nvPicPr>
        <p:blipFill>
          <a:blip r:embed="rId2"/>
          <a:stretch>
            <a:fillRect/>
          </a:stretch>
        </p:blipFill>
        <p:spPr>
          <a:xfrm>
            <a:off x="125193" y="3062725"/>
            <a:ext cx="5760000" cy="2879373"/>
          </a:xfrm>
          <a:prstGeom prst="rect">
            <a:avLst/>
          </a:prstGeom>
        </p:spPr>
      </p:pic>
      <p:sp>
        <p:nvSpPr>
          <p:cNvPr id="9" name="TextBox 8"/>
          <p:cNvSpPr txBox="1"/>
          <p:nvPr/>
        </p:nvSpPr>
        <p:spPr>
          <a:xfrm>
            <a:off x="2494547" y="5896786"/>
            <a:ext cx="1363579" cy="338554"/>
          </a:xfrm>
          <a:prstGeom prst="rect">
            <a:avLst/>
          </a:prstGeom>
          <a:noFill/>
        </p:spPr>
        <p:txBody>
          <a:bodyPr wrap="square" rtlCol="0">
            <a:spAutoFit/>
          </a:bodyPr>
          <a:lstStyle/>
          <a:p>
            <a:pPr algn="ctr"/>
            <a:r>
              <a:rPr lang="zh-CN" altLang="en-US" sz="1600" dirty="0">
                <a:latin typeface="微软雅黑" panose="020B0503020204020204" pitchFamily="34" charset="-122"/>
                <a:ea typeface="微软雅黑" panose="020B0503020204020204" pitchFamily="34" charset="-122"/>
              </a:rPr>
              <a:t>递</a:t>
            </a:r>
            <a:r>
              <a:rPr lang="zh-CN" altLang="en-US" sz="1600" dirty="0" smtClean="0">
                <a:latin typeface="微软雅黑" panose="020B0503020204020204" pitchFamily="34" charset="-122"/>
                <a:ea typeface="微软雅黑" panose="020B0503020204020204" pitchFamily="34" charset="-122"/>
              </a:rPr>
              <a:t>归查询</a:t>
            </a:r>
            <a:endParaRPr lang="zh-CN" altLang="en-US" sz="1600" dirty="0">
              <a:latin typeface="微软雅黑" panose="020B0503020204020204" pitchFamily="34" charset="-122"/>
              <a:ea typeface="微软雅黑" panose="020B0503020204020204" pitchFamily="34" charset="-122"/>
            </a:endParaRPr>
          </a:p>
        </p:txBody>
      </p:sp>
      <p:sp>
        <p:nvSpPr>
          <p:cNvPr id="10" name="TextBox 9"/>
          <p:cNvSpPr txBox="1"/>
          <p:nvPr/>
        </p:nvSpPr>
        <p:spPr>
          <a:xfrm>
            <a:off x="8598568" y="5896786"/>
            <a:ext cx="1363579" cy="338554"/>
          </a:xfrm>
          <a:prstGeom prst="rect">
            <a:avLst/>
          </a:prstGeom>
          <a:noFill/>
        </p:spPr>
        <p:txBody>
          <a:bodyPr wrap="square" rtlCol="0">
            <a:spAutoFit/>
          </a:bodyPr>
          <a:lstStyle/>
          <a:p>
            <a:pPr algn="ctr"/>
            <a:r>
              <a:rPr lang="zh-CN" altLang="en-US" sz="1600" dirty="0" smtClean="0">
                <a:latin typeface="微软雅黑" panose="020B0503020204020204" pitchFamily="34" charset="-122"/>
                <a:ea typeface="微软雅黑" panose="020B0503020204020204" pitchFamily="34" charset="-122"/>
              </a:rPr>
              <a:t>迭代查询</a:t>
            </a:r>
            <a:endParaRPr lang="zh-CN" altLang="en-US" sz="1600" dirty="0">
              <a:latin typeface="微软雅黑" panose="020B0503020204020204" pitchFamily="34" charset="-122"/>
              <a:ea typeface="微软雅黑" panose="020B0503020204020204" pitchFamily="34" charset="-122"/>
            </a:endParaRPr>
          </a:p>
        </p:txBody>
      </p:sp>
      <p:pic>
        <p:nvPicPr>
          <p:cNvPr id="5" name="Picture 4"/>
          <p:cNvPicPr>
            <a:picLocks noChangeAspect="1"/>
          </p:cNvPicPr>
          <p:nvPr/>
        </p:nvPicPr>
        <p:blipFill>
          <a:blip r:embed="rId3"/>
          <a:stretch>
            <a:fillRect/>
          </a:stretch>
        </p:blipFill>
        <p:spPr>
          <a:xfrm>
            <a:off x="6331055" y="3062725"/>
            <a:ext cx="5669357" cy="2834061"/>
          </a:xfrm>
          <a:prstGeom prst="rect">
            <a:avLst/>
          </a:prstGeom>
        </p:spPr>
      </p:pic>
    </p:spTree>
    <p:extLst>
      <p:ext uri="{BB962C8B-B14F-4D97-AF65-F5344CB8AC3E}">
        <p14:creationId xmlns:p14="http://schemas.microsoft.com/office/powerpoint/2010/main" val="573021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1800" b="1" dirty="0" smtClean="0"/>
              <a:t>报文格式</a:t>
            </a:r>
            <a:endParaRPr lang="en-US" altLang="zh-CN" sz="1800" b="1" dirty="0" smtClean="0"/>
          </a:p>
          <a:p>
            <a:endParaRPr lang="en-US" altLang="zh-CN" sz="1800" b="1" dirty="0"/>
          </a:p>
          <a:p>
            <a:endParaRPr lang="en-US" altLang="zh-CN" sz="1800" b="1" dirty="0" smtClean="0"/>
          </a:p>
          <a:p>
            <a:endParaRPr lang="en-US" altLang="zh-CN" sz="1800" b="1" dirty="0"/>
          </a:p>
          <a:p>
            <a:endParaRPr lang="en-US" altLang="zh-CN" sz="1800" b="1" dirty="0" smtClean="0"/>
          </a:p>
          <a:p>
            <a:endParaRPr lang="en-US" altLang="zh-CN" sz="1800" b="1" dirty="0"/>
          </a:p>
          <a:p>
            <a:endParaRPr lang="en-US" altLang="zh-CN" sz="1800" b="1" dirty="0" smtClean="0"/>
          </a:p>
          <a:p>
            <a:endParaRPr lang="en-US" altLang="zh-CN" sz="1800" b="1" dirty="0"/>
          </a:p>
          <a:p>
            <a:endParaRPr lang="zh-CN" altLang="en-US" sz="1400" dirty="0"/>
          </a:p>
        </p:txBody>
      </p:sp>
      <p:sp>
        <p:nvSpPr>
          <p:cNvPr id="3" name="标题 2"/>
          <p:cNvSpPr>
            <a:spLocks noGrp="1"/>
          </p:cNvSpPr>
          <p:nvPr>
            <p:ph type="title"/>
          </p:nvPr>
        </p:nvSpPr>
        <p:spPr/>
        <p:txBody>
          <a:bodyPr/>
          <a:lstStyle/>
          <a:p>
            <a:r>
              <a:rPr lang="zh-CN" altLang="en-US" dirty="0" smtClean="0"/>
              <a:t>工作过程</a:t>
            </a:r>
            <a:endParaRPr lang="zh-CN" altLang="en-US" dirty="0"/>
          </a:p>
        </p:txBody>
      </p:sp>
      <p:sp>
        <p:nvSpPr>
          <p:cNvPr id="4" name="内容占位符 3"/>
          <p:cNvSpPr>
            <a:spLocks noGrp="1"/>
          </p:cNvSpPr>
          <p:nvPr>
            <p:ph sz="half" idx="10"/>
          </p:nvPr>
        </p:nvSpPr>
        <p:spPr/>
        <p:txBody>
          <a:bodyPr/>
          <a:lstStyle/>
          <a:p>
            <a:r>
              <a:rPr lang="en-US" altLang="zh-CN" dirty="0" smtClean="0"/>
              <a:t>Working Procedure</a:t>
            </a:r>
            <a:endParaRPr lang="zh-CN" altLang="en-US"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4241" t="14332" r="8279" b="17719"/>
          <a:stretch/>
        </p:blipFill>
        <p:spPr>
          <a:xfrm>
            <a:off x="2462802" y="1628776"/>
            <a:ext cx="7200000" cy="2607714"/>
          </a:xfrm>
          <a:prstGeom prst="rect">
            <a:avLst/>
          </a:prstGeom>
        </p:spPr>
      </p:pic>
    </p:spTree>
    <p:extLst>
      <p:ext uri="{BB962C8B-B14F-4D97-AF65-F5344CB8AC3E}">
        <p14:creationId xmlns:p14="http://schemas.microsoft.com/office/powerpoint/2010/main" val="35852069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1800" b="1" dirty="0" smtClean="0"/>
              <a:t>报文格式</a:t>
            </a:r>
            <a:endParaRPr lang="en-US" altLang="zh-CN" sz="1800" b="1" dirty="0" smtClean="0"/>
          </a:p>
          <a:p>
            <a:r>
              <a:rPr lang="zh-CN" altLang="en-US" sz="1800" dirty="0"/>
              <a:t>头部</a:t>
            </a:r>
            <a:endParaRPr lang="en-US" altLang="zh-CN" sz="1800" dirty="0"/>
          </a:p>
          <a:p>
            <a:endParaRPr lang="en-US" altLang="zh-CN" sz="1800" b="1" dirty="0" smtClean="0"/>
          </a:p>
          <a:p>
            <a:r>
              <a:rPr lang="zh-CN" altLang="en-US" sz="1400" dirty="0" smtClean="0"/>
              <a:t>会话表示：</a:t>
            </a:r>
            <a:r>
              <a:rPr lang="en-US" altLang="zh-CN" sz="1400" dirty="0" smtClean="0"/>
              <a:t>DNS</a:t>
            </a:r>
            <a:r>
              <a:rPr lang="zh-CN" altLang="en-US" sz="1400" dirty="0" smtClean="0"/>
              <a:t>报文的</a:t>
            </a:r>
            <a:r>
              <a:rPr lang="en-US" altLang="zh-CN" sz="1400" dirty="0" smtClean="0"/>
              <a:t>ID</a:t>
            </a:r>
            <a:r>
              <a:rPr lang="zh-CN" altLang="en-US" sz="1400" dirty="0"/>
              <a:t>标</a:t>
            </a:r>
            <a:r>
              <a:rPr lang="zh-CN" altLang="en-US" sz="1400" dirty="0" smtClean="0"/>
              <a:t>识，对于请求报文和其应答报文，这个字段是相同的，通过它区分</a:t>
            </a:r>
            <a:r>
              <a:rPr lang="en-US" altLang="zh-CN" sz="1400" dirty="0" smtClean="0"/>
              <a:t>DNS</a:t>
            </a:r>
            <a:r>
              <a:rPr lang="zh-CN" altLang="en-US" sz="1400" dirty="0" smtClean="0"/>
              <a:t>应答报文响应的是哪个请求</a:t>
            </a:r>
            <a:endParaRPr lang="en-US" altLang="zh-CN" sz="1400" dirty="0" smtClean="0"/>
          </a:p>
          <a:p>
            <a:r>
              <a:rPr lang="zh-CN" altLang="en-US" sz="1400" dirty="0"/>
              <a:t>标</a:t>
            </a:r>
            <a:r>
              <a:rPr lang="zh-CN" altLang="en-US" sz="1400" dirty="0" smtClean="0"/>
              <a:t>志：</a:t>
            </a:r>
            <a:endParaRPr lang="en-US" altLang="zh-CN" sz="1400" dirty="0" smtClean="0"/>
          </a:p>
          <a:p>
            <a:endParaRPr lang="en-US" altLang="zh-CN" sz="1400" dirty="0" smtClean="0"/>
          </a:p>
          <a:p>
            <a:endParaRPr lang="en-US" altLang="zh-CN" sz="1400" dirty="0" smtClean="0"/>
          </a:p>
          <a:p>
            <a:endParaRPr lang="en-US" altLang="zh-CN" sz="1400" dirty="0"/>
          </a:p>
          <a:p>
            <a:endParaRPr lang="en-US" altLang="zh-CN" sz="1400" dirty="0" smtClean="0"/>
          </a:p>
          <a:p>
            <a:endParaRPr lang="en-US" altLang="zh-CN" sz="1400" dirty="0"/>
          </a:p>
          <a:p>
            <a:endParaRPr lang="en-US" altLang="zh-CN" sz="1400" dirty="0" smtClean="0"/>
          </a:p>
          <a:p>
            <a:endParaRPr lang="en-US" altLang="zh-CN" sz="1400" dirty="0" smtClean="0"/>
          </a:p>
          <a:p>
            <a:r>
              <a:rPr lang="zh-CN" altLang="en-US" sz="1400" dirty="0" smtClean="0"/>
              <a:t>数量字段：</a:t>
            </a:r>
            <a:r>
              <a:rPr lang="en-US" altLang="zh-CN" sz="1400" dirty="0" smtClean="0"/>
              <a:t>Questions</a:t>
            </a:r>
            <a:r>
              <a:rPr lang="zh-CN" altLang="en-US" sz="1400" dirty="0"/>
              <a:t>表示查询问题区域节的数量，</a:t>
            </a:r>
            <a:r>
              <a:rPr lang="en-US" altLang="zh-CN" sz="1400" dirty="0"/>
              <a:t>Answers</a:t>
            </a:r>
            <a:r>
              <a:rPr lang="zh-CN" altLang="en-US" sz="1400" dirty="0"/>
              <a:t>表示回答区域的数量，</a:t>
            </a:r>
            <a:r>
              <a:rPr lang="en-US" altLang="zh-CN" sz="1400" dirty="0"/>
              <a:t>Authoritative </a:t>
            </a:r>
            <a:r>
              <a:rPr lang="en-US" altLang="zh-CN" sz="1400" dirty="0" err="1"/>
              <a:t>namesversers</a:t>
            </a:r>
            <a:r>
              <a:rPr lang="zh-CN" altLang="en-US" sz="1400" dirty="0"/>
              <a:t>表示授权区域的数量，</a:t>
            </a:r>
            <a:r>
              <a:rPr lang="en-US" altLang="zh-CN" sz="1400" dirty="0"/>
              <a:t>Additional </a:t>
            </a:r>
            <a:r>
              <a:rPr lang="en-US" altLang="zh-CN" sz="1400" dirty="0" err="1"/>
              <a:t>recoreds</a:t>
            </a:r>
            <a:r>
              <a:rPr lang="zh-CN" altLang="en-US" sz="1400" dirty="0"/>
              <a:t>表示附加区域的数量</a:t>
            </a:r>
            <a:endParaRPr lang="en-US" altLang="zh-CN" sz="1400" dirty="0"/>
          </a:p>
          <a:p>
            <a:endParaRPr lang="en-US" altLang="zh-CN" sz="1400" dirty="0"/>
          </a:p>
          <a:p>
            <a:endParaRPr lang="zh-CN" altLang="en-US" sz="1400" dirty="0"/>
          </a:p>
        </p:txBody>
      </p:sp>
      <p:sp>
        <p:nvSpPr>
          <p:cNvPr id="3" name="标题 2"/>
          <p:cNvSpPr>
            <a:spLocks noGrp="1"/>
          </p:cNvSpPr>
          <p:nvPr>
            <p:ph type="title"/>
          </p:nvPr>
        </p:nvSpPr>
        <p:spPr/>
        <p:txBody>
          <a:bodyPr/>
          <a:lstStyle/>
          <a:p>
            <a:r>
              <a:rPr lang="zh-CN" altLang="en-US" dirty="0" smtClean="0"/>
              <a:t>工作过程</a:t>
            </a:r>
            <a:endParaRPr lang="zh-CN" altLang="en-US" dirty="0"/>
          </a:p>
        </p:txBody>
      </p:sp>
      <p:sp>
        <p:nvSpPr>
          <p:cNvPr id="4" name="内容占位符 3"/>
          <p:cNvSpPr>
            <a:spLocks noGrp="1"/>
          </p:cNvSpPr>
          <p:nvPr>
            <p:ph sz="half" idx="10"/>
          </p:nvPr>
        </p:nvSpPr>
        <p:spPr/>
        <p:txBody>
          <a:bodyPr/>
          <a:lstStyle/>
          <a:p>
            <a:r>
              <a:rPr lang="en-US" altLang="zh-CN" dirty="0" smtClean="0"/>
              <a:t>Working Procedure</a:t>
            </a:r>
            <a:endParaRPr lang="zh-CN" altLang="en-US"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4241" t="14332" r="8279" b="54485"/>
          <a:stretch/>
        </p:blipFill>
        <p:spPr>
          <a:xfrm>
            <a:off x="2462802" y="1253872"/>
            <a:ext cx="7200000" cy="1196720"/>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13724" t="31873" r="5042" b="29353"/>
          <a:stretch/>
        </p:blipFill>
        <p:spPr>
          <a:xfrm>
            <a:off x="1815150" y="2815618"/>
            <a:ext cx="5760000" cy="488996"/>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415331782"/>
              </p:ext>
            </p:extLst>
          </p:nvPr>
        </p:nvGraphicFramePr>
        <p:xfrm>
          <a:off x="1848402" y="3324370"/>
          <a:ext cx="8428800" cy="2133600"/>
        </p:xfrm>
        <a:graphic>
          <a:graphicData uri="http://schemas.openxmlformats.org/drawingml/2006/table">
            <a:tbl>
              <a:tblPr bandRow="1">
                <a:tableStyleId>{5C22544A-7EE6-4342-B048-85BDC9FD1C3A}</a:tableStyleId>
              </a:tblPr>
              <a:tblGrid>
                <a:gridCol w="1568768">
                  <a:extLst>
                    <a:ext uri="{9D8B030D-6E8A-4147-A177-3AD203B41FA5}">
                      <a16:colId xmlns:a16="http://schemas.microsoft.com/office/drawing/2014/main" val="4241492605"/>
                    </a:ext>
                  </a:extLst>
                </a:gridCol>
                <a:gridCol w="6860032">
                  <a:extLst>
                    <a:ext uri="{9D8B030D-6E8A-4147-A177-3AD203B41FA5}">
                      <a16:colId xmlns:a16="http://schemas.microsoft.com/office/drawing/2014/main" val="260315005"/>
                    </a:ext>
                  </a:extLst>
                </a:gridCol>
              </a:tblGrid>
              <a:tr h="288000">
                <a:tc>
                  <a:txBody>
                    <a:bodyPr/>
                    <a:lstStyle/>
                    <a:p>
                      <a:r>
                        <a:rPr lang="en-US" sz="1400" dirty="0">
                          <a:latin typeface="微软雅黑" panose="020B0503020204020204" pitchFamily="34" charset="-122"/>
                          <a:ea typeface="微软雅黑" panose="020B0503020204020204" pitchFamily="34" charset="-122"/>
                        </a:rPr>
                        <a:t>QR（1bit）</a:t>
                      </a:r>
                    </a:p>
                  </a:txBody>
                  <a:tcPr anchor="ctr"/>
                </a:tc>
                <a:tc>
                  <a:txBody>
                    <a:bodyPr/>
                    <a:lstStyle/>
                    <a:p>
                      <a:r>
                        <a:rPr lang="zh-CN" altLang="en-US" sz="1400" dirty="0">
                          <a:latin typeface="微软雅黑" panose="020B0503020204020204" pitchFamily="34" charset="-122"/>
                          <a:ea typeface="微软雅黑" panose="020B0503020204020204" pitchFamily="34" charset="-122"/>
                        </a:rPr>
                        <a:t>查询</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响应标志，</a:t>
                      </a:r>
                      <a:r>
                        <a:rPr lang="en-US" altLang="zh-CN" sz="1400" dirty="0">
                          <a:latin typeface="微软雅黑" panose="020B0503020204020204" pitchFamily="34" charset="-122"/>
                          <a:ea typeface="微软雅黑" panose="020B0503020204020204" pitchFamily="34" charset="-122"/>
                        </a:rPr>
                        <a:t>0</a:t>
                      </a:r>
                      <a:r>
                        <a:rPr lang="zh-CN" altLang="en-US" sz="1400" dirty="0">
                          <a:latin typeface="微软雅黑" panose="020B0503020204020204" pitchFamily="34" charset="-122"/>
                          <a:ea typeface="微软雅黑" panose="020B0503020204020204" pitchFamily="34" charset="-122"/>
                        </a:rPr>
                        <a:t>为查询，</a:t>
                      </a: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为响应</a:t>
                      </a:r>
                    </a:p>
                  </a:txBody>
                  <a:tcPr anchor="ctr"/>
                </a:tc>
                <a:extLst>
                  <a:ext uri="{0D108BD9-81ED-4DB2-BD59-A6C34878D82A}">
                    <a16:rowId xmlns:a16="http://schemas.microsoft.com/office/drawing/2014/main" val="283936327"/>
                  </a:ext>
                </a:extLst>
              </a:tr>
              <a:tr h="288000">
                <a:tc>
                  <a:txBody>
                    <a:bodyPr/>
                    <a:lstStyle/>
                    <a:p>
                      <a:r>
                        <a:rPr lang="en-US" sz="1400" dirty="0">
                          <a:latin typeface="微软雅黑" panose="020B0503020204020204" pitchFamily="34" charset="-122"/>
                          <a:ea typeface="微软雅黑" panose="020B0503020204020204" pitchFamily="34" charset="-122"/>
                        </a:rPr>
                        <a:t>opcode（4bit）</a:t>
                      </a:r>
                    </a:p>
                  </a:txBody>
                  <a:tcPr anchor="ctr"/>
                </a:tc>
                <a:tc>
                  <a:txBody>
                    <a:bodyPr/>
                    <a:lstStyle/>
                    <a:p>
                      <a:r>
                        <a:rPr lang="en-US" altLang="zh-CN" sz="1400" dirty="0">
                          <a:latin typeface="微软雅黑" panose="020B0503020204020204" pitchFamily="34" charset="-122"/>
                          <a:ea typeface="微软雅黑" panose="020B0503020204020204" pitchFamily="34" charset="-122"/>
                        </a:rPr>
                        <a:t>0</a:t>
                      </a:r>
                      <a:r>
                        <a:rPr lang="zh-CN" altLang="en-US" sz="1400" dirty="0">
                          <a:latin typeface="微软雅黑" panose="020B0503020204020204" pitchFamily="34" charset="-122"/>
                          <a:ea typeface="微软雅黑" panose="020B0503020204020204" pitchFamily="34" charset="-122"/>
                        </a:rPr>
                        <a:t>表示标准查询，</a:t>
                      </a: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表示反向查询，</a:t>
                      </a: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表示服务器状态请求</a:t>
                      </a:r>
                    </a:p>
                  </a:txBody>
                  <a:tcPr anchor="ctr"/>
                </a:tc>
                <a:extLst>
                  <a:ext uri="{0D108BD9-81ED-4DB2-BD59-A6C34878D82A}">
                    <a16:rowId xmlns:a16="http://schemas.microsoft.com/office/drawing/2014/main" val="3220419939"/>
                  </a:ext>
                </a:extLst>
              </a:tr>
              <a:tr h="288000">
                <a:tc>
                  <a:txBody>
                    <a:bodyPr/>
                    <a:lstStyle/>
                    <a:p>
                      <a:r>
                        <a:rPr lang="en-US" sz="1400" dirty="0">
                          <a:latin typeface="微软雅黑" panose="020B0503020204020204" pitchFamily="34" charset="-122"/>
                          <a:ea typeface="微软雅黑" panose="020B0503020204020204" pitchFamily="34" charset="-122"/>
                        </a:rPr>
                        <a:t>AA（1bit）</a:t>
                      </a:r>
                    </a:p>
                  </a:txBody>
                  <a:tcPr anchor="ctr"/>
                </a:tc>
                <a:tc>
                  <a:txBody>
                    <a:bodyPr/>
                    <a:lstStyle/>
                    <a:p>
                      <a:r>
                        <a:rPr lang="zh-CN" altLang="en-US" sz="1400" dirty="0">
                          <a:latin typeface="微软雅黑" panose="020B0503020204020204" pitchFamily="34" charset="-122"/>
                          <a:ea typeface="微软雅黑" panose="020B0503020204020204" pitchFamily="34" charset="-122"/>
                        </a:rPr>
                        <a:t>表示授权回答</a:t>
                      </a:r>
                    </a:p>
                  </a:txBody>
                  <a:tcPr anchor="ctr"/>
                </a:tc>
                <a:extLst>
                  <a:ext uri="{0D108BD9-81ED-4DB2-BD59-A6C34878D82A}">
                    <a16:rowId xmlns:a16="http://schemas.microsoft.com/office/drawing/2014/main" val="3667508672"/>
                  </a:ext>
                </a:extLst>
              </a:tr>
              <a:tr h="288000">
                <a:tc>
                  <a:txBody>
                    <a:bodyPr/>
                    <a:lstStyle/>
                    <a:p>
                      <a:r>
                        <a:rPr lang="en-US" sz="1400" dirty="0">
                          <a:latin typeface="微软雅黑" panose="020B0503020204020204" pitchFamily="34" charset="-122"/>
                          <a:ea typeface="微软雅黑" panose="020B0503020204020204" pitchFamily="34" charset="-122"/>
                        </a:rPr>
                        <a:t>TC（1bit）</a:t>
                      </a:r>
                    </a:p>
                  </a:txBody>
                  <a:tcPr anchor="ctr"/>
                </a:tc>
                <a:tc>
                  <a:txBody>
                    <a:bodyPr/>
                    <a:lstStyle/>
                    <a:p>
                      <a:r>
                        <a:rPr lang="zh-CN" altLang="en-US" sz="1400" dirty="0">
                          <a:latin typeface="微软雅黑" panose="020B0503020204020204" pitchFamily="34" charset="-122"/>
                          <a:ea typeface="微软雅黑" panose="020B0503020204020204" pitchFamily="34" charset="-122"/>
                        </a:rPr>
                        <a:t>表示可截断的</a:t>
                      </a:r>
                    </a:p>
                  </a:txBody>
                  <a:tcPr anchor="ctr"/>
                </a:tc>
                <a:extLst>
                  <a:ext uri="{0D108BD9-81ED-4DB2-BD59-A6C34878D82A}">
                    <a16:rowId xmlns:a16="http://schemas.microsoft.com/office/drawing/2014/main" val="495740098"/>
                  </a:ext>
                </a:extLst>
              </a:tr>
              <a:tr h="288000">
                <a:tc>
                  <a:txBody>
                    <a:bodyPr/>
                    <a:lstStyle/>
                    <a:p>
                      <a:r>
                        <a:rPr lang="en-US" sz="1400" dirty="0">
                          <a:latin typeface="微软雅黑" panose="020B0503020204020204" pitchFamily="34" charset="-122"/>
                          <a:ea typeface="微软雅黑" panose="020B0503020204020204" pitchFamily="34" charset="-122"/>
                        </a:rPr>
                        <a:t>RD（1bit）</a:t>
                      </a:r>
                    </a:p>
                  </a:txBody>
                  <a:tcPr anchor="ctr"/>
                </a:tc>
                <a:tc>
                  <a:txBody>
                    <a:bodyPr/>
                    <a:lstStyle/>
                    <a:p>
                      <a:r>
                        <a:rPr lang="zh-CN" altLang="en-US" sz="1400" dirty="0">
                          <a:latin typeface="微软雅黑" panose="020B0503020204020204" pitchFamily="34" charset="-122"/>
                          <a:ea typeface="微软雅黑" panose="020B0503020204020204" pitchFamily="34" charset="-122"/>
                        </a:rPr>
                        <a:t>表示期望递归</a:t>
                      </a:r>
                    </a:p>
                  </a:txBody>
                  <a:tcPr anchor="ctr"/>
                </a:tc>
                <a:extLst>
                  <a:ext uri="{0D108BD9-81ED-4DB2-BD59-A6C34878D82A}">
                    <a16:rowId xmlns:a16="http://schemas.microsoft.com/office/drawing/2014/main" val="3150772799"/>
                  </a:ext>
                </a:extLst>
              </a:tr>
              <a:tr h="288000">
                <a:tc>
                  <a:txBody>
                    <a:bodyPr/>
                    <a:lstStyle/>
                    <a:p>
                      <a:r>
                        <a:rPr lang="en-US" sz="1400" dirty="0">
                          <a:latin typeface="微软雅黑" panose="020B0503020204020204" pitchFamily="34" charset="-122"/>
                          <a:ea typeface="微软雅黑" panose="020B0503020204020204" pitchFamily="34" charset="-122"/>
                        </a:rPr>
                        <a:t>RA（1bit）</a:t>
                      </a:r>
                    </a:p>
                  </a:txBody>
                  <a:tcPr anchor="ctr"/>
                </a:tc>
                <a:tc>
                  <a:txBody>
                    <a:bodyPr/>
                    <a:lstStyle/>
                    <a:p>
                      <a:r>
                        <a:rPr lang="zh-CN" altLang="en-US" sz="1400" dirty="0">
                          <a:latin typeface="微软雅黑" panose="020B0503020204020204" pitchFamily="34" charset="-122"/>
                          <a:ea typeface="微软雅黑" panose="020B0503020204020204" pitchFamily="34" charset="-122"/>
                        </a:rPr>
                        <a:t>表示可用递归</a:t>
                      </a:r>
                    </a:p>
                  </a:txBody>
                  <a:tcPr anchor="ctr"/>
                </a:tc>
                <a:extLst>
                  <a:ext uri="{0D108BD9-81ED-4DB2-BD59-A6C34878D82A}">
                    <a16:rowId xmlns:a16="http://schemas.microsoft.com/office/drawing/2014/main" val="2089421358"/>
                  </a:ext>
                </a:extLst>
              </a:tr>
              <a:tr h="288000">
                <a:tc>
                  <a:txBody>
                    <a:bodyPr/>
                    <a:lstStyle/>
                    <a:p>
                      <a:r>
                        <a:rPr lang="en-US" sz="1400" dirty="0">
                          <a:latin typeface="微软雅黑" panose="020B0503020204020204" pitchFamily="34" charset="-122"/>
                          <a:ea typeface="微软雅黑" panose="020B0503020204020204" pitchFamily="34" charset="-122"/>
                        </a:rPr>
                        <a:t>rcode（4bit）</a:t>
                      </a:r>
                    </a:p>
                  </a:txBody>
                  <a:tcPr anchor="ctr"/>
                </a:tc>
                <a:tc>
                  <a:txBody>
                    <a:bodyPr/>
                    <a:lstStyle/>
                    <a:p>
                      <a:r>
                        <a:rPr lang="zh-CN" altLang="en-US" sz="1400" dirty="0">
                          <a:latin typeface="微软雅黑" panose="020B0503020204020204" pitchFamily="34" charset="-122"/>
                          <a:ea typeface="微软雅黑" panose="020B0503020204020204" pitchFamily="34" charset="-122"/>
                        </a:rPr>
                        <a:t>表示返回码，</a:t>
                      </a:r>
                      <a:r>
                        <a:rPr lang="en-US" altLang="zh-CN" sz="1400" dirty="0">
                          <a:latin typeface="微软雅黑" panose="020B0503020204020204" pitchFamily="34" charset="-122"/>
                          <a:ea typeface="微软雅黑" panose="020B0503020204020204" pitchFamily="34" charset="-122"/>
                        </a:rPr>
                        <a:t>0</a:t>
                      </a:r>
                      <a:r>
                        <a:rPr lang="zh-CN" altLang="en-US" sz="1400" dirty="0">
                          <a:latin typeface="微软雅黑" panose="020B0503020204020204" pitchFamily="34" charset="-122"/>
                          <a:ea typeface="微软雅黑" panose="020B0503020204020204" pitchFamily="34" charset="-122"/>
                        </a:rPr>
                        <a:t>表示没有差错，</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表示名字差错，</a:t>
                      </a: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表示服务器错误（</a:t>
                      </a:r>
                      <a:r>
                        <a:rPr lang="en-US" altLang="zh-CN" sz="1400" dirty="0">
                          <a:latin typeface="微软雅黑" panose="020B0503020204020204" pitchFamily="34" charset="-122"/>
                          <a:ea typeface="微软雅黑" panose="020B0503020204020204" pitchFamily="34" charset="-122"/>
                        </a:rPr>
                        <a:t>Server Failure</a:t>
                      </a:r>
                      <a:r>
                        <a:rPr lang="zh-CN" altLang="en-US" sz="1400" dirty="0">
                          <a:latin typeface="微软雅黑" panose="020B0503020204020204" pitchFamily="34" charset="-122"/>
                          <a:ea typeface="微软雅黑" panose="020B0503020204020204" pitchFamily="34" charset="-122"/>
                        </a:rPr>
                        <a:t>）</a:t>
                      </a:r>
                    </a:p>
                  </a:txBody>
                  <a:tcPr anchor="ctr"/>
                </a:tc>
                <a:extLst>
                  <a:ext uri="{0D108BD9-81ED-4DB2-BD59-A6C34878D82A}">
                    <a16:rowId xmlns:a16="http://schemas.microsoft.com/office/drawing/2014/main" val="1669602998"/>
                  </a:ext>
                </a:extLst>
              </a:tr>
            </a:tbl>
          </a:graphicData>
        </a:graphic>
      </p:graphicFrame>
    </p:spTree>
    <p:extLst>
      <p:ext uri="{BB962C8B-B14F-4D97-AF65-F5344CB8AC3E}">
        <p14:creationId xmlns:p14="http://schemas.microsoft.com/office/powerpoint/2010/main" val="33159029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1800" b="1" dirty="0" smtClean="0"/>
              <a:t>报文格式</a:t>
            </a:r>
            <a:endParaRPr lang="en-US" altLang="zh-CN" sz="1800" b="1" dirty="0" smtClean="0"/>
          </a:p>
          <a:p>
            <a:r>
              <a:rPr lang="zh-CN" altLang="en-US" sz="1800" dirty="0"/>
              <a:t>正</a:t>
            </a:r>
            <a:r>
              <a:rPr lang="zh-CN" altLang="en-US" sz="1800" dirty="0" smtClean="0"/>
              <a:t>文</a:t>
            </a:r>
            <a:endParaRPr lang="en-US" altLang="zh-CN" sz="1800" dirty="0" smtClean="0"/>
          </a:p>
          <a:p>
            <a:endParaRPr lang="en-US" altLang="zh-CN" sz="1800" dirty="0"/>
          </a:p>
          <a:p>
            <a:endParaRPr lang="en-US" altLang="zh-CN" sz="1800" dirty="0"/>
          </a:p>
          <a:p>
            <a:r>
              <a:rPr lang="zh-CN" altLang="en-US" sz="1400" dirty="0" smtClean="0"/>
              <a:t>查询问题区：</a:t>
            </a:r>
            <a:endParaRPr lang="en-US" altLang="zh-CN" sz="1400" dirty="0" smtClean="0"/>
          </a:p>
          <a:p>
            <a:endParaRPr lang="en-US" altLang="zh-CN" sz="1400" dirty="0" smtClean="0"/>
          </a:p>
          <a:p>
            <a:r>
              <a:rPr lang="en-US" altLang="zh-CN" sz="1200" dirty="0" smtClean="0"/>
              <a:t>Name: </a:t>
            </a:r>
            <a:r>
              <a:rPr lang="zh-CN" altLang="en-US" sz="1200" dirty="0" smtClean="0"/>
              <a:t>长</a:t>
            </a:r>
            <a:r>
              <a:rPr lang="zh-CN" altLang="en-US" sz="1200" dirty="0"/>
              <a:t>度不固定，且不使用填充字节，一般该字段表示的就是需要查询的域名（如果是反向查询，则为</a:t>
            </a:r>
            <a:r>
              <a:rPr lang="en-US" altLang="zh-CN" sz="1200" dirty="0"/>
              <a:t>IP</a:t>
            </a:r>
            <a:r>
              <a:rPr lang="zh-CN" altLang="en-US" sz="1200" dirty="0"/>
              <a:t>，反向查询即由</a:t>
            </a:r>
            <a:r>
              <a:rPr lang="en-US" altLang="zh-CN" sz="1200" dirty="0"/>
              <a:t>IP</a:t>
            </a:r>
            <a:r>
              <a:rPr lang="zh-CN" altLang="en-US" sz="1200" dirty="0"/>
              <a:t>地址反查域名），一般的格式如下图所示</a:t>
            </a:r>
            <a:r>
              <a:rPr lang="zh-CN" altLang="en-US" sz="1200" dirty="0" smtClean="0"/>
              <a:t>。</a:t>
            </a:r>
            <a:endParaRPr lang="en-US" altLang="zh-CN" sz="1200" dirty="0" smtClean="0"/>
          </a:p>
          <a:p>
            <a:r>
              <a:rPr lang="en-US" altLang="zh-CN" sz="1200" dirty="0" smtClean="0"/>
              <a:t>Type:</a:t>
            </a:r>
          </a:p>
          <a:p>
            <a:endParaRPr lang="en-US" altLang="zh-CN" sz="1400" dirty="0" smtClean="0"/>
          </a:p>
          <a:p>
            <a:endParaRPr lang="en-US" altLang="zh-CN" sz="1400" dirty="0"/>
          </a:p>
          <a:p>
            <a:endParaRPr lang="en-US" altLang="zh-CN" sz="1400" dirty="0" smtClean="0"/>
          </a:p>
          <a:p>
            <a:endParaRPr lang="en-US" altLang="zh-CN" sz="1400" dirty="0"/>
          </a:p>
          <a:p>
            <a:r>
              <a:rPr lang="en-US" altLang="zh-CN" sz="1400" dirty="0" smtClean="0"/>
              <a:t>Class: </a:t>
            </a:r>
            <a:r>
              <a:rPr lang="zh-CN" altLang="en-US" sz="1400" dirty="0" smtClean="0"/>
              <a:t>通常为</a:t>
            </a:r>
            <a:r>
              <a:rPr lang="en-US" altLang="zh-CN" sz="1400" dirty="0" smtClean="0"/>
              <a:t>1</a:t>
            </a:r>
            <a:r>
              <a:rPr lang="zh-CN" altLang="en-US" sz="1400" dirty="0" smtClean="0"/>
              <a:t>，表示是</a:t>
            </a:r>
            <a:r>
              <a:rPr lang="en-US" altLang="zh-CN" sz="1400" dirty="0" smtClean="0"/>
              <a:t>INTERNET</a:t>
            </a:r>
            <a:r>
              <a:rPr lang="zh-CN" altLang="en-US" sz="1400" dirty="0" smtClean="0"/>
              <a:t>数据</a:t>
            </a:r>
            <a:endParaRPr lang="zh-CN" altLang="en-US" sz="1400" dirty="0"/>
          </a:p>
        </p:txBody>
      </p:sp>
      <p:sp>
        <p:nvSpPr>
          <p:cNvPr id="3" name="标题 2"/>
          <p:cNvSpPr>
            <a:spLocks noGrp="1"/>
          </p:cNvSpPr>
          <p:nvPr>
            <p:ph type="title"/>
          </p:nvPr>
        </p:nvSpPr>
        <p:spPr/>
        <p:txBody>
          <a:bodyPr/>
          <a:lstStyle/>
          <a:p>
            <a:r>
              <a:rPr lang="zh-CN" altLang="en-US" dirty="0" smtClean="0"/>
              <a:t>工作过程</a:t>
            </a:r>
            <a:endParaRPr lang="zh-CN" altLang="en-US" dirty="0"/>
          </a:p>
        </p:txBody>
      </p:sp>
      <p:sp>
        <p:nvSpPr>
          <p:cNvPr id="4" name="内容占位符 3"/>
          <p:cNvSpPr>
            <a:spLocks noGrp="1"/>
          </p:cNvSpPr>
          <p:nvPr>
            <p:ph sz="half" idx="10"/>
          </p:nvPr>
        </p:nvSpPr>
        <p:spPr/>
        <p:txBody>
          <a:bodyPr/>
          <a:lstStyle/>
          <a:p>
            <a:r>
              <a:rPr lang="en-US" altLang="zh-CN" dirty="0" smtClean="0"/>
              <a:t>Working Procedure</a:t>
            </a:r>
            <a:endParaRPr lang="zh-CN" altLang="en-US"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13079" t="44859" r="17607" b="17719"/>
          <a:stretch/>
        </p:blipFill>
        <p:spPr>
          <a:xfrm>
            <a:off x="3210382" y="1102996"/>
            <a:ext cx="5704840" cy="1436140"/>
          </a:xfrm>
          <a:prstGeom prst="rect">
            <a:avLst/>
          </a:prstGeo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12205" t="31664" r="10770" b="13329"/>
          <a:stretch/>
        </p:blipFill>
        <p:spPr>
          <a:xfrm>
            <a:off x="2598662" y="2688889"/>
            <a:ext cx="6408000" cy="938173"/>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674113350"/>
              </p:ext>
            </p:extLst>
          </p:nvPr>
        </p:nvGraphicFramePr>
        <p:xfrm>
          <a:off x="1403967" y="4056052"/>
          <a:ext cx="9317670" cy="1581020"/>
        </p:xfrm>
        <a:graphic>
          <a:graphicData uri="http://schemas.openxmlformats.org/drawingml/2006/table">
            <a:tbl>
              <a:tblPr firstRow="1" bandRow="1">
                <a:tableStyleId>{5C22544A-7EE6-4342-B048-85BDC9FD1C3A}</a:tableStyleId>
              </a:tblPr>
              <a:tblGrid>
                <a:gridCol w="631902">
                  <a:extLst>
                    <a:ext uri="{9D8B030D-6E8A-4147-A177-3AD203B41FA5}">
                      <a16:colId xmlns:a16="http://schemas.microsoft.com/office/drawing/2014/main" val="1769367582"/>
                    </a:ext>
                  </a:extLst>
                </a:gridCol>
                <a:gridCol w="773444">
                  <a:extLst>
                    <a:ext uri="{9D8B030D-6E8A-4147-A177-3AD203B41FA5}">
                      <a16:colId xmlns:a16="http://schemas.microsoft.com/office/drawing/2014/main" val="1899584455"/>
                    </a:ext>
                  </a:extLst>
                </a:gridCol>
                <a:gridCol w="1779919">
                  <a:extLst>
                    <a:ext uri="{9D8B030D-6E8A-4147-A177-3AD203B41FA5}">
                      <a16:colId xmlns:a16="http://schemas.microsoft.com/office/drawing/2014/main" val="15129618"/>
                    </a:ext>
                  </a:extLst>
                </a:gridCol>
                <a:gridCol w="631902">
                  <a:extLst>
                    <a:ext uri="{9D8B030D-6E8A-4147-A177-3AD203B41FA5}">
                      <a16:colId xmlns:a16="http://schemas.microsoft.com/office/drawing/2014/main" val="2124464334"/>
                    </a:ext>
                  </a:extLst>
                </a:gridCol>
                <a:gridCol w="687719">
                  <a:extLst>
                    <a:ext uri="{9D8B030D-6E8A-4147-A177-3AD203B41FA5}">
                      <a16:colId xmlns:a16="http://schemas.microsoft.com/office/drawing/2014/main" val="4263343205"/>
                    </a:ext>
                  </a:extLst>
                </a:gridCol>
                <a:gridCol w="1773569">
                  <a:extLst>
                    <a:ext uri="{9D8B030D-6E8A-4147-A177-3AD203B41FA5}">
                      <a16:colId xmlns:a16="http://schemas.microsoft.com/office/drawing/2014/main" val="2101761659"/>
                    </a:ext>
                  </a:extLst>
                </a:gridCol>
                <a:gridCol w="631902">
                  <a:extLst>
                    <a:ext uri="{9D8B030D-6E8A-4147-A177-3AD203B41FA5}">
                      <a16:colId xmlns:a16="http://schemas.microsoft.com/office/drawing/2014/main" val="3922773360"/>
                    </a:ext>
                  </a:extLst>
                </a:gridCol>
                <a:gridCol w="633744">
                  <a:extLst>
                    <a:ext uri="{9D8B030D-6E8A-4147-A177-3AD203B41FA5}">
                      <a16:colId xmlns:a16="http://schemas.microsoft.com/office/drawing/2014/main" val="485493007"/>
                    </a:ext>
                  </a:extLst>
                </a:gridCol>
                <a:gridCol w="1773569">
                  <a:extLst>
                    <a:ext uri="{9D8B030D-6E8A-4147-A177-3AD203B41FA5}">
                      <a16:colId xmlns:a16="http://schemas.microsoft.com/office/drawing/2014/main" val="1137796364"/>
                    </a:ext>
                  </a:extLst>
                </a:gridCol>
              </a:tblGrid>
              <a:tr h="288000">
                <a:tc>
                  <a:txBody>
                    <a:bodyPr/>
                    <a:lstStyle/>
                    <a:p>
                      <a:r>
                        <a:rPr lang="en-US" altLang="zh-CN" sz="1400" dirty="0" smtClean="0">
                          <a:effectLst/>
                        </a:rPr>
                        <a:t>Value</a:t>
                      </a:r>
                      <a:endParaRPr lang="zh-CN" altLang="en-US" sz="1400" dirty="0">
                        <a:effectLst/>
                      </a:endParaRPr>
                    </a:p>
                  </a:txBody>
                  <a:tcPr marL="90653" marR="90653" marT="45326" marB="45326" anchor="ctr"/>
                </a:tc>
                <a:tc>
                  <a:txBody>
                    <a:bodyPr/>
                    <a:lstStyle/>
                    <a:p>
                      <a:r>
                        <a:rPr lang="en-US" altLang="zh-CN" sz="1400" dirty="0" smtClean="0">
                          <a:effectLst/>
                        </a:rPr>
                        <a:t>Type</a:t>
                      </a:r>
                      <a:endParaRPr lang="zh-CN" altLang="en-US" sz="1400" dirty="0">
                        <a:effectLst/>
                      </a:endParaRPr>
                    </a:p>
                  </a:txBody>
                  <a:tcPr marL="90653" marR="90653" marT="45326" marB="45326" anchor="ctr"/>
                </a:tc>
                <a:tc>
                  <a:txBody>
                    <a:bodyPr/>
                    <a:lstStyle/>
                    <a:p>
                      <a:r>
                        <a:rPr lang="en-US" altLang="zh-CN" sz="1400" dirty="0" smtClean="0">
                          <a:effectLst/>
                        </a:rPr>
                        <a:t>Description</a:t>
                      </a:r>
                      <a:endParaRPr lang="zh-CN" altLang="en-US" sz="1400" dirty="0">
                        <a:effectLst/>
                      </a:endParaRPr>
                    </a:p>
                  </a:txBody>
                  <a:tcPr marL="90653" marR="90653" marT="45326" marB="45326" anchor="ctr">
                    <a:lnR w="28575" cap="flat" cmpd="sng" algn="ctr">
                      <a:solidFill>
                        <a:schemeClr val="bg1"/>
                      </a:solidFill>
                      <a:prstDash val="solid"/>
                      <a:round/>
                      <a:headEnd type="none" w="med" len="med"/>
                      <a:tailEnd type="none" w="med" len="med"/>
                    </a:lnR>
                  </a:tcPr>
                </a:tc>
                <a:tc>
                  <a:txBody>
                    <a:bodyPr/>
                    <a:lstStyle/>
                    <a:p>
                      <a:r>
                        <a:rPr lang="en-US" altLang="zh-CN" sz="1400" dirty="0" smtClean="0">
                          <a:effectLst/>
                        </a:rPr>
                        <a:t>Value</a:t>
                      </a:r>
                      <a:endParaRPr lang="zh-CN" altLang="en-US" sz="1400" dirty="0">
                        <a:effectLst/>
                      </a:endParaRPr>
                    </a:p>
                  </a:txBody>
                  <a:tcPr marL="90653" marR="90653" marT="45326" marB="45326" anchor="ctr">
                    <a:lnL w="28575" cap="flat" cmpd="sng" algn="ctr">
                      <a:solidFill>
                        <a:schemeClr val="bg1"/>
                      </a:solidFill>
                      <a:prstDash val="solid"/>
                      <a:round/>
                      <a:headEnd type="none" w="med" len="med"/>
                      <a:tailEnd type="none" w="med" len="med"/>
                    </a:lnL>
                  </a:tcPr>
                </a:tc>
                <a:tc>
                  <a:txBody>
                    <a:bodyPr/>
                    <a:lstStyle/>
                    <a:p>
                      <a:r>
                        <a:rPr lang="en-US" altLang="zh-CN" sz="1400" dirty="0" smtClean="0">
                          <a:effectLst/>
                        </a:rPr>
                        <a:t>Type</a:t>
                      </a:r>
                      <a:endParaRPr lang="zh-CN" altLang="en-US" sz="1400" dirty="0">
                        <a:effectLst/>
                      </a:endParaRPr>
                    </a:p>
                  </a:txBody>
                  <a:tcPr marL="90653" marR="90653" marT="45326" marB="45326" anchor="ctr"/>
                </a:tc>
                <a:tc>
                  <a:txBody>
                    <a:bodyPr/>
                    <a:lstStyle/>
                    <a:p>
                      <a:r>
                        <a:rPr lang="en-US" altLang="zh-CN" sz="1400" dirty="0" smtClean="0">
                          <a:effectLst/>
                        </a:rPr>
                        <a:t>Description</a:t>
                      </a:r>
                      <a:endParaRPr lang="zh-CN" altLang="en-US" sz="1400" dirty="0">
                        <a:effectLst/>
                      </a:endParaRPr>
                    </a:p>
                  </a:txBody>
                  <a:tcPr marL="90653" marR="90653" marT="45326" marB="45326" anchor="ctr">
                    <a:lnR w="28575" cap="flat" cmpd="sng" algn="ctr">
                      <a:solidFill>
                        <a:schemeClr val="bg1"/>
                      </a:solidFill>
                      <a:prstDash val="solid"/>
                      <a:round/>
                      <a:headEnd type="none" w="med" len="med"/>
                      <a:tailEnd type="none" w="med" len="med"/>
                    </a:lnR>
                  </a:tcPr>
                </a:tc>
                <a:tc>
                  <a:txBody>
                    <a:bodyPr/>
                    <a:lstStyle/>
                    <a:p>
                      <a:r>
                        <a:rPr lang="en-US" altLang="zh-CN" sz="1400" dirty="0" smtClean="0">
                          <a:effectLst/>
                        </a:rPr>
                        <a:t>Value</a:t>
                      </a:r>
                      <a:endParaRPr lang="zh-CN" altLang="en-US" sz="1400" dirty="0">
                        <a:effectLst/>
                      </a:endParaRPr>
                    </a:p>
                  </a:txBody>
                  <a:tcPr marL="90653" marR="90653" marT="45326" marB="45326" anchor="ctr">
                    <a:lnL w="28575" cap="flat" cmpd="sng" algn="ctr">
                      <a:solidFill>
                        <a:schemeClr val="bg1"/>
                      </a:solidFill>
                      <a:prstDash val="solid"/>
                      <a:round/>
                      <a:headEnd type="none" w="med" len="med"/>
                      <a:tailEnd type="none" w="med" len="med"/>
                    </a:lnL>
                  </a:tcPr>
                </a:tc>
                <a:tc>
                  <a:txBody>
                    <a:bodyPr/>
                    <a:lstStyle/>
                    <a:p>
                      <a:r>
                        <a:rPr lang="en-US" altLang="zh-CN" sz="1400" dirty="0" smtClean="0">
                          <a:effectLst/>
                        </a:rPr>
                        <a:t>Type</a:t>
                      </a:r>
                      <a:endParaRPr lang="zh-CN" altLang="en-US" sz="1400" dirty="0">
                        <a:effectLst/>
                      </a:endParaRPr>
                    </a:p>
                  </a:txBody>
                  <a:tcPr marL="90653" marR="90653" marT="45326" marB="45326" anchor="ctr"/>
                </a:tc>
                <a:tc>
                  <a:txBody>
                    <a:bodyPr/>
                    <a:lstStyle/>
                    <a:p>
                      <a:r>
                        <a:rPr lang="en-US" altLang="zh-CN" sz="1400" dirty="0" smtClean="0">
                          <a:effectLst/>
                        </a:rPr>
                        <a:t>Description</a:t>
                      </a:r>
                      <a:endParaRPr lang="zh-CN" altLang="en-US" sz="1400" dirty="0">
                        <a:effectLst/>
                      </a:endParaRPr>
                    </a:p>
                  </a:txBody>
                  <a:tcPr marL="90653" marR="90653" marT="45326" marB="45326" anchor="ctr"/>
                </a:tc>
                <a:extLst>
                  <a:ext uri="{0D108BD9-81ED-4DB2-BD59-A6C34878D82A}">
                    <a16:rowId xmlns:a16="http://schemas.microsoft.com/office/drawing/2014/main" val="1502362561"/>
                  </a:ext>
                </a:extLst>
              </a:tr>
              <a:tr h="288000">
                <a:tc>
                  <a:txBody>
                    <a:bodyPr/>
                    <a:lstStyle/>
                    <a:p>
                      <a:r>
                        <a:rPr lang="en-US" altLang="zh-CN" sz="1400" dirty="0">
                          <a:effectLst/>
                        </a:rPr>
                        <a:t>1</a:t>
                      </a:r>
                    </a:p>
                  </a:txBody>
                  <a:tcPr marL="90653" marR="90653" marT="45326" marB="45326" anchor="ctr"/>
                </a:tc>
                <a:tc>
                  <a:txBody>
                    <a:bodyPr/>
                    <a:lstStyle/>
                    <a:p>
                      <a:r>
                        <a:rPr lang="en-US" sz="1400" dirty="0">
                          <a:effectLst/>
                        </a:rPr>
                        <a:t>A</a:t>
                      </a:r>
                    </a:p>
                  </a:txBody>
                  <a:tcPr marL="90653" marR="90653" marT="45326" marB="45326" anchor="ctr"/>
                </a:tc>
                <a:tc>
                  <a:txBody>
                    <a:bodyPr/>
                    <a:lstStyle/>
                    <a:p>
                      <a:r>
                        <a:rPr lang="zh-CN" altLang="en-US" sz="1400" dirty="0">
                          <a:effectLst/>
                        </a:rPr>
                        <a:t>由域名获得</a:t>
                      </a:r>
                      <a:r>
                        <a:rPr lang="en-US" altLang="zh-CN" sz="1400" dirty="0">
                          <a:effectLst/>
                        </a:rPr>
                        <a:t>IPv4</a:t>
                      </a:r>
                      <a:r>
                        <a:rPr lang="zh-CN" altLang="en-US" sz="1400" dirty="0">
                          <a:effectLst/>
                        </a:rPr>
                        <a:t>地址</a:t>
                      </a:r>
                    </a:p>
                  </a:txBody>
                  <a:tcPr marL="90653" marR="90653" marT="45326" marB="45326" anchor="ctr">
                    <a:lnR w="28575" cap="flat" cmpd="sng" algn="ctr">
                      <a:solidFill>
                        <a:schemeClr val="bg1"/>
                      </a:solidFill>
                      <a:prstDash val="solid"/>
                      <a:round/>
                      <a:headEnd type="none" w="med" len="med"/>
                      <a:tailEnd type="none" w="med" len="med"/>
                    </a:lnR>
                  </a:tcPr>
                </a:tc>
                <a:tc>
                  <a:txBody>
                    <a:bodyPr/>
                    <a:lstStyle/>
                    <a:p>
                      <a:r>
                        <a:rPr lang="en-US" altLang="zh-CN" sz="1400" dirty="0">
                          <a:effectLst/>
                        </a:rPr>
                        <a:t>11</a:t>
                      </a:r>
                    </a:p>
                  </a:txBody>
                  <a:tcPr marL="90653" marR="90653" marT="45326" marB="45326" anchor="ctr">
                    <a:lnL w="28575" cap="flat" cmpd="sng" algn="ctr">
                      <a:solidFill>
                        <a:schemeClr val="bg1"/>
                      </a:solidFill>
                      <a:prstDash val="solid"/>
                      <a:round/>
                      <a:headEnd type="none" w="med" len="med"/>
                      <a:tailEnd type="none" w="med" len="med"/>
                    </a:lnL>
                  </a:tcPr>
                </a:tc>
                <a:tc>
                  <a:txBody>
                    <a:bodyPr/>
                    <a:lstStyle/>
                    <a:p>
                      <a:r>
                        <a:rPr lang="en-US" sz="1400" dirty="0">
                          <a:effectLst/>
                        </a:rPr>
                        <a:t>WKS</a:t>
                      </a:r>
                    </a:p>
                  </a:txBody>
                  <a:tcPr marL="90653" marR="90653" marT="45326" marB="45326" anchor="ctr"/>
                </a:tc>
                <a:tc>
                  <a:txBody>
                    <a:bodyPr/>
                    <a:lstStyle/>
                    <a:p>
                      <a:r>
                        <a:rPr lang="zh-CN" altLang="en-US" sz="1400" dirty="0">
                          <a:effectLst/>
                        </a:rPr>
                        <a:t>熟知服务</a:t>
                      </a:r>
                    </a:p>
                  </a:txBody>
                  <a:tcPr marL="90653" marR="90653" marT="45326" marB="45326" anchor="ctr">
                    <a:lnR w="28575" cap="flat" cmpd="sng" algn="ctr">
                      <a:solidFill>
                        <a:schemeClr val="bg1"/>
                      </a:solidFill>
                      <a:prstDash val="solid"/>
                      <a:round/>
                      <a:headEnd type="none" w="med" len="med"/>
                      <a:tailEnd type="none" w="med" len="med"/>
                    </a:lnR>
                  </a:tcPr>
                </a:tc>
                <a:tc>
                  <a:txBody>
                    <a:bodyPr/>
                    <a:lstStyle/>
                    <a:p>
                      <a:r>
                        <a:rPr lang="en-US" altLang="zh-CN" sz="1400" dirty="0">
                          <a:effectLst/>
                        </a:rPr>
                        <a:t>28</a:t>
                      </a:r>
                    </a:p>
                  </a:txBody>
                  <a:tcPr marL="90653" marR="90653" marT="45326" marB="45326" anchor="ctr">
                    <a:lnL w="28575" cap="flat" cmpd="sng" algn="ctr">
                      <a:solidFill>
                        <a:schemeClr val="bg1"/>
                      </a:solidFill>
                      <a:prstDash val="solid"/>
                      <a:round/>
                      <a:headEnd type="none" w="med" len="med"/>
                      <a:tailEnd type="none" w="med" len="med"/>
                    </a:lnL>
                  </a:tcPr>
                </a:tc>
                <a:tc>
                  <a:txBody>
                    <a:bodyPr/>
                    <a:lstStyle/>
                    <a:p>
                      <a:r>
                        <a:rPr lang="en-US" sz="1400" dirty="0">
                          <a:effectLst/>
                        </a:rPr>
                        <a:t>AAAA</a:t>
                      </a:r>
                    </a:p>
                  </a:txBody>
                  <a:tcPr marL="90653" marR="90653" marT="45326" marB="45326" anchor="ctr"/>
                </a:tc>
                <a:tc>
                  <a:txBody>
                    <a:bodyPr/>
                    <a:lstStyle/>
                    <a:p>
                      <a:r>
                        <a:rPr lang="zh-CN" altLang="en-US" sz="1400" dirty="0">
                          <a:effectLst/>
                        </a:rPr>
                        <a:t>由域名获得</a:t>
                      </a:r>
                      <a:r>
                        <a:rPr lang="en-US" altLang="zh-CN" sz="1400" dirty="0">
                          <a:effectLst/>
                        </a:rPr>
                        <a:t>IPv6</a:t>
                      </a:r>
                      <a:r>
                        <a:rPr lang="zh-CN" altLang="en-US" sz="1400" dirty="0">
                          <a:effectLst/>
                        </a:rPr>
                        <a:t>地址</a:t>
                      </a:r>
                    </a:p>
                  </a:txBody>
                  <a:tcPr marL="90653" marR="90653" marT="45326" marB="45326" anchor="ctr"/>
                </a:tc>
                <a:extLst>
                  <a:ext uri="{0D108BD9-81ED-4DB2-BD59-A6C34878D82A}">
                    <a16:rowId xmlns:a16="http://schemas.microsoft.com/office/drawing/2014/main" val="1837450048"/>
                  </a:ext>
                </a:extLst>
              </a:tr>
              <a:tr h="288000">
                <a:tc>
                  <a:txBody>
                    <a:bodyPr/>
                    <a:lstStyle/>
                    <a:p>
                      <a:r>
                        <a:rPr lang="en-US" altLang="zh-CN" sz="1400">
                          <a:effectLst/>
                        </a:rPr>
                        <a:t>2</a:t>
                      </a:r>
                    </a:p>
                  </a:txBody>
                  <a:tcPr marL="90653" marR="90653" marT="45326" marB="45326" anchor="ctr"/>
                </a:tc>
                <a:tc>
                  <a:txBody>
                    <a:bodyPr/>
                    <a:lstStyle/>
                    <a:p>
                      <a:r>
                        <a:rPr lang="en-US" sz="1400" dirty="0">
                          <a:effectLst/>
                        </a:rPr>
                        <a:t>NS</a:t>
                      </a:r>
                    </a:p>
                  </a:txBody>
                  <a:tcPr marL="90653" marR="90653" marT="45326" marB="45326" anchor="ctr"/>
                </a:tc>
                <a:tc>
                  <a:txBody>
                    <a:bodyPr/>
                    <a:lstStyle/>
                    <a:p>
                      <a:r>
                        <a:rPr lang="zh-CN" altLang="en-US" sz="1400" dirty="0">
                          <a:effectLst/>
                        </a:rPr>
                        <a:t>查询域名服务器</a:t>
                      </a:r>
                    </a:p>
                  </a:txBody>
                  <a:tcPr marL="90653" marR="90653" marT="45326" marB="45326" anchor="ctr">
                    <a:lnR w="28575" cap="flat" cmpd="sng" algn="ctr">
                      <a:solidFill>
                        <a:schemeClr val="bg1"/>
                      </a:solidFill>
                      <a:prstDash val="solid"/>
                      <a:round/>
                      <a:headEnd type="none" w="med" len="med"/>
                      <a:tailEnd type="none" w="med" len="med"/>
                    </a:lnR>
                  </a:tcPr>
                </a:tc>
                <a:tc>
                  <a:txBody>
                    <a:bodyPr/>
                    <a:lstStyle/>
                    <a:p>
                      <a:r>
                        <a:rPr lang="en-US" altLang="zh-CN" sz="1400" dirty="0">
                          <a:effectLst/>
                        </a:rPr>
                        <a:t>12</a:t>
                      </a:r>
                    </a:p>
                  </a:txBody>
                  <a:tcPr marL="90653" marR="90653" marT="45326" marB="45326" anchor="ctr">
                    <a:lnL w="28575" cap="flat" cmpd="sng" algn="ctr">
                      <a:solidFill>
                        <a:schemeClr val="bg1"/>
                      </a:solidFill>
                      <a:prstDash val="solid"/>
                      <a:round/>
                      <a:headEnd type="none" w="med" len="med"/>
                      <a:tailEnd type="none" w="med" len="med"/>
                    </a:lnL>
                  </a:tcPr>
                </a:tc>
                <a:tc>
                  <a:txBody>
                    <a:bodyPr/>
                    <a:lstStyle/>
                    <a:p>
                      <a:r>
                        <a:rPr lang="en-US" sz="1400">
                          <a:effectLst/>
                        </a:rPr>
                        <a:t>PTR</a:t>
                      </a:r>
                    </a:p>
                  </a:txBody>
                  <a:tcPr marL="90653" marR="90653" marT="45326" marB="45326" anchor="ctr"/>
                </a:tc>
                <a:tc>
                  <a:txBody>
                    <a:bodyPr/>
                    <a:lstStyle/>
                    <a:p>
                      <a:r>
                        <a:rPr lang="zh-CN" altLang="en-US" sz="1400" dirty="0">
                          <a:effectLst/>
                        </a:rPr>
                        <a:t>把</a:t>
                      </a:r>
                      <a:r>
                        <a:rPr lang="en-US" altLang="zh-CN" sz="1400" dirty="0">
                          <a:effectLst/>
                        </a:rPr>
                        <a:t>IP</a:t>
                      </a:r>
                      <a:r>
                        <a:rPr lang="zh-CN" altLang="en-US" sz="1400" dirty="0">
                          <a:effectLst/>
                        </a:rPr>
                        <a:t>地址转换成域名</a:t>
                      </a:r>
                    </a:p>
                  </a:txBody>
                  <a:tcPr marL="90653" marR="90653" marT="45326" marB="45326" anchor="ctr">
                    <a:lnR w="28575" cap="flat" cmpd="sng" algn="ctr">
                      <a:solidFill>
                        <a:schemeClr val="bg1"/>
                      </a:solidFill>
                      <a:prstDash val="solid"/>
                      <a:round/>
                      <a:headEnd type="none" w="med" len="med"/>
                      <a:tailEnd type="none" w="med" len="med"/>
                    </a:lnR>
                  </a:tcPr>
                </a:tc>
                <a:tc>
                  <a:txBody>
                    <a:bodyPr/>
                    <a:lstStyle/>
                    <a:p>
                      <a:r>
                        <a:rPr lang="en-US" altLang="zh-CN" sz="1400" dirty="0">
                          <a:effectLst/>
                        </a:rPr>
                        <a:t>252</a:t>
                      </a:r>
                    </a:p>
                  </a:txBody>
                  <a:tcPr marL="90653" marR="90653" marT="45326" marB="45326" anchor="ctr">
                    <a:lnL w="28575" cap="flat" cmpd="sng" algn="ctr">
                      <a:solidFill>
                        <a:schemeClr val="bg1"/>
                      </a:solidFill>
                      <a:prstDash val="solid"/>
                      <a:round/>
                      <a:headEnd type="none" w="med" len="med"/>
                      <a:tailEnd type="none" w="med" len="med"/>
                    </a:lnL>
                  </a:tcPr>
                </a:tc>
                <a:tc>
                  <a:txBody>
                    <a:bodyPr/>
                    <a:lstStyle/>
                    <a:p>
                      <a:r>
                        <a:rPr lang="en-US" sz="1400" dirty="0">
                          <a:effectLst/>
                        </a:rPr>
                        <a:t>AXFR</a:t>
                      </a:r>
                    </a:p>
                  </a:txBody>
                  <a:tcPr marL="90653" marR="90653" marT="45326" marB="45326" anchor="ctr"/>
                </a:tc>
                <a:tc>
                  <a:txBody>
                    <a:bodyPr/>
                    <a:lstStyle/>
                    <a:p>
                      <a:r>
                        <a:rPr lang="zh-CN" altLang="en-US" sz="1400" dirty="0">
                          <a:effectLst/>
                        </a:rPr>
                        <a:t>传送整个区的请求</a:t>
                      </a:r>
                    </a:p>
                  </a:txBody>
                  <a:tcPr marL="90653" marR="90653" marT="45326" marB="45326" anchor="ctr"/>
                </a:tc>
                <a:extLst>
                  <a:ext uri="{0D108BD9-81ED-4DB2-BD59-A6C34878D82A}">
                    <a16:rowId xmlns:a16="http://schemas.microsoft.com/office/drawing/2014/main" val="539788952"/>
                  </a:ext>
                </a:extLst>
              </a:tr>
              <a:tr h="288000">
                <a:tc>
                  <a:txBody>
                    <a:bodyPr/>
                    <a:lstStyle/>
                    <a:p>
                      <a:r>
                        <a:rPr lang="en-US" altLang="zh-CN" sz="1400">
                          <a:effectLst/>
                        </a:rPr>
                        <a:t>5</a:t>
                      </a:r>
                    </a:p>
                  </a:txBody>
                  <a:tcPr marL="90653" marR="90653" marT="45326" marB="45326" anchor="ctr"/>
                </a:tc>
                <a:tc>
                  <a:txBody>
                    <a:bodyPr/>
                    <a:lstStyle/>
                    <a:p>
                      <a:r>
                        <a:rPr lang="en-US" sz="1400" dirty="0">
                          <a:effectLst/>
                        </a:rPr>
                        <a:t>CNAME</a:t>
                      </a:r>
                    </a:p>
                  </a:txBody>
                  <a:tcPr marL="90653" marR="90653" marT="45326" marB="45326" anchor="ctr"/>
                </a:tc>
                <a:tc>
                  <a:txBody>
                    <a:bodyPr/>
                    <a:lstStyle/>
                    <a:p>
                      <a:r>
                        <a:rPr lang="zh-CN" altLang="en-US" sz="1400" dirty="0">
                          <a:effectLst/>
                        </a:rPr>
                        <a:t>查询规范名称</a:t>
                      </a:r>
                    </a:p>
                  </a:txBody>
                  <a:tcPr marL="90653" marR="90653" marT="45326" marB="45326" anchor="ctr">
                    <a:lnR w="28575" cap="flat" cmpd="sng" algn="ctr">
                      <a:solidFill>
                        <a:schemeClr val="bg1"/>
                      </a:solidFill>
                      <a:prstDash val="solid"/>
                      <a:round/>
                      <a:headEnd type="none" w="med" len="med"/>
                      <a:tailEnd type="none" w="med" len="med"/>
                    </a:lnR>
                  </a:tcPr>
                </a:tc>
                <a:tc>
                  <a:txBody>
                    <a:bodyPr/>
                    <a:lstStyle/>
                    <a:p>
                      <a:r>
                        <a:rPr lang="en-US" altLang="zh-CN" sz="1400" dirty="0">
                          <a:effectLst/>
                        </a:rPr>
                        <a:t>13</a:t>
                      </a:r>
                    </a:p>
                  </a:txBody>
                  <a:tcPr marL="90653" marR="90653" marT="45326" marB="45326" anchor="ctr">
                    <a:lnL w="28575" cap="flat" cmpd="sng" algn="ctr">
                      <a:solidFill>
                        <a:schemeClr val="bg1"/>
                      </a:solidFill>
                      <a:prstDash val="solid"/>
                      <a:round/>
                      <a:headEnd type="none" w="med" len="med"/>
                      <a:tailEnd type="none" w="med" len="med"/>
                    </a:lnL>
                  </a:tcPr>
                </a:tc>
                <a:tc>
                  <a:txBody>
                    <a:bodyPr/>
                    <a:lstStyle/>
                    <a:p>
                      <a:r>
                        <a:rPr lang="en-US" sz="1400" dirty="0">
                          <a:effectLst/>
                        </a:rPr>
                        <a:t>HINFO</a:t>
                      </a:r>
                    </a:p>
                  </a:txBody>
                  <a:tcPr marL="90653" marR="90653" marT="45326" marB="45326" anchor="ctr"/>
                </a:tc>
                <a:tc>
                  <a:txBody>
                    <a:bodyPr/>
                    <a:lstStyle/>
                    <a:p>
                      <a:r>
                        <a:rPr lang="zh-CN" altLang="en-US" sz="1400" dirty="0">
                          <a:effectLst/>
                        </a:rPr>
                        <a:t>主机信息</a:t>
                      </a:r>
                    </a:p>
                  </a:txBody>
                  <a:tcPr marL="90653" marR="90653" marT="45326" marB="45326" anchor="ctr">
                    <a:lnR w="28575" cap="flat" cmpd="sng" algn="ctr">
                      <a:solidFill>
                        <a:schemeClr val="bg1"/>
                      </a:solidFill>
                      <a:prstDash val="solid"/>
                      <a:round/>
                      <a:headEnd type="none" w="med" len="med"/>
                      <a:tailEnd type="none" w="med" len="med"/>
                    </a:lnR>
                  </a:tcPr>
                </a:tc>
                <a:tc>
                  <a:txBody>
                    <a:bodyPr/>
                    <a:lstStyle/>
                    <a:p>
                      <a:r>
                        <a:rPr lang="en-US" altLang="zh-CN" sz="1400" dirty="0">
                          <a:effectLst/>
                        </a:rPr>
                        <a:t>255</a:t>
                      </a:r>
                    </a:p>
                  </a:txBody>
                  <a:tcPr marL="90653" marR="90653" marT="45326" marB="45326" anchor="ctr">
                    <a:lnL w="28575" cap="flat" cmpd="sng" algn="ctr">
                      <a:solidFill>
                        <a:schemeClr val="bg1"/>
                      </a:solidFill>
                      <a:prstDash val="solid"/>
                      <a:round/>
                      <a:headEnd type="none" w="med" len="med"/>
                      <a:tailEnd type="none" w="med" len="med"/>
                    </a:lnL>
                  </a:tcPr>
                </a:tc>
                <a:tc>
                  <a:txBody>
                    <a:bodyPr/>
                    <a:lstStyle/>
                    <a:p>
                      <a:r>
                        <a:rPr lang="en-US" sz="1400" dirty="0">
                          <a:effectLst/>
                        </a:rPr>
                        <a:t>ANY</a:t>
                      </a:r>
                    </a:p>
                  </a:txBody>
                  <a:tcPr marL="90653" marR="90653" marT="45326" marB="45326" anchor="ctr"/>
                </a:tc>
                <a:tc>
                  <a:txBody>
                    <a:bodyPr/>
                    <a:lstStyle/>
                    <a:p>
                      <a:r>
                        <a:rPr lang="zh-CN" altLang="en-US" sz="1400" dirty="0">
                          <a:effectLst/>
                        </a:rPr>
                        <a:t>对所有记录的请求</a:t>
                      </a:r>
                    </a:p>
                  </a:txBody>
                  <a:tcPr marL="90653" marR="90653" marT="45326" marB="45326" anchor="ctr"/>
                </a:tc>
                <a:extLst>
                  <a:ext uri="{0D108BD9-81ED-4DB2-BD59-A6C34878D82A}">
                    <a16:rowId xmlns:a16="http://schemas.microsoft.com/office/drawing/2014/main" val="2923623523"/>
                  </a:ext>
                </a:extLst>
              </a:tr>
              <a:tr h="288000">
                <a:tc>
                  <a:txBody>
                    <a:bodyPr/>
                    <a:lstStyle/>
                    <a:p>
                      <a:r>
                        <a:rPr lang="en-US" altLang="zh-CN" sz="1400" dirty="0">
                          <a:effectLst/>
                        </a:rPr>
                        <a:t>6</a:t>
                      </a:r>
                    </a:p>
                  </a:txBody>
                  <a:tcPr marL="90653" marR="90653" marT="45326" marB="45326" anchor="ctr"/>
                </a:tc>
                <a:tc>
                  <a:txBody>
                    <a:bodyPr/>
                    <a:lstStyle/>
                    <a:p>
                      <a:r>
                        <a:rPr lang="en-US" sz="1400" dirty="0">
                          <a:effectLst/>
                        </a:rPr>
                        <a:t>SOA</a:t>
                      </a:r>
                    </a:p>
                  </a:txBody>
                  <a:tcPr marL="90653" marR="90653" marT="45326" marB="45326" anchor="ctr"/>
                </a:tc>
                <a:tc>
                  <a:txBody>
                    <a:bodyPr/>
                    <a:lstStyle/>
                    <a:p>
                      <a:r>
                        <a:rPr lang="zh-CN" altLang="en-US" sz="1400" dirty="0">
                          <a:effectLst/>
                        </a:rPr>
                        <a:t>开始授权</a:t>
                      </a:r>
                    </a:p>
                  </a:txBody>
                  <a:tcPr marL="90653" marR="90653" marT="45326" marB="45326" anchor="ctr">
                    <a:lnR w="28575" cap="flat" cmpd="sng" algn="ctr">
                      <a:solidFill>
                        <a:schemeClr val="bg1"/>
                      </a:solidFill>
                      <a:prstDash val="solid"/>
                      <a:round/>
                      <a:headEnd type="none" w="med" len="med"/>
                      <a:tailEnd type="none" w="med" len="med"/>
                    </a:lnR>
                  </a:tcPr>
                </a:tc>
                <a:tc>
                  <a:txBody>
                    <a:bodyPr/>
                    <a:lstStyle/>
                    <a:p>
                      <a:r>
                        <a:rPr lang="en-US" altLang="zh-CN" sz="1400" dirty="0">
                          <a:effectLst/>
                        </a:rPr>
                        <a:t>15</a:t>
                      </a:r>
                    </a:p>
                  </a:txBody>
                  <a:tcPr marL="90653" marR="90653" marT="45326" marB="45326" anchor="ctr">
                    <a:lnL w="28575" cap="flat" cmpd="sng" algn="ctr">
                      <a:solidFill>
                        <a:schemeClr val="bg1"/>
                      </a:solidFill>
                      <a:prstDash val="solid"/>
                      <a:round/>
                      <a:headEnd type="none" w="med" len="med"/>
                      <a:tailEnd type="none" w="med" len="med"/>
                    </a:lnL>
                  </a:tcPr>
                </a:tc>
                <a:tc>
                  <a:txBody>
                    <a:bodyPr/>
                    <a:lstStyle/>
                    <a:p>
                      <a:r>
                        <a:rPr lang="en-US" sz="1400" dirty="0">
                          <a:effectLst/>
                        </a:rPr>
                        <a:t>MX</a:t>
                      </a:r>
                    </a:p>
                  </a:txBody>
                  <a:tcPr marL="90653" marR="90653" marT="45326" marB="45326" anchor="ctr"/>
                </a:tc>
                <a:tc>
                  <a:txBody>
                    <a:bodyPr/>
                    <a:lstStyle/>
                    <a:p>
                      <a:r>
                        <a:rPr lang="zh-CN" altLang="en-US" sz="1400" dirty="0">
                          <a:effectLst/>
                        </a:rPr>
                        <a:t>邮件交换</a:t>
                      </a:r>
                    </a:p>
                  </a:txBody>
                  <a:tcPr marL="90653" marR="90653" marT="45326" marB="45326" anchor="ctr">
                    <a:lnR w="28575" cap="flat" cmpd="sng" algn="ctr">
                      <a:solidFill>
                        <a:schemeClr val="bg1"/>
                      </a:solidFill>
                      <a:prstDash val="solid"/>
                      <a:round/>
                      <a:headEnd type="none" w="med" len="med"/>
                      <a:tailEnd type="none" w="med" len="med"/>
                    </a:lnR>
                  </a:tcPr>
                </a:tc>
                <a:tc>
                  <a:txBody>
                    <a:bodyPr/>
                    <a:lstStyle/>
                    <a:p>
                      <a:endParaRPr lang="zh-CN" altLang="en-US"/>
                    </a:p>
                  </a:txBody>
                  <a:tcPr marL="90653" marR="90653" marT="45326" marB="45326" anchor="ctr">
                    <a:lnL w="28575" cap="flat" cmpd="sng" algn="ctr">
                      <a:solidFill>
                        <a:schemeClr val="bg1"/>
                      </a:solidFill>
                      <a:prstDash val="solid"/>
                      <a:round/>
                      <a:headEnd type="none" w="med" len="med"/>
                      <a:tailEnd type="none" w="med" len="med"/>
                    </a:lnL>
                  </a:tcPr>
                </a:tc>
                <a:tc>
                  <a:txBody>
                    <a:bodyPr/>
                    <a:lstStyle/>
                    <a:p>
                      <a:endParaRPr lang="zh-CN" altLang="en-US"/>
                    </a:p>
                  </a:txBody>
                  <a:tcPr marL="90653" marR="90653" marT="45326" marB="45326" anchor="ctr"/>
                </a:tc>
                <a:tc>
                  <a:txBody>
                    <a:bodyPr/>
                    <a:lstStyle/>
                    <a:p>
                      <a:endParaRPr lang="zh-CN" altLang="en-US" dirty="0"/>
                    </a:p>
                  </a:txBody>
                  <a:tcPr marL="90653" marR="90653" marT="45326" marB="45326" anchor="ctr"/>
                </a:tc>
                <a:extLst>
                  <a:ext uri="{0D108BD9-81ED-4DB2-BD59-A6C34878D82A}">
                    <a16:rowId xmlns:a16="http://schemas.microsoft.com/office/drawing/2014/main" val="3570095125"/>
                  </a:ext>
                </a:extLst>
              </a:tr>
            </a:tbl>
          </a:graphicData>
        </a:graphic>
      </p:graphicFrame>
      <p:sp>
        <p:nvSpPr>
          <p:cNvPr id="10" name="Rectangle 9"/>
          <p:cNvSpPr/>
          <p:nvPr/>
        </p:nvSpPr>
        <p:spPr>
          <a:xfrm>
            <a:off x="3210382" y="1102996"/>
            <a:ext cx="5704840" cy="35514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652559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608520" y="1273628"/>
            <a:ext cx="10908565" cy="4976701"/>
          </a:xfrm>
        </p:spPr>
        <p:txBody>
          <a:bodyPr>
            <a:normAutofit/>
          </a:bodyPr>
          <a:lstStyle/>
          <a:p>
            <a:r>
              <a:rPr lang="zh-CN" altLang="en-US" sz="1800" b="1" dirty="0" smtClean="0"/>
              <a:t>报文格式</a:t>
            </a:r>
            <a:endParaRPr lang="en-US" altLang="zh-CN" sz="1800" b="1" dirty="0" smtClean="0"/>
          </a:p>
          <a:p>
            <a:r>
              <a:rPr lang="zh-CN" altLang="en-US" sz="1800" dirty="0"/>
              <a:t>正</a:t>
            </a:r>
            <a:r>
              <a:rPr lang="zh-CN" altLang="en-US" sz="1800" dirty="0" smtClean="0"/>
              <a:t>文</a:t>
            </a:r>
            <a:endParaRPr lang="en-US" altLang="zh-CN" sz="1800" dirty="0" smtClean="0"/>
          </a:p>
          <a:p>
            <a:endParaRPr lang="en-US" altLang="zh-CN" sz="1800" dirty="0"/>
          </a:p>
          <a:p>
            <a:r>
              <a:rPr lang="zh-CN" altLang="en-US" sz="1400" dirty="0" smtClean="0"/>
              <a:t>资</a:t>
            </a:r>
            <a:r>
              <a:rPr lang="zh-CN" altLang="en-US" sz="1400" dirty="0"/>
              <a:t>源区：该区域有三个，但格式都是一样的。这三个区域分别是：回答区域，授权区域和附加区域</a:t>
            </a:r>
            <a:endParaRPr lang="en-US" altLang="zh-CN" sz="1400" dirty="0" smtClean="0"/>
          </a:p>
          <a:p>
            <a:endParaRPr lang="en-US" altLang="zh-CN" sz="1400" dirty="0"/>
          </a:p>
          <a:p>
            <a:endParaRPr lang="en-US" altLang="zh-CN" sz="1400" dirty="0" smtClean="0"/>
          </a:p>
          <a:p>
            <a:endParaRPr lang="en-US" altLang="zh-CN" sz="1400" dirty="0" smtClean="0"/>
          </a:p>
          <a:p>
            <a:endParaRPr lang="en-US" altLang="zh-CN" sz="1400" dirty="0" smtClean="0"/>
          </a:p>
          <a:p>
            <a:endParaRPr lang="en-US" altLang="zh-CN" sz="1400" dirty="0"/>
          </a:p>
          <a:p>
            <a:endParaRPr lang="en-US" altLang="zh-CN" sz="1400" dirty="0"/>
          </a:p>
          <a:p>
            <a:r>
              <a:rPr lang="en-US" altLang="zh-CN" sz="1200" dirty="0" smtClean="0"/>
              <a:t>Name: </a:t>
            </a:r>
            <a:r>
              <a:rPr lang="zh-CN" altLang="en-US" sz="1200" dirty="0" smtClean="0"/>
              <a:t>它</a:t>
            </a:r>
            <a:r>
              <a:rPr lang="zh-CN" altLang="en-US" sz="1200" dirty="0"/>
              <a:t>的格式和</a:t>
            </a:r>
            <a:r>
              <a:rPr lang="en-US" altLang="zh-CN" sz="1200" dirty="0"/>
              <a:t>Queries</a:t>
            </a:r>
            <a:r>
              <a:rPr lang="zh-CN" altLang="en-US" sz="1200" dirty="0"/>
              <a:t>区域的查询名字字段是一样的。有一点不同就是，当报文中域名重复出现的时候，该字段使用</a:t>
            </a:r>
            <a:r>
              <a:rPr lang="en-US" altLang="zh-CN" sz="1200" dirty="0"/>
              <a:t>2</a:t>
            </a:r>
            <a:r>
              <a:rPr lang="zh-CN" altLang="en-US" sz="1200" dirty="0"/>
              <a:t>个字节的偏移指针来表示</a:t>
            </a:r>
            <a:r>
              <a:rPr lang="zh-CN" altLang="en-US" sz="1200" dirty="0" smtClean="0"/>
              <a:t>。</a:t>
            </a:r>
            <a:endParaRPr lang="en-US" altLang="zh-CN" sz="1200" dirty="0" smtClean="0"/>
          </a:p>
          <a:p>
            <a:r>
              <a:rPr lang="en-US" altLang="zh-CN" sz="1200" dirty="0" smtClean="0"/>
              <a:t>Type: </a:t>
            </a:r>
            <a:r>
              <a:rPr lang="zh-CN" altLang="en-US" sz="1200" dirty="0" smtClean="0"/>
              <a:t>表</a:t>
            </a:r>
            <a:r>
              <a:rPr lang="zh-CN" altLang="en-US" sz="1200" dirty="0"/>
              <a:t>明资源纪录的类型</a:t>
            </a:r>
            <a:endParaRPr lang="en-US" altLang="zh-CN" sz="1200" dirty="0"/>
          </a:p>
          <a:p>
            <a:r>
              <a:rPr lang="en-US" altLang="zh-CN" sz="1200" dirty="0" smtClean="0"/>
              <a:t>Class: </a:t>
            </a:r>
            <a:r>
              <a:rPr lang="zh-CN" altLang="en-US" sz="1200" dirty="0" smtClean="0"/>
              <a:t>通常为</a:t>
            </a:r>
            <a:r>
              <a:rPr lang="en-US" altLang="zh-CN" sz="1200" dirty="0" smtClean="0"/>
              <a:t>1</a:t>
            </a:r>
            <a:r>
              <a:rPr lang="zh-CN" altLang="en-US" sz="1200" dirty="0" smtClean="0"/>
              <a:t>，表示是</a:t>
            </a:r>
            <a:r>
              <a:rPr lang="en-US" altLang="zh-CN" sz="1200" dirty="0" smtClean="0"/>
              <a:t>INTERNET</a:t>
            </a:r>
            <a:r>
              <a:rPr lang="zh-CN" altLang="en-US" sz="1200" dirty="0" smtClean="0"/>
              <a:t>数据</a:t>
            </a:r>
            <a:endParaRPr lang="en-US" altLang="zh-CN" sz="1200" dirty="0" smtClean="0"/>
          </a:p>
        </p:txBody>
      </p:sp>
      <p:sp>
        <p:nvSpPr>
          <p:cNvPr id="3" name="标题 2"/>
          <p:cNvSpPr>
            <a:spLocks noGrp="1"/>
          </p:cNvSpPr>
          <p:nvPr>
            <p:ph type="title"/>
          </p:nvPr>
        </p:nvSpPr>
        <p:spPr/>
        <p:txBody>
          <a:bodyPr/>
          <a:lstStyle/>
          <a:p>
            <a:r>
              <a:rPr lang="zh-CN" altLang="en-US" dirty="0" smtClean="0"/>
              <a:t>工作过程</a:t>
            </a:r>
            <a:endParaRPr lang="zh-CN" altLang="en-US" dirty="0"/>
          </a:p>
        </p:txBody>
      </p:sp>
      <p:sp>
        <p:nvSpPr>
          <p:cNvPr id="4" name="内容占位符 3"/>
          <p:cNvSpPr>
            <a:spLocks noGrp="1"/>
          </p:cNvSpPr>
          <p:nvPr>
            <p:ph sz="half" idx="10"/>
          </p:nvPr>
        </p:nvSpPr>
        <p:spPr/>
        <p:txBody>
          <a:bodyPr/>
          <a:lstStyle/>
          <a:p>
            <a:r>
              <a:rPr lang="en-US" altLang="zh-CN" dirty="0" smtClean="0"/>
              <a:t>Working Procedure</a:t>
            </a:r>
            <a:endParaRPr lang="zh-CN" altLang="en-US"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13079" t="44859" r="17607" b="17719"/>
          <a:stretch/>
        </p:blipFill>
        <p:spPr>
          <a:xfrm>
            <a:off x="3210382" y="1102996"/>
            <a:ext cx="5704840" cy="1436140"/>
          </a:xfrm>
          <a:prstGeom prst="rect">
            <a:avLst/>
          </a:prstGeom>
        </p:spPr>
      </p:pic>
      <p:sp>
        <p:nvSpPr>
          <p:cNvPr id="10" name="Rectangle 9"/>
          <p:cNvSpPr/>
          <p:nvPr/>
        </p:nvSpPr>
        <p:spPr>
          <a:xfrm>
            <a:off x="3210382" y="1453401"/>
            <a:ext cx="5704840" cy="104129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l="13532" t="20130" r="11678" b="19267"/>
          <a:stretch/>
        </p:blipFill>
        <p:spPr>
          <a:xfrm>
            <a:off x="3182802" y="2790543"/>
            <a:ext cx="5760000" cy="2108572"/>
          </a:xfrm>
          <a:prstGeom prst="rect">
            <a:avLst/>
          </a:prstGeom>
        </p:spPr>
      </p:pic>
    </p:spTree>
    <p:extLst>
      <p:ext uri="{BB962C8B-B14F-4D97-AF65-F5344CB8AC3E}">
        <p14:creationId xmlns:p14="http://schemas.microsoft.com/office/powerpoint/2010/main" val="236197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1800" b="1" dirty="0" smtClean="0"/>
              <a:t>报文格式</a:t>
            </a:r>
            <a:endParaRPr lang="en-US" altLang="zh-CN" sz="1800" b="1" dirty="0" smtClean="0"/>
          </a:p>
          <a:p>
            <a:r>
              <a:rPr lang="zh-CN" altLang="en-US" sz="1800" dirty="0"/>
              <a:t>正</a:t>
            </a:r>
            <a:r>
              <a:rPr lang="zh-CN" altLang="en-US" sz="1800" dirty="0" smtClean="0"/>
              <a:t>文</a:t>
            </a:r>
            <a:endParaRPr lang="en-US" altLang="zh-CN" sz="1800" dirty="0" smtClean="0"/>
          </a:p>
          <a:p>
            <a:endParaRPr lang="en-US" altLang="zh-CN" sz="1800" dirty="0"/>
          </a:p>
          <a:p>
            <a:r>
              <a:rPr lang="zh-CN" altLang="en-US" sz="1400" dirty="0" smtClean="0"/>
              <a:t>资</a:t>
            </a:r>
            <a:r>
              <a:rPr lang="zh-CN" altLang="en-US" sz="1400" dirty="0"/>
              <a:t>源区：该区域有三个，但格式都是一样的。这三个区域分别是：回答区域，授权区域和附加区域</a:t>
            </a:r>
            <a:endParaRPr lang="en-US" altLang="zh-CN" sz="1400" dirty="0" smtClean="0"/>
          </a:p>
          <a:p>
            <a:endParaRPr lang="en-US" altLang="zh-CN" sz="1400" dirty="0" smtClean="0"/>
          </a:p>
          <a:p>
            <a:endParaRPr lang="en-US" altLang="zh-CN" sz="1400" dirty="0" smtClean="0"/>
          </a:p>
          <a:p>
            <a:endParaRPr lang="en-US" altLang="zh-CN" sz="1400" dirty="0"/>
          </a:p>
          <a:p>
            <a:endParaRPr lang="en-US" altLang="zh-CN" sz="1400" dirty="0" smtClean="0"/>
          </a:p>
          <a:p>
            <a:endParaRPr lang="en-US" altLang="zh-CN" sz="1400" dirty="0"/>
          </a:p>
          <a:p>
            <a:endParaRPr lang="en-US" altLang="zh-CN" sz="1200" dirty="0" smtClean="0"/>
          </a:p>
          <a:p>
            <a:r>
              <a:rPr lang="en-US" altLang="zh-CN" sz="1200" dirty="0" smtClean="0"/>
              <a:t>TTL: </a:t>
            </a:r>
            <a:r>
              <a:rPr lang="zh-CN" altLang="en-US" sz="1200" dirty="0" smtClean="0"/>
              <a:t>以</a:t>
            </a:r>
            <a:r>
              <a:rPr lang="zh-CN" altLang="en-US" sz="1200" dirty="0"/>
              <a:t>秒为单位，表示的是资源记录的生命周期，一般用于当地址解析程序取出资源记录后决定保存及使用缓存数据的时间，它同时也可以表明该资源记录的稳定程度，极为稳定的信息会被分配一个很大的</a:t>
            </a:r>
            <a:r>
              <a:rPr lang="zh-CN" altLang="en-US" sz="1200" dirty="0" smtClean="0"/>
              <a:t>值</a:t>
            </a:r>
            <a:endParaRPr lang="en-US" altLang="zh-CN" sz="1200" dirty="0" smtClean="0"/>
          </a:p>
          <a:p>
            <a:r>
              <a:rPr lang="en-US" altLang="zh-CN" sz="1200" dirty="0" smtClean="0"/>
              <a:t>Data:</a:t>
            </a:r>
            <a:r>
              <a:rPr lang="zh-CN" altLang="en-US" sz="1200" dirty="0"/>
              <a:t>该字段是一个可变长字段，表示按照查询段的要求返回的相关资源记录的数据。可以是</a:t>
            </a:r>
            <a:r>
              <a:rPr lang="en-US" altLang="zh-CN" sz="1200" dirty="0"/>
              <a:t>Address</a:t>
            </a:r>
            <a:r>
              <a:rPr lang="zh-CN" altLang="en-US" sz="1200" dirty="0"/>
              <a:t>（表明查询报文想要的回应是一个</a:t>
            </a:r>
            <a:r>
              <a:rPr lang="en-US" altLang="zh-CN" sz="1200" dirty="0"/>
              <a:t>IP</a:t>
            </a:r>
            <a:r>
              <a:rPr lang="zh-CN" altLang="en-US" sz="1200" dirty="0"/>
              <a:t>地址）或者</a:t>
            </a:r>
            <a:r>
              <a:rPr lang="en-US" altLang="zh-CN" sz="1200" dirty="0"/>
              <a:t>CNAME</a:t>
            </a:r>
            <a:r>
              <a:rPr lang="zh-CN" altLang="en-US" sz="1200" dirty="0"/>
              <a:t>（表明查询报文想要的回应是一个规范主机名）等。</a:t>
            </a:r>
          </a:p>
        </p:txBody>
      </p:sp>
      <p:sp>
        <p:nvSpPr>
          <p:cNvPr id="3" name="标题 2"/>
          <p:cNvSpPr>
            <a:spLocks noGrp="1"/>
          </p:cNvSpPr>
          <p:nvPr>
            <p:ph type="title"/>
          </p:nvPr>
        </p:nvSpPr>
        <p:spPr/>
        <p:txBody>
          <a:bodyPr/>
          <a:lstStyle/>
          <a:p>
            <a:r>
              <a:rPr lang="zh-CN" altLang="en-US" dirty="0" smtClean="0"/>
              <a:t>工作过程</a:t>
            </a:r>
            <a:endParaRPr lang="zh-CN" altLang="en-US" dirty="0"/>
          </a:p>
        </p:txBody>
      </p:sp>
      <p:sp>
        <p:nvSpPr>
          <p:cNvPr id="4" name="内容占位符 3"/>
          <p:cNvSpPr>
            <a:spLocks noGrp="1"/>
          </p:cNvSpPr>
          <p:nvPr>
            <p:ph sz="half" idx="10"/>
          </p:nvPr>
        </p:nvSpPr>
        <p:spPr/>
        <p:txBody>
          <a:bodyPr/>
          <a:lstStyle/>
          <a:p>
            <a:r>
              <a:rPr lang="en-US" altLang="zh-CN" dirty="0" smtClean="0"/>
              <a:t>Working Procedure</a:t>
            </a:r>
            <a:endParaRPr lang="zh-CN" altLang="en-US"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13079" t="44859" r="17607" b="17719"/>
          <a:stretch/>
        </p:blipFill>
        <p:spPr>
          <a:xfrm>
            <a:off x="3210382" y="1102996"/>
            <a:ext cx="5704840" cy="1436140"/>
          </a:xfrm>
          <a:prstGeom prst="rect">
            <a:avLst/>
          </a:prstGeom>
        </p:spPr>
      </p:pic>
      <p:sp>
        <p:nvSpPr>
          <p:cNvPr id="10" name="Rectangle 9"/>
          <p:cNvSpPr/>
          <p:nvPr/>
        </p:nvSpPr>
        <p:spPr>
          <a:xfrm>
            <a:off x="3210382" y="1453401"/>
            <a:ext cx="5704840" cy="104129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l="13532" t="20130" r="11678" b="19267"/>
          <a:stretch/>
        </p:blipFill>
        <p:spPr>
          <a:xfrm>
            <a:off x="3155222" y="2742059"/>
            <a:ext cx="5760000" cy="2108572"/>
          </a:xfrm>
          <a:prstGeom prst="rect">
            <a:avLst/>
          </a:prstGeom>
        </p:spPr>
      </p:pic>
    </p:spTree>
    <p:extLst>
      <p:ext uri="{BB962C8B-B14F-4D97-AF65-F5344CB8AC3E}">
        <p14:creationId xmlns:p14="http://schemas.microsoft.com/office/powerpoint/2010/main" val="37043175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抓包分析</a:t>
            </a:r>
            <a:endParaRPr lang="zh-CN" altLang="en-US" dirty="0"/>
          </a:p>
        </p:txBody>
      </p:sp>
      <p:sp>
        <p:nvSpPr>
          <p:cNvPr id="3" name="副标题 2"/>
          <p:cNvSpPr>
            <a:spLocks noGrp="1"/>
          </p:cNvSpPr>
          <p:nvPr>
            <p:ph type="subTitle" idx="1"/>
          </p:nvPr>
        </p:nvSpPr>
        <p:spPr/>
        <p:txBody>
          <a:bodyPr/>
          <a:lstStyle/>
          <a:p>
            <a:r>
              <a:rPr lang="en-US" altLang="zh-CN" dirty="0" smtClean="0"/>
              <a:t>Capture Analyzation</a:t>
            </a:r>
            <a:endParaRPr lang="zh-CN" altLang="en-US" dirty="0"/>
          </a:p>
        </p:txBody>
      </p:sp>
    </p:spTree>
    <p:extLst>
      <p:ext uri="{BB962C8B-B14F-4D97-AF65-F5344CB8AC3E}">
        <p14:creationId xmlns:p14="http://schemas.microsoft.com/office/powerpoint/2010/main" val="4958155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1800" b="1" dirty="0" smtClean="0"/>
              <a:t>抓包工具</a:t>
            </a:r>
            <a:endParaRPr lang="en-US" altLang="zh-CN" sz="1800" b="1" dirty="0" smtClean="0"/>
          </a:p>
          <a:p>
            <a:r>
              <a:rPr lang="en-US" altLang="zh-CN" sz="1800" dirty="0" smtClean="0"/>
              <a:t>Wireshark</a:t>
            </a:r>
          </a:p>
          <a:p>
            <a:endParaRPr lang="en-US" altLang="zh-CN" sz="1800" b="1" dirty="0"/>
          </a:p>
          <a:p>
            <a:r>
              <a:rPr lang="zh-CN" altLang="en-US" sz="1800" b="1" dirty="0" smtClean="0"/>
              <a:t>抓包背景</a:t>
            </a:r>
            <a:endParaRPr lang="en-US" altLang="zh-CN" sz="1800" b="1" dirty="0" smtClean="0"/>
          </a:p>
          <a:p>
            <a:r>
              <a:rPr lang="zh-CN" altLang="en-US" sz="1800" dirty="0" smtClean="0"/>
              <a:t>在</a:t>
            </a:r>
            <a:r>
              <a:rPr lang="en-US" altLang="zh-CN" sz="1800" dirty="0" err="1" smtClean="0"/>
              <a:t>cmd</a:t>
            </a:r>
            <a:r>
              <a:rPr lang="en-US" altLang="zh-CN" sz="1800" dirty="0" smtClean="0"/>
              <a:t> window</a:t>
            </a:r>
            <a:r>
              <a:rPr lang="zh-CN" altLang="en-US" sz="1800" dirty="0" smtClean="0"/>
              <a:t>中，输入“</a:t>
            </a:r>
            <a:r>
              <a:rPr lang="en-US" altLang="zh-CN" sz="1800" dirty="0" smtClean="0"/>
              <a:t>ping </a:t>
            </a:r>
            <a:r>
              <a:rPr lang="en-US" altLang="zh-CN" sz="1800" dirty="0" smtClean="0">
                <a:hlinkClick r:id="rId3"/>
              </a:rPr>
              <a:t>www.baidu.com</a:t>
            </a:r>
            <a:r>
              <a:rPr lang="zh-CN" altLang="en-US" sz="1800" dirty="0" smtClean="0"/>
              <a:t>”，开始抓包后按</a:t>
            </a:r>
            <a:r>
              <a:rPr lang="en-US" altLang="zh-CN" sz="1800" dirty="0" smtClean="0"/>
              <a:t>enter</a:t>
            </a:r>
          </a:p>
          <a:p>
            <a:endParaRPr lang="en-US" altLang="zh-CN" sz="1800" b="1" dirty="0"/>
          </a:p>
          <a:p>
            <a:endParaRPr lang="en-US" altLang="zh-CN" sz="1800" dirty="0" smtClean="0"/>
          </a:p>
        </p:txBody>
      </p:sp>
      <p:sp>
        <p:nvSpPr>
          <p:cNvPr id="3" name="标题 2"/>
          <p:cNvSpPr>
            <a:spLocks noGrp="1"/>
          </p:cNvSpPr>
          <p:nvPr>
            <p:ph type="title"/>
          </p:nvPr>
        </p:nvSpPr>
        <p:spPr/>
        <p:txBody>
          <a:bodyPr/>
          <a:lstStyle/>
          <a:p>
            <a:r>
              <a:rPr lang="zh-CN" altLang="en-US" dirty="0"/>
              <a:t>抓包分析</a:t>
            </a:r>
          </a:p>
        </p:txBody>
      </p:sp>
      <p:sp>
        <p:nvSpPr>
          <p:cNvPr id="4" name="内容占位符 3"/>
          <p:cNvSpPr>
            <a:spLocks noGrp="1"/>
          </p:cNvSpPr>
          <p:nvPr>
            <p:ph sz="half" idx="10"/>
          </p:nvPr>
        </p:nvSpPr>
        <p:spPr/>
        <p:txBody>
          <a:bodyPr/>
          <a:lstStyle/>
          <a:p>
            <a:r>
              <a:rPr lang="en-US" altLang="zh-CN" dirty="0" smtClean="0"/>
              <a:t>Capture Analyzation</a:t>
            </a:r>
            <a:endParaRPr lang="zh-CN" alt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val="3868995506"/>
              </p:ext>
            </p:extLst>
          </p:nvPr>
        </p:nvGraphicFramePr>
        <p:xfrm>
          <a:off x="608520" y="4410075"/>
          <a:ext cx="606425" cy="392113"/>
        </p:xfrm>
        <a:graphic>
          <a:graphicData uri="http://schemas.openxmlformats.org/presentationml/2006/ole">
            <mc:AlternateContent xmlns:mc="http://schemas.openxmlformats.org/markup-compatibility/2006">
              <mc:Choice xmlns:v="urn:schemas-microsoft-com:vml" Requires="v">
                <p:oleObj spid="_x0000_s1028" name="Packager Shell Object" showAsIcon="1" r:id="rId4" imgW="606240" imgH="392040" progId="Package">
                  <p:embed/>
                </p:oleObj>
              </mc:Choice>
              <mc:Fallback>
                <p:oleObj name="Packager Shell Object" showAsIcon="1" r:id="rId4" imgW="606240" imgH="392040" progId="Package">
                  <p:embed/>
                  <p:pic>
                    <p:nvPicPr>
                      <p:cNvPr id="0" name=""/>
                      <p:cNvPicPr/>
                      <p:nvPr/>
                    </p:nvPicPr>
                    <p:blipFill>
                      <a:blip r:embed="rId5"/>
                      <a:stretch>
                        <a:fillRect/>
                      </a:stretch>
                    </p:blipFill>
                    <p:spPr>
                      <a:xfrm>
                        <a:off x="608520" y="4410075"/>
                        <a:ext cx="606425" cy="392113"/>
                      </a:xfrm>
                      <a:prstGeom prst="rect">
                        <a:avLst/>
                      </a:prstGeom>
                    </p:spPr>
                  </p:pic>
                </p:oleObj>
              </mc:Fallback>
            </mc:AlternateContent>
          </a:graphicData>
        </a:graphic>
      </p:graphicFrame>
    </p:spTree>
    <p:extLst>
      <p:ext uri="{BB962C8B-B14F-4D97-AF65-F5344CB8AC3E}">
        <p14:creationId xmlns:p14="http://schemas.microsoft.com/office/powerpoint/2010/main" val="17143891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1800" b="1" dirty="0" smtClean="0"/>
              <a:t>抓包结果</a:t>
            </a:r>
            <a:endParaRPr lang="en-US" altLang="zh-CN" sz="1800" b="1" dirty="0" smtClean="0"/>
          </a:p>
          <a:p>
            <a:r>
              <a:rPr lang="en-US" altLang="zh-CN" sz="1800" dirty="0" smtClean="0"/>
              <a:t>DNS</a:t>
            </a:r>
            <a:r>
              <a:rPr lang="zh-CN" altLang="en-US" sz="1800" dirty="0" smtClean="0"/>
              <a:t>请求</a:t>
            </a:r>
            <a:r>
              <a:rPr lang="zh-CN" altLang="en-US" sz="1800" dirty="0"/>
              <a:t>报文</a:t>
            </a:r>
            <a:endParaRPr lang="en-US" altLang="zh-CN" sz="1800" dirty="0" smtClean="0"/>
          </a:p>
          <a:p>
            <a:endParaRPr lang="en-US" altLang="zh-CN" sz="1800" b="1" dirty="0"/>
          </a:p>
          <a:p>
            <a:endParaRPr lang="en-US" altLang="zh-CN" sz="1800" dirty="0" smtClean="0"/>
          </a:p>
        </p:txBody>
      </p:sp>
      <p:sp>
        <p:nvSpPr>
          <p:cNvPr id="3" name="标题 2"/>
          <p:cNvSpPr>
            <a:spLocks noGrp="1"/>
          </p:cNvSpPr>
          <p:nvPr>
            <p:ph type="title"/>
          </p:nvPr>
        </p:nvSpPr>
        <p:spPr/>
        <p:txBody>
          <a:bodyPr/>
          <a:lstStyle/>
          <a:p>
            <a:r>
              <a:rPr lang="zh-CN" altLang="en-US" dirty="0"/>
              <a:t>抓包分析</a:t>
            </a:r>
          </a:p>
        </p:txBody>
      </p:sp>
      <p:sp>
        <p:nvSpPr>
          <p:cNvPr id="4" name="内容占位符 3"/>
          <p:cNvSpPr>
            <a:spLocks noGrp="1"/>
          </p:cNvSpPr>
          <p:nvPr>
            <p:ph sz="half" idx="10"/>
          </p:nvPr>
        </p:nvSpPr>
        <p:spPr/>
        <p:txBody>
          <a:bodyPr/>
          <a:lstStyle/>
          <a:p>
            <a:r>
              <a:rPr lang="en-US" altLang="zh-CN" dirty="0" smtClean="0"/>
              <a:t>Capture Analyzation</a:t>
            </a:r>
            <a:endParaRPr lang="zh-CN" altLang="en-US" dirty="0"/>
          </a:p>
        </p:txBody>
      </p:sp>
      <p:pic>
        <p:nvPicPr>
          <p:cNvPr id="17" name="Picture 16"/>
          <p:cNvPicPr>
            <a:picLocks noChangeAspect="1"/>
          </p:cNvPicPr>
          <p:nvPr/>
        </p:nvPicPr>
        <p:blipFill>
          <a:blip r:embed="rId2"/>
          <a:stretch>
            <a:fillRect/>
          </a:stretch>
        </p:blipFill>
        <p:spPr>
          <a:xfrm>
            <a:off x="3455586" y="1638722"/>
            <a:ext cx="5225428" cy="4566241"/>
          </a:xfrm>
          <a:prstGeom prst="rect">
            <a:avLst/>
          </a:prstGeom>
        </p:spPr>
      </p:pic>
    </p:spTree>
    <p:extLst>
      <p:ext uri="{BB962C8B-B14F-4D97-AF65-F5344CB8AC3E}">
        <p14:creationId xmlns:p14="http://schemas.microsoft.com/office/powerpoint/2010/main" val="30133836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1800" b="1" dirty="0" smtClean="0"/>
              <a:t>抓包结果</a:t>
            </a:r>
            <a:endParaRPr lang="en-US" altLang="zh-CN" sz="1800" b="1" dirty="0" smtClean="0"/>
          </a:p>
          <a:p>
            <a:r>
              <a:rPr lang="en-US" altLang="zh-CN" sz="1800" dirty="0" smtClean="0"/>
              <a:t>DNS</a:t>
            </a:r>
            <a:r>
              <a:rPr lang="zh-CN" altLang="en-US" sz="1800" dirty="0" smtClean="0"/>
              <a:t>应答报文</a:t>
            </a:r>
            <a:endParaRPr lang="en-US" altLang="zh-CN" sz="1800" dirty="0" smtClean="0"/>
          </a:p>
          <a:p>
            <a:endParaRPr lang="en-US" altLang="zh-CN" sz="1800" b="1" dirty="0"/>
          </a:p>
          <a:p>
            <a:endParaRPr lang="en-US" altLang="zh-CN" sz="1800" dirty="0" smtClean="0"/>
          </a:p>
        </p:txBody>
      </p:sp>
      <p:sp>
        <p:nvSpPr>
          <p:cNvPr id="3" name="标题 2"/>
          <p:cNvSpPr>
            <a:spLocks noGrp="1"/>
          </p:cNvSpPr>
          <p:nvPr>
            <p:ph type="title"/>
          </p:nvPr>
        </p:nvSpPr>
        <p:spPr/>
        <p:txBody>
          <a:bodyPr/>
          <a:lstStyle/>
          <a:p>
            <a:r>
              <a:rPr lang="zh-CN" altLang="en-US" dirty="0"/>
              <a:t>抓包分析</a:t>
            </a:r>
          </a:p>
        </p:txBody>
      </p:sp>
      <p:sp>
        <p:nvSpPr>
          <p:cNvPr id="4" name="内容占位符 3"/>
          <p:cNvSpPr>
            <a:spLocks noGrp="1"/>
          </p:cNvSpPr>
          <p:nvPr>
            <p:ph sz="half" idx="10"/>
          </p:nvPr>
        </p:nvSpPr>
        <p:spPr/>
        <p:txBody>
          <a:bodyPr/>
          <a:lstStyle/>
          <a:p>
            <a:r>
              <a:rPr lang="en-US" altLang="zh-CN" dirty="0" smtClean="0"/>
              <a:t>Capture Analyzation</a:t>
            </a:r>
            <a:endParaRPr lang="zh-CN" altLang="en-US" dirty="0"/>
          </a:p>
        </p:txBody>
      </p:sp>
      <p:grpSp>
        <p:nvGrpSpPr>
          <p:cNvPr id="7" name="Group 6"/>
          <p:cNvGrpSpPr>
            <a:grpSpLocks noChangeAspect="1"/>
          </p:cNvGrpSpPr>
          <p:nvPr/>
        </p:nvGrpSpPr>
        <p:grpSpPr>
          <a:xfrm>
            <a:off x="3038037" y="1011241"/>
            <a:ext cx="6049530" cy="5193811"/>
            <a:chOff x="1209675" y="-1540002"/>
            <a:chExt cx="9781413" cy="8397811"/>
          </a:xfrm>
        </p:grpSpPr>
        <p:pic>
          <p:nvPicPr>
            <p:cNvPr id="5" name="Picture 4"/>
            <p:cNvPicPr>
              <a:picLocks noChangeAspect="1"/>
            </p:cNvPicPr>
            <p:nvPr/>
          </p:nvPicPr>
          <p:blipFill>
            <a:blip r:embed="rId2"/>
            <a:stretch>
              <a:fillRect/>
            </a:stretch>
          </p:blipFill>
          <p:spPr>
            <a:xfrm>
              <a:off x="1209675" y="-1540002"/>
              <a:ext cx="9772650" cy="7639050"/>
            </a:xfrm>
            <a:prstGeom prst="rect">
              <a:avLst/>
            </a:prstGeom>
          </p:spPr>
        </p:pic>
        <p:pic>
          <p:nvPicPr>
            <p:cNvPr id="6" name="Picture 5"/>
            <p:cNvPicPr>
              <a:picLocks noChangeAspect="1"/>
            </p:cNvPicPr>
            <p:nvPr/>
          </p:nvPicPr>
          <p:blipFill rotWithShape="1">
            <a:blip r:embed="rId3"/>
            <a:srcRect t="74386" r="5527"/>
            <a:stretch/>
          </p:blipFill>
          <p:spPr>
            <a:xfrm>
              <a:off x="1209675" y="6099048"/>
              <a:ext cx="9781413" cy="758761"/>
            </a:xfrm>
            <a:prstGeom prst="rect">
              <a:avLst/>
            </a:prstGeom>
          </p:spPr>
        </p:pic>
      </p:grpSp>
    </p:spTree>
    <p:extLst>
      <p:ext uri="{BB962C8B-B14F-4D97-AF65-F5344CB8AC3E}">
        <p14:creationId xmlns:p14="http://schemas.microsoft.com/office/powerpoint/2010/main" val="6174581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1800" b="1" dirty="0" smtClean="0"/>
              <a:t>抓包结果</a:t>
            </a:r>
            <a:endParaRPr lang="en-US" altLang="zh-CN" sz="1800" b="1" dirty="0" smtClean="0"/>
          </a:p>
          <a:p>
            <a:r>
              <a:rPr lang="en-US" altLang="zh-CN" sz="1800" dirty="0" smtClean="0"/>
              <a:t>DNS</a:t>
            </a:r>
            <a:r>
              <a:rPr lang="zh-CN" altLang="en-US" sz="1800" dirty="0" smtClean="0"/>
              <a:t>应答报文</a:t>
            </a:r>
            <a:endParaRPr lang="en-US" altLang="zh-CN" sz="1800" dirty="0" smtClean="0"/>
          </a:p>
          <a:p>
            <a:endParaRPr lang="en-US" altLang="zh-CN" sz="1800" b="1" dirty="0"/>
          </a:p>
          <a:p>
            <a:endParaRPr lang="en-US" altLang="zh-CN" sz="1800" dirty="0" smtClean="0"/>
          </a:p>
        </p:txBody>
      </p:sp>
      <p:sp>
        <p:nvSpPr>
          <p:cNvPr id="3" name="标题 2"/>
          <p:cNvSpPr>
            <a:spLocks noGrp="1"/>
          </p:cNvSpPr>
          <p:nvPr>
            <p:ph type="title"/>
          </p:nvPr>
        </p:nvSpPr>
        <p:spPr/>
        <p:txBody>
          <a:bodyPr/>
          <a:lstStyle/>
          <a:p>
            <a:r>
              <a:rPr lang="zh-CN" altLang="en-US" dirty="0"/>
              <a:t>抓包分析</a:t>
            </a:r>
          </a:p>
        </p:txBody>
      </p:sp>
      <p:sp>
        <p:nvSpPr>
          <p:cNvPr id="4" name="内容占位符 3"/>
          <p:cNvSpPr>
            <a:spLocks noGrp="1"/>
          </p:cNvSpPr>
          <p:nvPr>
            <p:ph sz="half" idx="10"/>
          </p:nvPr>
        </p:nvSpPr>
        <p:spPr/>
        <p:txBody>
          <a:bodyPr/>
          <a:lstStyle/>
          <a:p>
            <a:r>
              <a:rPr lang="en-US" altLang="zh-CN" dirty="0" smtClean="0"/>
              <a:t>Capture Analyzation</a:t>
            </a:r>
            <a:endParaRPr lang="zh-CN" altLang="en-US" dirty="0"/>
          </a:p>
        </p:txBody>
      </p:sp>
      <p:grpSp>
        <p:nvGrpSpPr>
          <p:cNvPr id="10" name="Group 9"/>
          <p:cNvGrpSpPr>
            <a:grpSpLocks noChangeAspect="1"/>
          </p:cNvGrpSpPr>
          <p:nvPr/>
        </p:nvGrpSpPr>
        <p:grpSpPr>
          <a:xfrm>
            <a:off x="4326147" y="1376994"/>
            <a:ext cx="3473309" cy="4585701"/>
            <a:chOff x="2777020" y="-1054513"/>
            <a:chExt cx="6105525" cy="8060933"/>
          </a:xfrm>
        </p:grpSpPr>
        <p:pic>
          <p:nvPicPr>
            <p:cNvPr id="8" name="Picture 7"/>
            <p:cNvPicPr>
              <a:picLocks noChangeAspect="1"/>
            </p:cNvPicPr>
            <p:nvPr/>
          </p:nvPicPr>
          <p:blipFill>
            <a:blip r:embed="rId2"/>
            <a:stretch>
              <a:fillRect/>
            </a:stretch>
          </p:blipFill>
          <p:spPr>
            <a:xfrm>
              <a:off x="2777020" y="-1054513"/>
              <a:ext cx="6105525" cy="6153150"/>
            </a:xfrm>
            <a:prstGeom prst="rect">
              <a:avLst/>
            </a:prstGeom>
          </p:spPr>
        </p:pic>
        <p:pic>
          <p:nvPicPr>
            <p:cNvPr id="9" name="Picture 8"/>
            <p:cNvPicPr>
              <a:picLocks noChangeAspect="1"/>
            </p:cNvPicPr>
            <p:nvPr/>
          </p:nvPicPr>
          <p:blipFill>
            <a:blip r:embed="rId3"/>
            <a:stretch>
              <a:fillRect/>
            </a:stretch>
          </p:blipFill>
          <p:spPr>
            <a:xfrm>
              <a:off x="2777020" y="5063320"/>
              <a:ext cx="5534025" cy="1943100"/>
            </a:xfrm>
            <a:prstGeom prst="rect">
              <a:avLst/>
            </a:prstGeom>
          </p:spPr>
        </p:pic>
      </p:grpSp>
    </p:spTree>
    <p:extLst>
      <p:ext uri="{BB962C8B-B14F-4D97-AF65-F5344CB8AC3E}">
        <p14:creationId xmlns:p14="http://schemas.microsoft.com/office/powerpoint/2010/main" val="29847301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THANK YOU</a:t>
            </a:r>
            <a:endParaRPr lang="zh-CN" altLang="en-US" dirty="0"/>
          </a:p>
        </p:txBody>
      </p:sp>
    </p:spTree>
    <p:extLst>
      <p:ext uri="{BB962C8B-B14F-4D97-AF65-F5344CB8AC3E}">
        <p14:creationId xmlns:p14="http://schemas.microsoft.com/office/powerpoint/2010/main" val="46004109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1926</TotalTime>
  <Words>2093</Words>
  <Application>Microsoft Office PowerPoint</Application>
  <PresentationFormat>Widescreen</PresentationFormat>
  <Paragraphs>217</Paragraphs>
  <Slides>22</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1" baseType="lpstr">
      <vt:lpstr>Arial Unicode MS</vt:lpstr>
      <vt:lpstr>宋体</vt:lpstr>
      <vt:lpstr>微软雅黑</vt:lpstr>
      <vt:lpstr>Arial</vt:lpstr>
      <vt:lpstr>Calibri</vt:lpstr>
      <vt:lpstr>Calibri Light</vt:lpstr>
      <vt:lpstr>Wingdings</vt:lpstr>
      <vt:lpstr>Office 主题</vt:lpstr>
      <vt:lpstr>Package</vt:lpstr>
      <vt:lpstr>DNS 介绍</vt:lpstr>
      <vt:lpstr>概述 结构 工作过程 抓包分析</vt:lpstr>
      <vt:lpstr>概述</vt:lpstr>
      <vt:lpstr>概述</vt:lpstr>
      <vt:lpstr>结构</vt:lpstr>
      <vt:lpstr>结构</vt:lpstr>
      <vt:lpstr>结构</vt:lpstr>
      <vt:lpstr>结构</vt:lpstr>
      <vt:lpstr>结构</vt:lpstr>
      <vt:lpstr>工作过程</vt:lpstr>
      <vt:lpstr>工作过程</vt:lpstr>
      <vt:lpstr>工作过程</vt:lpstr>
      <vt:lpstr>工作过程</vt:lpstr>
      <vt:lpstr>工作过程</vt:lpstr>
      <vt:lpstr>工作过程</vt:lpstr>
      <vt:lpstr>工作过程</vt:lpstr>
      <vt:lpstr>抓包分析</vt:lpstr>
      <vt:lpstr>抓包分析</vt:lpstr>
      <vt:lpstr>抓包分析</vt:lpstr>
      <vt:lpstr>抓包分析</vt:lpstr>
      <vt:lpstr>抓包分析</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泛 亚 展 稿 模 版</dc:title>
  <dc:creator>Shaoping Sun</dc:creator>
  <cp:lastModifiedBy>Yu Zhonghao 于钟皓(HE,PATAC)</cp:lastModifiedBy>
  <cp:revision>148</cp:revision>
  <dcterms:created xsi:type="dcterms:W3CDTF">2016-04-15T11:56:07Z</dcterms:created>
  <dcterms:modified xsi:type="dcterms:W3CDTF">2018-12-21T05:12:44Z</dcterms:modified>
</cp:coreProperties>
</file>