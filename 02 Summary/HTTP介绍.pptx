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  <p:sldId id="262" r:id="rId5"/>
    <p:sldId id="281" r:id="rId6"/>
    <p:sldId id="266" r:id="rId7"/>
    <p:sldId id="267" r:id="rId8"/>
    <p:sldId id="285" r:id="rId9"/>
    <p:sldId id="286" r:id="rId10"/>
    <p:sldId id="269" r:id="rId11"/>
    <p:sldId id="278" r:id="rId12"/>
    <p:sldId id="284" r:id="rId13"/>
    <p:sldId id="287" r:id="rId14"/>
    <p:sldId id="288" r:id="rId15"/>
    <p:sldId id="289" r:id="rId16"/>
    <p:sldId id="291" r:id="rId17"/>
    <p:sldId id="290" r:id="rId18"/>
    <p:sldId id="293" r:id="rId19"/>
    <p:sldId id="265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161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66" d="100"/>
          <a:sy n="66" d="100"/>
        </p:scale>
        <p:origin x="1210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560" cy="6858000"/>
          </a:xfrm>
          <a:prstGeom prst="rect">
            <a:avLst/>
          </a:prstGeom>
        </p:spPr>
      </p:pic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4947558" y="3075508"/>
            <a:ext cx="6406242" cy="562737"/>
          </a:xfrm>
        </p:spPr>
        <p:txBody>
          <a:bodyPr>
            <a:noAutofit/>
          </a:bodyPr>
          <a:lstStyle>
            <a:lvl1pPr marL="0" indent="0" algn="l">
              <a:buNone/>
              <a:defRPr sz="3400">
                <a:solidFill>
                  <a:srgbClr val="616163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单击此处编辑母版副标题样式</a:t>
            </a: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4947558" y="2277694"/>
            <a:ext cx="6406242" cy="765159"/>
          </a:xfrm>
        </p:spPr>
        <p:txBody>
          <a:bodyPr anchor="b">
            <a:noAutofit/>
          </a:bodyPr>
          <a:lstStyle>
            <a:lvl1pPr algn="l">
              <a:defRPr sz="37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0E531E82-64DB-449D-B90B-BF00E4CB7395}" type="datetimeFigureOut">
              <a:rPr lang="zh-CN" altLang="en-US" smtClean="0"/>
              <a:t>2018/12/28</a:t>
            </a:fld>
            <a:endParaRPr lang="zh-CN" alt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DE70D9F-83B0-43BD-B835-7C0078D8551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947558" y="3742114"/>
            <a:ext cx="3424171" cy="42167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 b="0">
                <a:solidFill>
                  <a:srgbClr val="616163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</a:lstStyle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22755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9936"/>
          </a:xfrm>
          <a:prstGeom prst="rect">
            <a:avLst/>
          </a:prstGeom>
        </p:spPr>
      </p:pic>
      <p:grpSp>
        <p:nvGrpSpPr>
          <p:cNvPr id="3" name="组合 2"/>
          <p:cNvGrpSpPr/>
          <p:nvPr userDrawn="1"/>
        </p:nvGrpSpPr>
        <p:grpSpPr>
          <a:xfrm>
            <a:off x="5185646" y="524281"/>
            <a:ext cx="1817268" cy="1055222"/>
            <a:chOff x="5185646" y="1293723"/>
            <a:chExt cx="1817268" cy="1055222"/>
          </a:xfrm>
        </p:grpSpPr>
        <p:sp>
          <p:nvSpPr>
            <p:cNvPr id="12" name="文本框 11"/>
            <p:cNvSpPr txBox="1"/>
            <p:nvPr userDrawn="1"/>
          </p:nvSpPr>
          <p:spPr>
            <a:xfrm>
              <a:off x="5499868" y="1293723"/>
              <a:ext cx="118882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600" dirty="0">
                  <a:solidFill>
                    <a:srgbClr val="61616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目录</a:t>
              </a:r>
            </a:p>
          </p:txBody>
        </p:sp>
        <p:sp>
          <p:nvSpPr>
            <p:cNvPr id="13" name="文本框 12"/>
            <p:cNvSpPr txBox="1"/>
            <p:nvPr userDrawn="1"/>
          </p:nvSpPr>
          <p:spPr>
            <a:xfrm>
              <a:off x="5185646" y="1825725"/>
              <a:ext cx="181726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 smtClean="0">
                  <a:solidFill>
                    <a:srgbClr val="616163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Content</a:t>
              </a:r>
              <a:endParaRPr lang="zh-CN" altLang="en-US" sz="2800" dirty="0">
                <a:solidFill>
                  <a:srgbClr val="616163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</p:grpSp>
      <p:sp>
        <p:nvSpPr>
          <p:cNvPr id="8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240659" y="1800480"/>
            <a:ext cx="3523827" cy="388794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800" b="0">
                <a:solidFill>
                  <a:srgbClr val="616163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</a:lstStyle>
          <a:p>
            <a:endParaRPr lang="en-US" altLang="zh-CN" dirty="0" smtClean="0"/>
          </a:p>
        </p:txBody>
      </p: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2730595" y="1794631"/>
            <a:ext cx="3363685" cy="387904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150000"/>
              </a:lnSpc>
              <a:buFont typeface="Wingdings" panose="05000000000000000000" pitchFamily="2" charset="2"/>
              <a:buNone/>
              <a:defRPr sz="3200" b="0" baseline="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 smtClean="0"/>
              <a:t>Click to add text</a:t>
            </a:r>
            <a:endParaRPr lang="zh-CN" altLang="en-US" dirty="0"/>
          </a:p>
        </p:txBody>
      </p:sp>
      <p:sp>
        <p:nvSpPr>
          <p:cNvPr id="15" name="Slide Number Placeholder 1"/>
          <p:cNvSpPr txBox="1">
            <a:spLocks/>
          </p:cNvSpPr>
          <p:nvPr userDrawn="1"/>
        </p:nvSpPr>
        <p:spPr>
          <a:xfrm>
            <a:off x="9473292" y="6625817"/>
            <a:ext cx="2133600" cy="208142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r" defTabSz="914400" rtl="0" eaLnBrk="1" latinLnBrk="0" hangingPunct="1">
              <a:defRPr sz="12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00" dirty="0" smtClean="0">
                <a:solidFill>
                  <a:schemeClr val="bg1">
                    <a:lumMod val="50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</a:t>
            </a:r>
            <a:r>
              <a:rPr lang="en-US" altLang="zh-CN" sz="900" dirty="0" smtClean="0">
                <a:solidFill>
                  <a:schemeClr val="bg1">
                    <a:lumMod val="50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age  </a:t>
            </a:r>
            <a:fld id="{EE43992F-D7C3-4F00-A94C-EF7AC265FCDF}" type="slidenum">
              <a:rPr lang="en-US" sz="900" smtClean="0">
                <a:solidFill>
                  <a:schemeClr val="bg1">
                    <a:lumMod val="50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pPr algn="r"/>
              <a:t>‹#›</a:t>
            </a:fld>
            <a:r>
              <a:rPr lang="en-US" sz="900" baseline="0" dirty="0" smtClean="0">
                <a:solidFill>
                  <a:schemeClr val="bg1">
                    <a:lumMod val="50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</a:t>
            </a:r>
            <a:r>
              <a:rPr lang="en-US" sz="900" dirty="0" smtClean="0">
                <a:solidFill>
                  <a:schemeClr val="bg1">
                    <a:lumMod val="50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PATAC Confidential</a:t>
            </a:r>
            <a:endParaRPr lang="en-US" sz="900" dirty="0">
              <a:solidFill>
                <a:schemeClr val="bg1">
                  <a:lumMod val="50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2052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9936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4171951" y="2920456"/>
            <a:ext cx="6327320" cy="512754"/>
          </a:xfrm>
        </p:spPr>
        <p:txBody>
          <a:bodyPr anchor="b">
            <a:noAutofit/>
          </a:bodyPr>
          <a:lstStyle>
            <a:lvl1pPr algn="r">
              <a:defRPr sz="32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/>
          </p:nvPr>
        </p:nvSpPr>
        <p:spPr>
          <a:xfrm>
            <a:off x="4171951" y="3512989"/>
            <a:ext cx="6327320" cy="520168"/>
          </a:xfrm>
        </p:spPr>
        <p:txBody>
          <a:bodyPr>
            <a:noAutofit/>
          </a:bodyPr>
          <a:lstStyle>
            <a:lvl1pPr marL="0" indent="0" algn="r">
              <a:buNone/>
              <a:defRPr sz="3200">
                <a:solidFill>
                  <a:srgbClr val="616163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单击此处编辑母版副标题样式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461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560" cy="6858000"/>
          </a:xfrm>
          <a:prstGeom prst="rect">
            <a:avLst/>
          </a:prstGeom>
        </p:spPr>
      </p:pic>
      <p:sp>
        <p:nvSpPr>
          <p:cNvPr id="10" name="Content Placeholder 2"/>
          <p:cNvSpPr>
            <a:spLocks noGrp="1"/>
          </p:cNvSpPr>
          <p:nvPr>
            <p:ph sz="half" idx="1"/>
          </p:nvPr>
        </p:nvSpPr>
        <p:spPr>
          <a:xfrm>
            <a:off x="608520" y="1273628"/>
            <a:ext cx="10908565" cy="479243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8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00000"/>
              </a:lnSpc>
              <a:defRPr sz="24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00000"/>
              </a:lnSpc>
              <a:defRPr sz="20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00000"/>
              </a:lnSpc>
              <a:defRPr sz="18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00000"/>
              </a:lnSpc>
              <a:defRPr sz="18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08520" y="208314"/>
            <a:ext cx="8187896" cy="414317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32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sz="half" idx="10"/>
          </p:nvPr>
        </p:nvSpPr>
        <p:spPr>
          <a:xfrm>
            <a:off x="608520" y="656093"/>
            <a:ext cx="8173261" cy="32168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00000"/>
              </a:lnSpc>
              <a:defRPr sz="20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00000"/>
              </a:lnSpc>
              <a:defRPr sz="18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00000"/>
              </a:lnSpc>
              <a:defRPr sz="16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00000"/>
              </a:lnSpc>
              <a:defRPr sz="16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Slide Number Placeholder 1"/>
          <p:cNvSpPr txBox="1">
            <a:spLocks/>
          </p:cNvSpPr>
          <p:nvPr userDrawn="1"/>
        </p:nvSpPr>
        <p:spPr>
          <a:xfrm>
            <a:off x="9473292" y="6625817"/>
            <a:ext cx="2133600" cy="208142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r" defTabSz="914400" rtl="0" eaLnBrk="1" latinLnBrk="0" hangingPunct="1">
              <a:defRPr sz="12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00" dirty="0" smtClean="0">
                <a:solidFill>
                  <a:schemeClr val="bg1">
                    <a:lumMod val="50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</a:t>
            </a:r>
            <a:r>
              <a:rPr lang="en-US" altLang="zh-CN" sz="900" dirty="0" smtClean="0">
                <a:solidFill>
                  <a:schemeClr val="bg1">
                    <a:lumMod val="50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age  </a:t>
            </a:r>
            <a:fld id="{EE43992F-D7C3-4F00-A94C-EF7AC265FCDF}" type="slidenum">
              <a:rPr lang="en-US" sz="900" smtClean="0">
                <a:solidFill>
                  <a:schemeClr val="bg1">
                    <a:lumMod val="50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pPr algn="r"/>
              <a:t>‹#›</a:t>
            </a:fld>
            <a:r>
              <a:rPr lang="en-US" sz="900" baseline="0" dirty="0" smtClean="0">
                <a:solidFill>
                  <a:schemeClr val="bg1">
                    <a:lumMod val="50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</a:t>
            </a:r>
            <a:r>
              <a:rPr lang="en-US" sz="900" dirty="0" smtClean="0">
                <a:solidFill>
                  <a:schemeClr val="bg1">
                    <a:lumMod val="50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PATAC Confidential</a:t>
            </a:r>
            <a:endParaRPr lang="en-US" sz="900" dirty="0">
              <a:solidFill>
                <a:schemeClr val="bg1">
                  <a:lumMod val="50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25059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560" cy="6858000"/>
          </a:xfrm>
          <a:prstGeom prst="rect">
            <a:avLst/>
          </a:prstGeom>
        </p:spPr>
      </p:pic>
      <p:sp>
        <p:nvSpPr>
          <p:cNvPr id="10" name="Content Placeholder 2"/>
          <p:cNvSpPr>
            <a:spLocks noGrp="1"/>
          </p:cNvSpPr>
          <p:nvPr>
            <p:ph sz="half" idx="1"/>
          </p:nvPr>
        </p:nvSpPr>
        <p:spPr>
          <a:xfrm>
            <a:off x="608520" y="1273628"/>
            <a:ext cx="5387705" cy="479243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8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00000"/>
              </a:lnSpc>
              <a:defRPr sz="24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00000"/>
              </a:lnSpc>
              <a:defRPr sz="20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00000"/>
              </a:lnSpc>
              <a:defRPr sz="18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00000"/>
              </a:lnSpc>
              <a:defRPr sz="18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08520" y="208314"/>
            <a:ext cx="8187896" cy="414317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32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sz="half" idx="10"/>
          </p:nvPr>
        </p:nvSpPr>
        <p:spPr>
          <a:xfrm>
            <a:off x="608520" y="656093"/>
            <a:ext cx="8173261" cy="32168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00000"/>
              </a:lnSpc>
              <a:defRPr sz="20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00000"/>
              </a:lnSpc>
              <a:defRPr sz="18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00000"/>
              </a:lnSpc>
              <a:defRPr sz="16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00000"/>
              </a:lnSpc>
              <a:defRPr sz="16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1"/>
          </p:nvPr>
        </p:nvSpPr>
        <p:spPr>
          <a:xfrm>
            <a:off x="6111249" y="1273628"/>
            <a:ext cx="5387705" cy="479243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8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00000"/>
              </a:lnSpc>
              <a:defRPr sz="24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00000"/>
              </a:lnSpc>
              <a:defRPr sz="20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00000"/>
              </a:lnSpc>
              <a:defRPr sz="18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00000"/>
              </a:lnSpc>
              <a:defRPr sz="18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17" name="Slide Number Placeholder 1"/>
          <p:cNvSpPr txBox="1">
            <a:spLocks/>
          </p:cNvSpPr>
          <p:nvPr userDrawn="1"/>
        </p:nvSpPr>
        <p:spPr>
          <a:xfrm>
            <a:off x="9473292" y="6625817"/>
            <a:ext cx="2133600" cy="208142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r" defTabSz="914400" rtl="0" eaLnBrk="1" latinLnBrk="0" hangingPunct="1">
              <a:defRPr sz="12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00" dirty="0" smtClean="0">
                <a:solidFill>
                  <a:schemeClr val="bg1">
                    <a:lumMod val="50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</a:t>
            </a:r>
            <a:r>
              <a:rPr lang="en-US" altLang="zh-CN" sz="900" dirty="0" smtClean="0">
                <a:solidFill>
                  <a:schemeClr val="bg1">
                    <a:lumMod val="50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age  </a:t>
            </a:r>
            <a:fld id="{EE43992F-D7C3-4F00-A94C-EF7AC265FCDF}" type="slidenum">
              <a:rPr lang="en-US" sz="900" smtClean="0">
                <a:solidFill>
                  <a:schemeClr val="bg1">
                    <a:lumMod val="50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pPr algn="r"/>
              <a:t>‹#›</a:t>
            </a:fld>
            <a:r>
              <a:rPr lang="en-US" sz="900" baseline="0" dirty="0" smtClean="0">
                <a:solidFill>
                  <a:schemeClr val="bg1">
                    <a:lumMod val="50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</a:t>
            </a:r>
            <a:r>
              <a:rPr lang="en-US" sz="900" dirty="0" smtClean="0">
                <a:solidFill>
                  <a:schemeClr val="bg1">
                    <a:lumMod val="50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PATAC Confidential</a:t>
            </a:r>
            <a:endParaRPr lang="en-US" sz="900" dirty="0">
              <a:solidFill>
                <a:schemeClr val="bg1">
                  <a:lumMod val="50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18778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2915301"/>
            <a:ext cx="12192000" cy="1027398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9690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33F572-7296-44CA-B8CF-8C259B54199B}" type="datetimeFigureOut">
              <a:rPr lang="zh-CN" altLang="en-US" smtClean="0"/>
              <a:t>2018/12/28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95F81-0E1E-4C52-979B-3B851EB8B8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6716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2.wmf"/><Relationship Id="rId4" Type="http://schemas.openxmlformats.org/officeDocument/2006/relationships/oleObject" Target="../embeddings/oleObject1.bin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 smtClean="0"/>
              <a:t>HTTP Introduction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smtClean="0"/>
              <a:t>HTTP</a:t>
            </a:r>
            <a:r>
              <a:rPr lang="zh-CN" altLang="en-US" dirty="0" smtClean="0"/>
              <a:t> 介绍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smtClean="0"/>
              <a:t>2018-12-5</a:t>
            </a:r>
          </a:p>
        </p:txBody>
      </p:sp>
    </p:spTree>
    <p:extLst>
      <p:ext uri="{BB962C8B-B14F-4D97-AF65-F5344CB8AC3E}">
        <p14:creationId xmlns:p14="http://schemas.microsoft.com/office/powerpoint/2010/main" val="3175309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6240659" y="1800480"/>
            <a:ext cx="4424133" cy="3887948"/>
          </a:xfrm>
        </p:spPr>
        <p:txBody>
          <a:bodyPr/>
          <a:lstStyle/>
          <a:p>
            <a:r>
              <a:rPr lang="en-US" altLang="zh-CN" dirty="0" smtClean="0"/>
              <a:t>Overview</a:t>
            </a:r>
            <a:endParaRPr lang="en-US" altLang="zh-CN" dirty="0"/>
          </a:p>
          <a:p>
            <a:r>
              <a:rPr lang="en-US" altLang="zh-CN" dirty="0" smtClean="0"/>
              <a:t>Working Principle</a:t>
            </a:r>
            <a:endParaRPr lang="zh-CN" altLang="en-US" dirty="0"/>
          </a:p>
          <a:p>
            <a:r>
              <a:rPr lang="en-US" altLang="zh-CN" dirty="0" smtClean="0"/>
              <a:t>Message Format</a:t>
            </a:r>
          </a:p>
        </p:txBody>
      </p:sp>
      <p:sp>
        <p:nvSpPr>
          <p:cNvPr id="8" name="标题 2"/>
          <p:cNvSpPr>
            <a:spLocks noGrp="1"/>
          </p:cNvSpPr>
          <p:nvPr>
            <p:ph type="title"/>
          </p:nvPr>
        </p:nvSpPr>
        <p:spPr>
          <a:xfrm>
            <a:off x="2730595" y="1794631"/>
            <a:ext cx="3363685" cy="3879045"/>
          </a:xfrm>
        </p:spPr>
        <p:txBody>
          <a:bodyPr/>
          <a:lstStyle/>
          <a:p>
            <a:r>
              <a:rPr lang="zh-CN" altLang="en-US" dirty="0"/>
              <a:t>概述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zh-CN" altLang="en-US" dirty="0"/>
              <a:t>工</a:t>
            </a:r>
            <a:r>
              <a:rPr lang="zh-CN" altLang="en-US" dirty="0" smtClean="0"/>
              <a:t>作</a:t>
            </a:r>
            <a:r>
              <a:rPr lang="zh-CN" altLang="en-US" dirty="0"/>
              <a:t>原理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zh-CN" altLang="en-US" dirty="0" smtClean="0"/>
              <a:t>报文格式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dirty="0" smtClean="0"/>
              <a:t/>
            </a:r>
            <a:br>
              <a:rPr lang="en-US" altLang="zh-CN" dirty="0" smtClean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18528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概述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 smtClean="0"/>
              <a:t>Overview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61916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1"/>
          </p:nvPr>
        </p:nvSpPr>
        <p:spPr>
          <a:xfrm>
            <a:off x="608521" y="1273628"/>
            <a:ext cx="7227888" cy="4962580"/>
          </a:xfrm>
        </p:spPr>
        <p:txBody>
          <a:bodyPr>
            <a:normAutofit/>
          </a:bodyPr>
          <a:lstStyle/>
          <a:p>
            <a:r>
              <a:rPr lang="zh-CN" altLang="en-US" sz="1800" b="1" dirty="0" smtClean="0"/>
              <a:t>超文本传输协议</a:t>
            </a:r>
            <a:r>
              <a:rPr lang="zh-CN" altLang="en-US" sz="1800" dirty="0" smtClean="0"/>
              <a:t>（</a:t>
            </a:r>
            <a:r>
              <a:rPr lang="en-US" altLang="zh-CN" sz="1800" dirty="0" smtClean="0"/>
              <a:t>Hyper Text Transfer Protocol</a:t>
            </a:r>
            <a:r>
              <a:rPr lang="zh-CN" altLang="en-US" sz="1800" dirty="0" smtClean="0"/>
              <a:t>，</a:t>
            </a:r>
            <a:r>
              <a:rPr lang="en-US" altLang="zh-CN" sz="1800" dirty="0" smtClean="0"/>
              <a:t>HTTP</a:t>
            </a:r>
            <a:r>
              <a:rPr lang="zh-CN" altLang="en-US" sz="1800" dirty="0"/>
              <a:t>）是一种详细规定了浏览器和万维网</a:t>
            </a:r>
            <a:r>
              <a:rPr lang="en-US" altLang="zh-CN" sz="1800" dirty="0"/>
              <a:t>(WWW = World Wide Web)</a:t>
            </a:r>
            <a:r>
              <a:rPr lang="zh-CN" altLang="en-US" sz="1800" dirty="0"/>
              <a:t>服务器之间互相通信的规则，通</a:t>
            </a:r>
            <a:r>
              <a:rPr lang="zh-CN" altLang="en-US" sz="1800" dirty="0" smtClean="0"/>
              <a:t>过</a:t>
            </a:r>
            <a:r>
              <a:rPr lang="zh-CN" altLang="en-US" sz="1800" dirty="0"/>
              <a:t>互</a:t>
            </a:r>
            <a:r>
              <a:rPr lang="zh-CN" altLang="en-US" sz="1800" dirty="0" smtClean="0"/>
              <a:t>联网</a:t>
            </a:r>
            <a:r>
              <a:rPr lang="zh-CN" altLang="en-US" sz="1800" dirty="0"/>
              <a:t>传送万维网文档的数据传送协议。</a:t>
            </a:r>
            <a:endParaRPr lang="en-US" altLang="zh-CN" sz="1800" dirty="0" smtClean="0"/>
          </a:p>
          <a:p>
            <a:r>
              <a:rPr lang="zh-CN" altLang="en-US" sz="1800" dirty="0" smtClean="0"/>
              <a:t>工作在应用层</a:t>
            </a:r>
            <a:r>
              <a:rPr lang="zh-CN" altLang="en-US" sz="1800" dirty="0"/>
              <a:t>，由请求和响应构成，是一个标准的客户端服务器模型</a:t>
            </a:r>
            <a:r>
              <a:rPr lang="zh-CN" altLang="en-US" sz="1800" dirty="0" smtClean="0"/>
              <a:t>。</a:t>
            </a:r>
            <a:endParaRPr lang="en-US" altLang="zh-CN" sz="1800" dirty="0" smtClean="0"/>
          </a:p>
          <a:p>
            <a:r>
              <a:rPr lang="en-US" altLang="zh-CN" sz="1800" dirty="0" smtClean="0"/>
              <a:t>HTTP</a:t>
            </a:r>
            <a:r>
              <a:rPr lang="zh-CN" altLang="en-US" sz="1800" dirty="0"/>
              <a:t>是一个无状态的协议，自身不对请求和响应之间的通信状态进行保</a:t>
            </a:r>
            <a:r>
              <a:rPr lang="zh-CN" altLang="en-US" sz="1800" dirty="0" smtClean="0"/>
              <a:t>存。</a:t>
            </a:r>
            <a:endParaRPr lang="en-US" altLang="zh-CN" sz="1800" dirty="0" smtClean="0"/>
          </a:p>
          <a:p>
            <a:r>
              <a:rPr lang="zh-CN" altLang="en-US" sz="1800" dirty="0" smtClean="0"/>
              <a:t>基于</a:t>
            </a:r>
            <a:r>
              <a:rPr lang="en-US" altLang="zh-CN" sz="1800" dirty="0" smtClean="0"/>
              <a:t>TCP</a:t>
            </a:r>
            <a:r>
              <a:rPr lang="zh-CN" altLang="en-US" sz="1800" dirty="0" smtClean="0"/>
              <a:t>协议进行通信，可通过</a:t>
            </a:r>
            <a:r>
              <a:rPr lang="en-US" altLang="zh-CN" sz="1800" dirty="0" smtClean="0"/>
              <a:t>TLS</a:t>
            </a:r>
            <a:r>
              <a:rPr lang="zh-CN" altLang="en-US" sz="1800" dirty="0" smtClean="0"/>
              <a:t>进行认证加密。</a:t>
            </a:r>
            <a:endParaRPr lang="en-US" altLang="zh-CN" sz="1800" dirty="0" smtClean="0"/>
          </a:p>
          <a:p>
            <a:r>
              <a:rPr lang="en-US" altLang="zh-CN" sz="1800" dirty="0" smtClean="0"/>
              <a:t>HTTP</a:t>
            </a:r>
            <a:r>
              <a:rPr lang="zh-CN" altLang="en-US" sz="1800" dirty="0" smtClean="0"/>
              <a:t>默认端口号为</a:t>
            </a:r>
            <a:r>
              <a:rPr lang="en-US" altLang="zh-CN" sz="1800" dirty="0" smtClean="0"/>
              <a:t>80</a:t>
            </a:r>
            <a:r>
              <a:rPr lang="zh-CN" altLang="en-US" sz="1800" dirty="0" smtClean="0"/>
              <a:t>，</a:t>
            </a:r>
            <a:r>
              <a:rPr lang="en-US" altLang="zh-CN" sz="1800" dirty="0" smtClean="0"/>
              <a:t>HTTPS</a:t>
            </a:r>
            <a:r>
              <a:rPr lang="zh-CN" altLang="en-US" sz="1800" dirty="0" smtClean="0"/>
              <a:t>的默认端口号为</a:t>
            </a:r>
            <a:r>
              <a:rPr lang="en-US" altLang="zh-CN" sz="1800" dirty="0" smtClean="0"/>
              <a:t>443</a:t>
            </a:r>
            <a:endParaRPr lang="en-US" altLang="zh-CN" sz="18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概述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altLang="zh-CN" dirty="0" smtClean="0"/>
              <a:t>Overview</a:t>
            </a:r>
            <a:endParaRPr lang="zh-CN" altLang="en-US" dirty="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6416" y="2148289"/>
            <a:ext cx="1837130" cy="3213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578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1"/>
          </p:nvPr>
        </p:nvSpPr>
        <p:spPr>
          <a:xfrm>
            <a:off x="608520" y="1273628"/>
            <a:ext cx="10908565" cy="4962580"/>
          </a:xfrm>
        </p:spPr>
        <p:txBody>
          <a:bodyPr>
            <a:normAutofit/>
          </a:bodyPr>
          <a:lstStyle/>
          <a:p>
            <a:r>
              <a:rPr lang="zh-CN" altLang="en-US" sz="1800" b="1" dirty="0" smtClean="0"/>
              <a:t>版本</a:t>
            </a:r>
            <a:endParaRPr lang="en-US" altLang="zh-CN" sz="1800" b="1" dirty="0" smtClean="0"/>
          </a:p>
          <a:p>
            <a:pPr lvl="1"/>
            <a:endParaRPr lang="en-US" altLang="zh-CN" sz="1400" dirty="0" smtClean="0"/>
          </a:p>
          <a:p>
            <a:pPr lvl="1"/>
            <a:endParaRPr lang="en-US" altLang="zh-CN" sz="1400" dirty="0"/>
          </a:p>
          <a:p>
            <a:pPr lvl="1"/>
            <a:endParaRPr lang="en-US" altLang="zh-CN" sz="1400" dirty="0" smtClean="0"/>
          </a:p>
          <a:p>
            <a:pPr lvl="1"/>
            <a:endParaRPr lang="en-US" altLang="zh-CN" sz="1400" dirty="0"/>
          </a:p>
          <a:p>
            <a:pPr lvl="1"/>
            <a:endParaRPr lang="en-US" altLang="zh-CN" sz="1400" dirty="0" smtClean="0"/>
          </a:p>
          <a:p>
            <a:pPr lvl="1"/>
            <a:endParaRPr lang="en-US" altLang="zh-CN" sz="1400" dirty="0"/>
          </a:p>
          <a:p>
            <a:pPr lvl="1"/>
            <a:endParaRPr lang="en-US" altLang="zh-CN" sz="1400" dirty="0" smtClean="0"/>
          </a:p>
          <a:p>
            <a:pPr lvl="1"/>
            <a:endParaRPr lang="en-US" altLang="zh-CN" sz="1400" dirty="0" smtClean="0"/>
          </a:p>
          <a:p>
            <a:pPr lvl="1"/>
            <a:endParaRPr lang="en-US" altLang="zh-CN" sz="1400" dirty="0"/>
          </a:p>
          <a:p>
            <a:pPr lvl="1"/>
            <a:r>
              <a:rPr lang="en-US" altLang="zh-CN" sz="1400" dirty="0" smtClean="0"/>
              <a:t>HTTP/0.9: </a:t>
            </a:r>
            <a:r>
              <a:rPr lang="zh-CN" altLang="en-US" sz="1400" dirty="0" smtClean="0"/>
              <a:t>简单协议，没有首部，只有一个方法（</a:t>
            </a:r>
            <a:r>
              <a:rPr lang="en-US" altLang="zh-CN" sz="1400" dirty="0" smtClean="0"/>
              <a:t>GET</a:t>
            </a:r>
            <a:r>
              <a:rPr lang="zh-CN" altLang="en-US" sz="1400" dirty="0" smtClean="0"/>
              <a:t>），设计目标只是获取</a:t>
            </a:r>
            <a:r>
              <a:rPr lang="en-US" altLang="zh-CN" sz="1400" dirty="0" smtClean="0"/>
              <a:t>HTML</a:t>
            </a:r>
            <a:r>
              <a:rPr lang="zh-CN" altLang="en-US" sz="1400" dirty="0" smtClean="0"/>
              <a:t>（只有文本）</a:t>
            </a:r>
            <a:endParaRPr lang="en-US" altLang="zh-CN" sz="1400" dirty="0" smtClean="0"/>
          </a:p>
          <a:p>
            <a:pPr lvl="1"/>
            <a:r>
              <a:rPr lang="en-US" altLang="zh-CN" sz="1400" dirty="0" smtClean="0"/>
              <a:t>HTTP/1.0: </a:t>
            </a:r>
            <a:r>
              <a:rPr lang="zh-CN" altLang="en-US" sz="1400" dirty="0" smtClean="0"/>
              <a:t>定义了首部、响应码、重定向、错误、更多的请求方法，但是不能让多个请求共用一个连接，缺少强制的</a:t>
            </a:r>
            <a:r>
              <a:rPr lang="en-US" altLang="zh-CN" sz="1400" dirty="0" smtClean="0"/>
              <a:t>HOST</a:t>
            </a:r>
            <a:r>
              <a:rPr lang="zh-CN" altLang="en-US" sz="1400" dirty="0" smtClean="0"/>
              <a:t>首部，缓存简陋，影响了</a:t>
            </a:r>
            <a:r>
              <a:rPr lang="en-US" altLang="zh-CN" sz="1400" dirty="0" smtClean="0"/>
              <a:t>web</a:t>
            </a:r>
            <a:r>
              <a:rPr lang="zh-CN" altLang="en-US" sz="1400" dirty="0" smtClean="0"/>
              <a:t>可扩展的方式</a:t>
            </a:r>
            <a:endParaRPr lang="en-US" altLang="zh-CN" sz="1400" dirty="0" smtClean="0"/>
          </a:p>
          <a:p>
            <a:pPr lvl="1"/>
            <a:r>
              <a:rPr lang="en-US" altLang="zh-CN" sz="1400" dirty="0" smtClean="0"/>
              <a:t>HTTP/1.1: </a:t>
            </a:r>
            <a:r>
              <a:rPr lang="zh-CN" altLang="en-US" sz="1400" dirty="0" smtClean="0"/>
              <a:t>强</a:t>
            </a:r>
            <a:r>
              <a:rPr lang="zh-CN" altLang="en-US" sz="1400" dirty="0"/>
              <a:t>制要求客户端提供 </a:t>
            </a:r>
            <a:r>
              <a:rPr lang="en-US" altLang="zh-CN" sz="1400" dirty="0"/>
              <a:t>Host </a:t>
            </a:r>
            <a:r>
              <a:rPr lang="zh-CN" altLang="en-US" sz="1400" dirty="0"/>
              <a:t>首</a:t>
            </a:r>
            <a:r>
              <a:rPr lang="zh-CN" altLang="en-US" sz="1400" dirty="0" smtClean="0"/>
              <a:t>部，新增错误状态响应码，</a:t>
            </a:r>
            <a:r>
              <a:rPr lang="en-US" altLang="zh-CN" sz="1400" dirty="0" smtClean="0"/>
              <a:t>TCP</a:t>
            </a:r>
            <a:r>
              <a:rPr lang="zh-CN" altLang="en-US" sz="1400" dirty="0" smtClean="0"/>
              <a:t>支持长连接</a:t>
            </a:r>
            <a:endParaRPr lang="en-US" altLang="zh-CN" sz="1400" dirty="0" smtClean="0"/>
          </a:p>
          <a:p>
            <a:pPr lvl="1"/>
            <a:r>
              <a:rPr lang="en-US" altLang="zh-CN" sz="1400" dirty="0" smtClean="0"/>
              <a:t>HTTP/2: </a:t>
            </a:r>
            <a:r>
              <a:rPr lang="zh-CN" altLang="en-US" sz="1400" dirty="0" smtClean="0"/>
              <a:t>所</a:t>
            </a:r>
            <a:r>
              <a:rPr lang="zh-CN" altLang="en-US" sz="1400" dirty="0"/>
              <a:t>有数据以二进制传</a:t>
            </a:r>
            <a:r>
              <a:rPr lang="zh-CN" altLang="en-US" sz="1400" dirty="0" smtClean="0"/>
              <a:t>输，同</a:t>
            </a:r>
            <a:r>
              <a:rPr lang="zh-CN" altLang="en-US" sz="1400" dirty="0"/>
              <a:t>一个连接里面发送多个请求不再需要按照顺序</a:t>
            </a:r>
            <a:r>
              <a:rPr lang="zh-CN" altLang="en-US" sz="1400" dirty="0" smtClean="0"/>
              <a:t>来，头</a:t>
            </a:r>
            <a:r>
              <a:rPr lang="zh-CN" altLang="en-US" sz="1400" dirty="0"/>
              <a:t>信息压缩以及推送等提高效率的功</a:t>
            </a:r>
            <a:r>
              <a:rPr lang="zh-CN" altLang="en-US" sz="1400" dirty="0" smtClean="0"/>
              <a:t>能，服</a:t>
            </a:r>
            <a:r>
              <a:rPr lang="zh-CN" altLang="en-US" sz="1400" dirty="0"/>
              <a:t>务端可以主动发送一些请求</a:t>
            </a:r>
            <a:endParaRPr lang="en-US" altLang="zh-CN" sz="1400" dirty="0" smtClean="0"/>
          </a:p>
          <a:p>
            <a:endParaRPr lang="en-US" altLang="zh-CN" sz="14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概述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altLang="zh-CN" dirty="0" smtClean="0"/>
              <a:t>Overview</a:t>
            </a:r>
            <a:endParaRPr lang="zh-CN" altLang="en-US" dirty="0"/>
          </a:p>
        </p:txBody>
      </p:sp>
      <p:grpSp>
        <p:nvGrpSpPr>
          <p:cNvPr id="19" name="Group 18"/>
          <p:cNvGrpSpPr/>
          <p:nvPr/>
        </p:nvGrpSpPr>
        <p:grpSpPr>
          <a:xfrm>
            <a:off x="711498" y="2159687"/>
            <a:ext cx="10702608" cy="1416526"/>
            <a:chOff x="711498" y="2920491"/>
            <a:chExt cx="10702608" cy="1416526"/>
          </a:xfrm>
        </p:grpSpPr>
        <p:sp>
          <p:nvSpPr>
            <p:cNvPr id="5" name="Pentagon 4"/>
            <p:cNvSpPr/>
            <p:nvPr/>
          </p:nvSpPr>
          <p:spPr>
            <a:xfrm>
              <a:off x="711498" y="3438144"/>
              <a:ext cx="10702608" cy="504000"/>
            </a:xfrm>
            <a:prstGeom prst="homePlate">
              <a:avLst/>
            </a:prstGeom>
            <a:gradFill>
              <a:gsLst>
                <a:gs pos="100000">
                  <a:schemeClr val="accent1">
                    <a:lumMod val="40000"/>
                    <a:lumOff val="60000"/>
                  </a:schemeClr>
                </a:gs>
                <a:gs pos="0">
                  <a:schemeClr val="accent5">
                    <a:lumMod val="40000"/>
                    <a:lumOff val="6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" name="Straight Connector 6"/>
            <p:cNvCxnSpPr/>
            <p:nvPr/>
          </p:nvCxnSpPr>
          <p:spPr>
            <a:xfrm>
              <a:off x="1361725" y="3438144"/>
              <a:ext cx="0" cy="50400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3161725" y="3438144"/>
              <a:ext cx="0" cy="50400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10001725" y="3438144"/>
              <a:ext cx="0" cy="50400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4241725" y="3438144"/>
              <a:ext cx="0" cy="50400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1038715" y="4029240"/>
              <a:ext cx="6460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 smtClean="0">
                  <a:solidFill>
                    <a:srgbClr val="61616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1991</a:t>
              </a:r>
              <a:endParaRPr lang="zh-CN" altLang="en-US" sz="1400" dirty="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838715" y="4029239"/>
              <a:ext cx="6460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 smtClean="0">
                  <a:solidFill>
                    <a:srgbClr val="61616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1996</a:t>
              </a:r>
              <a:endParaRPr lang="zh-CN" altLang="en-US" sz="1400" dirty="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918715" y="4029238"/>
              <a:ext cx="6460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 smtClean="0">
                  <a:solidFill>
                    <a:srgbClr val="61616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1999</a:t>
              </a:r>
              <a:endParaRPr lang="zh-CN" altLang="en-US" sz="1400" dirty="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9678715" y="4029238"/>
              <a:ext cx="6460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 smtClean="0">
                  <a:solidFill>
                    <a:srgbClr val="61616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2015</a:t>
              </a:r>
              <a:endParaRPr lang="zh-CN" altLang="en-US" sz="1400" dirty="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 rot="19942679">
              <a:off x="842919" y="2920494"/>
              <a:ext cx="103761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 smtClean="0">
                  <a:solidFill>
                    <a:srgbClr val="61616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HTTP/0.9</a:t>
              </a:r>
              <a:endParaRPr lang="zh-CN" altLang="en-US" sz="1400" b="1" dirty="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 rot="19942679">
              <a:off x="2642919" y="2920493"/>
              <a:ext cx="103761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 smtClean="0">
                  <a:solidFill>
                    <a:srgbClr val="61616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HTTP/1.0</a:t>
              </a:r>
              <a:endParaRPr lang="zh-CN" altLang="en-US" sz="1400" b="1" dirty="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 rot="19942679">
              <a:off x="3722920" y="2920492"/>
              <a:ext cx="103761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 smtClean="0">
                  <a:solidFill>
                    <a:srgbClr val="61616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HTTP/1.1</a:t>
              </a:r>
              <a:endParaRPr lang="zh-CN" altLang="en-US" sz="1400" b="1" dirty="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 rot="19942679">
              <a:off x="9482920" y="2920491"/>
              <a:ext cx="103761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 smtClean="0">
                  <a:solidFill>
                    <a:srgbClr val="61616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HTTP/2</a:t>
              </a:r>
              <a:endParaRPr lang="zh-CN" altLang="en-US" sz="1400" b="1" dirty="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9407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工作原理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Working Principle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32752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1"/>
          </p:nvPr>
        </p:nvSpPr>
        <p:spPr>
          <a:xfrm>
            <a:off x="608520" y="1273628"/>
            <a:ext cx="6331775" cy="4964612"/>
          </a:xfrm>
        </p:spPr>
        <p:txBody>
          <a:bodyPr>
            <a:normAutofit lnSpcReduction="10000"/>
          </a:bodyPr>
          <a:lstStyle/>
          <a:p>
            <a:r>
              <a:rPr lang="zh-CN" altLang="en-US" sz="1800" b="1" dirty="0" smtClean="0"/>
              <a:t>请求</a:t>
            </a:r>
            <a:r>
              <a:rPr lang="en-US" altLang="zh-CN" sz="1800" b="1" dirty="0" smtClean="0"/>
              <a:t>/</a:t>
            </a:r>
            <a:r>
              <a:rPr lang="zh-CN" altLang="en-US" sz="1800" b="1" dirty="0" smtClean="0"/>
              <a:t>响应交互模型</a:t>
            </a:r>
            <a:endParaRPr lang="en-US" altLang="zh-CN" sz="1800" b="1" dirty="0" smtClean="0"/>
          </a:p>
          <a:p>
            <a:pPr marL="685800" lvl="2">
              <a:spcBef>
                <a:spcPts val="1000"/>
              </a:spcBef>
            </a:pPr>
            <a:r>
              <a:rPr lang="zh-CN" altLang="en-US" sz="1400" dirty="0"/>
              <a:t>客户端与服务器建立连接</a:t>
            </a:r>
            <a:endParaRPr lang="en-US" altLang="zh-CN" sz="1400" dirty="0"/>
          </a:p>
          <a:p>
            <a:pPr marL="685800" lvl="2">
              <a:spcBef>
                <a:spcPts val="1000"/>
              </a:spcBef>
            </a:pPr>
            <a:r>
              <a:rPr lang="zh-CN" altLang="en-US" sz="1400" dirty="0"/>
              <a:t>客户端向服务器发送请求</a:t>
            </a:r>
            <a:endParaRPr lang="en-US" altLang="zh-CN" sz="1400" dirty="0"/>
          </a:p>
          <a:p>
            <a:pPr marL="685800" lvl="2">
              <a:spcBef>
                <a:spcPts val="1000"/>
              </a:spcBef>
            </a:pPr>
            <a:r>
              <a:rPr lang="zh-CN" altLang="en-US" sz="1400" dirty="0"/>
              <a:t>服务器向客户端回复响应</a:t>
            </a:r>
            <a:endParaRPr lang="en-US" altLang="zh-CN" sz="1400" dirty="0"/>
          </a:p>
          <a:p>
            <a:pPr marL="685800" lvl="2">
              <a:spcBef>
                <a:spcPts val="1000"/>
              </a:spcBef>
            </a:pPr>
            <a:r>
              <a:rPr lang="zh-CN" altLang="en-US" sz="1400" dirty="0"/>
              <a:t>断开连</a:t>
            </a:r>
            <a:r>
              <a:rPr lang="zh-CN" altLang="en-US" sz="1400" dirty="0" smtClean="0"/>
              <a:t>接</a:t>
            </a:r>
            <a:endParaRPr lang="en-US" altLang="zh-CN" sz="1400" dirty="0" smtClean="0"/>
          </a:p>
          <a:p>
            <a:pPr marL="685800" lvl="2">
              <a:spcBef>
                <a:spcPts val="1000"/>
              </a:spcBef>
            </a:pPr>
            <a:endParaRPr lang="en-US" altLang="zh-CN" sz="1400" dirty="0"/>
          </a:p>
          <a:p>
            <a:r>
              <a:rPr lang="zh-CN" altLang="en-US" sz="1800" dirty="0" smtClean="0"/>
              <a:t>用户点击</a:t>
            </a:r>
            <a:r>
              <a:rPr lang="en-US" altLang="zh-CN" sz="1800" dirty="0" smtClean="0"/>
              <a:t>URL</a:t>
            </a:r>
            <a:r>
              <a:rPr lang="zh-CN" altLang="en-US" sz="1800" dirty="0" smtClean="0"/>
              <a:t>链接后，浏览器和</a:t>
            </a:r>
            <a:r>
              <a:rPr lang="en-US" altLang="zh-CN" sz="1800" dirty="0" smtClean="0"/>
              <a:t>web</a:t>
            </a:r>
            <a:r>
              <a:rPr lang="zh-CN" altLang="en-US" sz="1800" dirty="0" smtClean="0"/>
              <a:t>服务器执行以下动作：</a:t>
            </a:r>
            <a:endParaRPr lang="en-US" altLang="zh-CN" sz="1400" dirty="0"/>
          </a:p>
          <a:p>
            <a:pPr marL="803275" indent="-342900">
              <a:buFont typeface="+mj-lt"/>
              <a:buAutoNum type="arabicPeriod"/>
            </a:pPr>
            <a:r>
              <a:rPr lang="zh-CN" altLang="en-US" sz="1400" dirty="0" smtClean="0"/>
              <a:t>浏览器分析</a:t>
            </a:r>
            <a:r>
              <a:rPr lang="en-US" altLang="zh-CN" sz="1400" dirty="0" smtClean="0"/>
              <a:t>URL</a:t>
            </a:r>
          </a:p>
          <a:p>
            <a:pPr marL="803275" indent="-342900">
              <a:buFont typeface="+mj-lt"/>
              <a:buAutoNum type="arabicPeriod"/>
            </a:pPr>
            <a:r>
              <a:rPr lang="zh-CN" altLang="en-US" sz="1400" dirty="0" smtClean="0"/>
              <a:t>浏</a:t>
            </a:r>
            <a:r>
              <a:rPr lang="zh-CN" altLang="en-US" sz="1400" dirty="0"/>
              <a:t>览</a:t>
            </a:r>
            <a:r>
              <a:rPr lang="zh-CN" altLang="en-US" sz="1400" dirty="0" smtClean="0"/>
              <a:t>器向</a:t>
            </a:r>
            <a:r>
              <a:rPr lang="en-US" altLang="zh-CN" sz="1400" dirty="0" smtClean="0"/>
              <a:t>DNS</a:t>
            </a:r>
            <a:r>
              <a:rPr lang="zh-CN" altLang="en-US" sz="1400" dirty="0" smtClean="0"/>
              <a:t>请求解析</a:t>
            </a:r>
            <a:r>
              <a:rPr lang="en-US" altLang="zh-CN" sz="1400" dirty="0" smtClean="0"/>
              <a:t>URL</a:t>
            </a:r>
            <a:r>
              <a:rPr lang="zh-CN" altLang="en-US" sz="1400" dirty="0" smtClean="0"/>
              <a:t>的</a:t>
            </a:r>
            <a:r>
              <a:rPr lang="en-US" altLang="zh-CN" sz="1400" dirty="0" smtClean="0"/>
              <a:t>IP</a:t>
            </a:r>
            <a:r>
              <a:rPr lang="zh-CN" altLang="en-US" sz="1400" dirty="0" smtClean="0"/>
              <a:t>地址</a:t>
            </a:r>
            <a:endParaRPr lang="en-US" altLang="zh-CN" sz="1400" dirty="0" smtClean="0"/>
          </a:p>
          <a:p>
            <a:pPr marL="803275" indent="-342900">
              <a:buFont typeface="+mj-lt"/>
              <a:buAutoNum type="arabicPeriod"/>
            </a:pPr>
            <a:r>
              <a:rPr lang="en-US" altLang="zh-CN" sz="1400" dirty="0" smtClean="0"/>
              <a:t>DNS</a:t>
            </a:r>
            <a:r>
              <a:rPr lang="zh-CN" altLang="en-US" sz="1400" dirty="0" smtClean="0"/>
              <a:t>将解析出的</a:t>
            </a:r>
            <a:r>
              <a:rPr lang="en-US" altLang="zh-CN" sz="1400" dirty="0" smtClean="0"/>
              <a:t>IP</a:t>
            </a:r>
            <a:r>
              <a:rPr lang="zh-CN" altLang="en-US" sz="1400" dirty="0" smtClean="0"/>
              <a:t>地址返回给浏览器</a:t>
            </a:r>
            <a:endParaRPr lang="en-US" altLang="zh-CN" sz="1400" dirty="0" smtClean="0"/>
          </a:p>
          <a:p>
            <a:pPr marL="803275" indent="-342900">
              <a:buFont typeface="+mj-lt"/>
              <a:buAutoNum type="arabicPeriod"/>
            </a:pPr>
            <a:r>
              <a:rPr lang="zh-CN" altLang="en-US" sz="1400" b="1" dirty="0"/>
              <a:t>浏览</a:t>
            </a:r>
            <a:r>
              <a:rPr lang="zh-CN" altLang="en-US" sz="1400" b="1" dirty="0" smtClean="0"/>
              <a:t>器与</a:t>
            </a:r>
            <a:r>
              <a:rPr lang="en-US" altLang="zh-CN" sz="1400" b="1" dirty="0" smtClean="0"/>
              <a:t>web</a:t>
            </a:r>
            <a:r>
              <a:rPr lang="zh-CN" altLang="en-US" sz="1400" b="1" dirty="0" smtClean="0"/>
              <a:t>服务器建立</a:t>
            </a:r>
            <a:r>
              <a:rPr lang="en-US" altLang="zh-CN" sz="1400" b="1" dirty="0" smtClean="0"/>
              <a:t>TCP</a:t>
            </a:r>
            <a:r>
              <a:rPr lang="zh-CN" altLang="en-US" sz="1400" b="1" dirty="0"/>
              <a:t>连接</a:t>
            </a:r>
            <a:r>
              <a:rPr lang="zh-CN" altLang="en-US" sz="1400" b="1" dirty="0" smtClean="0"/>
              <a:t>（</a:t>
            </a:r>
            <a:r>
              <a:rPr lang="en-US" altLang="zh-CN" sz="1400" b="1" dirty="0" smtClean="0"/>
              <a:t>80</a:t>
            </a:r>
            <a:r>
              <a:rPr lang="zh-CN" altLang="en-US" sz="1400" b="1" dirty="0" smtClean="0"/>
              <a:t>端口）</a:t>
            </a:r>
            <a:endParaRPr lang="en-US" altLang="zh-CN" sz="1400" b="1" dirty="0" smtClean="0"/>
          </a:p>
          <a:p>
            <a:pPr marL="803275" indent="-342900">
              <a:buFont typeface="+mj-lt"/>
              <a:buAutoNum type="arabicPeriod"/>
            </a:pPr>
            <a:r>
              <a:rPr lang="zh-CN" altLang="en-US" sz="1400" b="1" dirty="0"/>
              <a:t>浏览</a:t>
            </a:r>
            <a:r>
              <a:rPr lang="zh-CN" altLang="en-US" sz="1400" b="1" dirty="0" smtClean="0"/>
              <a:t>器请求文档：</a:t>
            </a:r>
            <a:r>
              <a:rPr lang="en-US" altLang="zh-CN" sz="1400" b="1" dirty="0" smtClean="0"/>
              <a:t>GET/inde.html</a:t>
            </a:r>
          </a:p>
          <a:p>
            <a:pPr marL="803275" indent="-342900">
              <a:buFont typeface="+mj-lt"/>
              <a:buAutoNum type="arabicPeriod"/>
            </a:pPr>
            <a:r>
              <a:rPr lang="zh-CN" altLang="en-US" sz="1400" b="1" dirty="0"/>
              <a:t>服务器响应，将请求的文档发给浏览器</a:t>
            </a:r>
            <a:endParaRPr lang="en-US" altLang="zh-CN" sz="1400" b="1" dirty="0"/>
          </a:p>
          <a:p>
            <a:pPr marL="803275" indent="-342900">
              <a:buFont typeface="+mj-lt"/>
              <a:buAutoNum type="arabicPeriod"/>
            </a:pPr>
            <a:r>
              <a:rPr lang="zh-CN" altLang="en-US" sz="1400" b="1" dirty="0"/>
              <a:t>释放</a:t>
            </a:r>
            <a:r>
              <a:rPr lang="en-US" altLang="zh-CN" sz="1400" b="1" dirty="0"/>
              <a:t>TCP</a:t>
            </a:r>
            <a:r>
              <a:rPr lang="zh-CN" altLang="en-US" sz="1400" b="1" dirty="0"/>
              <a:t>连接</a:t>
            </a:r>
            <a:endParaRPr lang="en-US" altLang="zh-CN" sz="1400" b="1" dirty="0"/>
          </a:p>
          <a:p>
            <a:pPr marL="803275" indent="-342900">
              <a:buFont typeface="+mj-lt"/>
              <a:buAutoNum type="arabicPeriod"/>
            </a:pPr>
            <a:r>
              <a:rPr lang="zh-CN" altLang="en-US" sz="1400" dirty="0"/>
              <a:t>浏览器显示</a:t>
            </a:r>
            <a:r>
              <a:rPr lang="en-US" altLang="zh-CN" sz="1400" dirty="0"/>
              <a:t>index.html</a:t>
            </a:r>
            <a:r>
              <a:rPr lang="zh-CN" altLang="en-US" sz="1400" dirty="0"/>
              <a:t>中的内容</a:t>
            </a:r>
            <a:endParaRPr lang="en-US" altLang="zh-CN" sz="14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工作原理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altLang="zh-CN" dirty="0"/>
              <a:t>Working Principle</a:t>
            </a:r>
            <a:endParaRPr lang="zh-CN" altLang="en-US" dirty="0"/>
          </a:p>
        </p:txBody>
      </p:sp>
      <p:grpSp>
        <p:nvGrpSpPr>
          <p:cNvPr id="10" name="Group 9"/>
          <p:cNvGrpSpPr/>
          <p:nvPr/>
        </p:nvGrpSpPr>
        <p:grpSpPr>
          <a:xfrm>
            <a:off x="7034734" y="1459384"/>
            <a:ext cx="4482351" cy="4606679"/>
            <a:chOff x="7034734" y="1459384"/>
            <a:chExt cx="4482351" cy="4606679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34734" y="1459384"/>
              <a:ext cx="4482351" cy="4606679"/>
            </a:xfrm>
            <a:prstGeom prst="rect">
              <a:avLst/>
            </a:prstGeom>
          </p:spPr>
        </p:pic>
        <p:sp>
          <p:nvSpPr>
            <p:cNvPr id="8" name="Rectangle 7"/>
            <p:cNvSpPr/>
            <p:nvPr/>
          </p:nvSpPr>
          <p:spPr>
            <a:xfrm>
              <a:off x="7034734" y="1791208"/>
              <a:ext cx="60960" cy="7132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7034734" y="3459987"/>
              <a:ext cx="539546" cy="26060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0203180" y="1719580"/>
              <a:ext cx="955040" cy="1219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888291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zh-CN" altLang="en-US" sz="1800" b="1" dirty="0" smtClean="0"/>
              <a:t>统一资源标识符（</a:t>
            </a:r>
            <a:r>
              <a:rPr lang="en-US" altLang="zh-CN" sz="1800" b="1" dirty="0" smtClean="0"/>
              <a:t>Uniform Resource Identifier</a:t>
            </a:r>
            <a:r>
              <a:rPr lang="zh-CN" altLang="en-US" sz="1800" b="1" dirty="0" smtClean="0"/>
              <a:t>，</a:t>
            </a:r>
            <a:r>
              <a:rPr lang="en-US" altLang="zh-CN" sz="1800" b="1" dirty="0" smtClean="0"/>
              <a:t>URI</a:t>
            </a:r>
            <a:r>
              <a:rPr lang="zh-CN" altLang="en-US" sz="1800" b="1" dirty="0" smtClean="0"/>
              <a:t>）</a:t>
            </a:r>
            <a:endParaRPr lang="en-US" altLang="zh-CN" sz="1800" b="1" dirty="0" smtClean="0"/>
          </a:p>
          <a:p>
            <a:r>
              <a:rPr lang="zh-CN" altLang="en-US" sz="1800" dirty="0" smtClean="0"/>
              <a:t>用于标识资源的字符串</a:t>
            </a:r>
            <a:endParaRPr lang="en-US" altLang="zh-CN" sz="1800" dirty="0" smtClean="0"/>
          </a:p>
          <a:p>
            <a:pPr lvl="1"/>
            <a:endParaRPr lang="en-US" altLang="zh-CN" sz="1400" dirty="0" smtClean="0"/>
          </a:p>
          <a:p>
            <a:pPr lvl="1"/>
            <a:r>
              <a:rPr lang="zh-CN" altLang="en-US" sz="1400" b="1" dirty="0" smtClean="0"/>
              <a:t>统</a:t>
            </a:r>
            <a:r>
              <a:rPr lang="zh-CN" altLang="en-US" sz="1400" b="1" dirty="0"/>
              <a:t>一资</a:t>
            </a:r>
            <a:r>
              <a:rPr lang="zh-CN" altLang="en-US" sz="1400" b="1" dirty="0" smtClean="0"/>
              <a:t>源定位符（</a:t>
            </a:r>
            <a:r>
              <a:rPr lang="en-US" altLang="zh-CN" sz="1400" b="1" dirty="0"/>
              <a:t>Uniform Resource </a:t>
            </a:r>
            <a:r>
              <a:rPr lang="en-US" altLang="zh-CN" sz="1400" b="1" dirty="0" smtClean="0"/>
              <a:t>Locator</a:t>
            </a:r>
            <a:r>
              <a:rPr lang="zh-CN" altLang="en-US" sz="1400" b="1" dirty="0" smtClean="0"/>
              <a:t>，</a:t>
            </a:r>
            <a:r>
              <a:rPr lang="en-US" altLang="zh-CN" sz="1400" b="1" dirty="0" smtClean="0"/>
              <a:t>URL</a:t>
            </a:r>
            <a:r>
              <a:rPr lang="zh-CN" altLang="en-US" sz="1400" b="1" dirty="0" smtClean="0"/>
              <a:t>）</a:t>
            </a:r>
            <a:endParaRPr lang="en-US" altLang="zh-CN" sz="1400" b="1" dirty="0" smtClean="0"/>
          </a:p>
          <a:p>
            <a:pPr lvl="1"/>
            <a:r>
              <a:rPr lang="zh-CN" altLang="en-US" sz="1400" dirty="0" smtClean="0"/>
              <a:t>资源的路径地址</a:t>
            </a:r>
            <a:endParaRPr lang="en-US" altLang="zh-CN" sz="1400" dirty="0" smtClean="0"/>
          </a:p>
          <a:p>
            <a:pPr lvl="1"/>
            <a:endParaRPr lang="en-US" altLang="zh-CN" sz="1400" dirty="0"/>
          </a:p>
          <a:p>
            <a:pPr lvl="1"/>
            <a:r>
              <a:rPr lang="zh-CN" altLang="en-US" sz="1400" b="1" dirty="0" smtClean="0"/>
              <a:t>统</a:t>
            </a:r>
            <a:r>
              <a:rPr lang="zh-CN" altLang="en-US" sz="1400" b="1" dirty="0"/>
              <a:t>一资</a:t>
            </a:r>
            <a:r>
              <a:rPr lang="zh-CN" altLang="en-US" sz="1400" b="1" dirty="0" smtClean="0"/>
              <a:t>源名称（</a:t>
            </a:r>
            <a:r>
              <a:rPr lang="en-US" altLang="zh-CN" sz="1400" b="1" dirty="0"/>
              <a:t>Uniform Resource </a:t>
            </a:r>
            <a:r>
              <a:rPr lang="en-US" altLang="zh-CN" sz="1400" b="1" dirty="0" smtClean="0"/>
              <a:t>Name</a:t>
            </a:r>
            <a:r>
              <a:rPr lang="zh-CN" altLang="en-US" sz="1400" b="1" dirty="0" smtClean="0"/>
              <a:t>，</a:t>
            </a:r>
            <a:r>
              <a:rPr lang="en-US" altLang="zh-CN" sz="1400" b="1" dirty="0" smtClean="0"/>
              <a:t>URN</a:t>
            </a:r>
            <a:r>
              <a:rPr lang="zh-CN" altLang="en-US" sz="1400" b="1" dirty="0" smtClean="0"/>
              <a:t>）</a:t>
            </a:r>
            <a:endParaRPr lang="en-US" altLang="zh-CN" sz="1400" b="1" dirty="0"/>
          </a:p>
          <a:p>
            <a:pPr lvl="1"/>
            <a:r>
              <a:rPr lang="zh-CN" altLang="en-US" sz="1400" dirty="0" smtClean="0"/>
              <a:t>资源的名称</a:t>
            </a:r>
            <a:endParaRPr lang="en-US" altLang="zh-CN" sz="1400" dirty="0" smtClean="0"/>
          </a:p>
          <a:p>
            <a:pPr lvl="1"/>
            <a:endParaRPr lang="en-US" altLang="zh-CN" sz="1400" dirty="0"/>
          </a:p>
          <a:p>
            <a:pPr marL="228600" lvl="1">
              <a:spcBef>
                <a:spcPts val="1000"/>
              </a:spcBef>
            </a:pPr>
            <a:r>
              <a:rPr lang="en-US" altLang="zh-CN" sz="1800" dirty="0" smtClean="0"/>
              <a:t>URI</a:t>
            </a:r>
            <a:r>
              <a:rPr lang="zh-CN" altLang="en-US" sz="1800" dirty="0"/>
              <a:t>可以分为</a:t>
            </a:r>
            <a:r>
              <a:rPr lang="en-US" altLang="zh-CN" sz="1800" dirty="0"/>
              <a:t>URL,URN</a:t>
            </a:r>
            <a:r>
              <a:rPr lang="zh-CN" altLang="en-US" sz="1800" dirty="0"/>
              <a:t>或同时具备</a:t>
            </a:r>
            <a:r>
              <a:rPr lang="en-US" altLang="zh-CN" sz="1800" dirty="0"/>
              <a:t>locators </a:t>
            </a:r>
            <a:r>
              <a:rPr lang="zh-CN" altLang="en-US" sz="1800" dirty="0"/>
              <a:t>和</a:t>
            </a:r>
            <a:r>
              <a:rPr lang="en-US" altLang="zh-CN" sz="1800" dirty="0"/>
              <a:t>names</a:t>
            </a:r>
            <a:r>
              <a:rPr lang="zh-CN" altLang="en-US" sz="1800" dirty="0"/>
              <a:t>特性</a:t>
            </a:r>
            <a:r>
              <a:rPr lang="zh-CN" altLang="en-US" sz="1800" dirty="0" smtClean="0"/>
              <a:t>的东</a:t>
            </a:r>
            <a:r>
              <a:rPr lang="zh-CN" altLang="en-US" sz="1800" dirty="0"/>
              <a:t>西。</a:t>
            </a:r>
            <a:r>
              <a:rPr lang="en-US" altLang="zh-CN" sz="1800" dirty="0"/>
              <a:t>URN</a:t>
            </a:r>
            <a:r>
              <a:rPr lang="zh-CN" altLang="en-US" sz="1800" dirty="0"/>
              <a:t>作用就好像一个人的名字，</a:t>
            </a:r>
            <a:r>
              <a:rPr lang="en-US" altLang="zh-CN" sz="1800" dirty="0"/>
              <a:t>URL</a:t>
            </a:r>
            <a:r>
              <a:rPr lang="zh-CN" altLang="en-US" sz="1800" dirty="0"/>
              <a:t>就像一个人的地址。换句话说：</a:t>
            </a:r>
            <a:r>
              <a:rPr lang="en-US" altLang="zh-CN" sz="1800" dirty="0"/>
              <a:t>URN</a:t>
            </a:r>
            <a:r>
              <a:rPr lang="zh-CN" altLang="en-US" sz="1800" dirty="0"/>
              <a:t>确定了东西的身份，</a:t>
            </a:r>
            <a:r>
              <a:rPr lang="en-US" altLang="zh-CN" sz="1800" dirty="0"/>
              <a:t>URL</a:t>
            </a:r>
            <a:r>
              <a:rPr lang="zh-CN" altLang="en-US" sz="1800" dirty="0"/>
              <a:t>提供了找到它的方</a:t>
            </a:r>
            <a:r>
              <a:rPr lang="zh-CN" altLang="en-US" sz="1800" dirty="0" smtClean="0"/>
              <a:t>式。        </a:t>
            </a:r>
            <a:r>
              <a:rPr lang="en-US" altLang="zh-CN" sz="1800" dirty="0" smtClean="0"/>
              <a:t>——</a:t>
            </a:r>
            <a:r>
              <a:rPr lang="zh-CN" altLang="en-US" sz="1800" dirty="0" smtClean="0"/>
              <a:t>维基百科</a:t>
            </a:r>
            <a:endParaRPr lang="en-US" altLang="zh-CN" sz="1800" dirty="0"/>
          </a:p>
          <a:p>
            <a:pPr algn="r"/>
            <a:endParaRPr lang="en-US" altLang="zh-CN" sz="1800" dirty="0" smtClean="0"/>
          </a:p>
          <a:p>
            <a:endParaRPr lang="en-US" altLang="zh-CN" sz="18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工作原理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altLang="zh-CN" dirty="0"/>
              <a:t>Working Principle</a:t>
            </a:r>
            <a:endParaRPr lang="zh-CN" alt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5397" y="2277608"/>
            <a:ext cx="2044716" cy="1226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62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工作原理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altLang="zh-CN" dirty="0"/>
              <a:t>Working Principle</a:t>
            </a:r>
            <a:endParaRPr lang="zh-CN" altLang="en-US" dirty="0"/>
          </a:p>
        </p:txBody>
      </p:sp>
      <p:grpSp>
        <p:nvGrpSpPr>
          <p:cNvPr id="6" name="Group 5"/>
          <p:cNvGrpSpPr/>
          <p:nvPr/>
        </p:nvGrpSpPr>
        <p:grpSpPr>
          <a:xfrm>
            <a:off x="8276293" y="1628776"/>
            <a:ext cx="3240792" cy="4437287"/>
            <a:chOff x="8276293" y="1628776"/>
            <a:chExt cx="3240792" cy="4437287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76293" y="1628776"/>
              <a:ext cx="3240792" cy="4437287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8276293" y="3459988"/>
              <a:ext cx="346499" cy="26060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内容占位符 1"/>
          <p:cNvSpPr>
            <a:spLocks noGrp="1"/>
          </p:cNvSpPr>
          <p:nvPr>
            <p:ph sz="half" idx="1"/>
          </p:nvPr>
        </p:nvSpPr>
        <p:spPr>
          <a:xfrm>
            <a:off x="608520" y="1273628"/>
            <a:ext cx="6331775" cy="4792435"/>
          </a:xfrm>
        </p:spPr>
        <p:txBody>
          <a:bodyPr>
            <a:normAutofit/>
          </a:bodyPr>
          <a:lstStyle/>
          <a:p>
            <a:r>
              <a:rPr lang="zh-CN" altLang="en-US" sz="1800" b="1" dirty="0" smtClean="0"/>
              <a:t>连接方式和无状态性</a:t>
            </a:r>
            <a:endParaRPr lang="en-US" altLang="zh-CN" sz="1800" b="1" dirty="0" smtClean="0"/>
          </a:p>
          <a:p>
            <a:r>
              <a:rPr lang="zh-CN" altLang="en-US" sz="1800" dirty="0" smtClean="0"/>
              <a:t>非持久性连接</a:t>
            </a:r>
            <a:endParaRPr lang="en-US" altLang="zh-CN" sz="1800" dirty="0" smtClean="0"/>
          </a:p>
          <a:p>
            <a:pPr lvl="1"/>
            <a:r>
              <a:rPr lang="zh-CN" altLang="en-US" sz="1400" dirty="0"/>
              <a:t>浏览</a:t>
            </a:r>
            <a:r>
              <a:rPr lang="zh-CN" altLang="en-US" sz="1400" dirty="0" smtClean="0"/>
              <a:t>器每请求一个</a:t>
            </a:r>
            <a:r>
              <a:rPr lang="en-US" altLang="zh-CN" sz="1400" dirty="0" smtClean="0"/>
              <a:t>web</a:t>
            </a:r>
            <a:r>
              <a:rPr lang="zh-CN" altLang="en-US" sz="1400" dirty="0" smtClean="0"/>
              <a:t>文档，就创建一个新的连接，文档传输完毕后，连接立刻被释放。</a:t>
            </a:r>
            <a:endParaRPr lang="en-US" altLang="zh-CN" sz="1400" dirty="0" smtClean="0"/>
          </a:p>
          <a:p>
            <a:pPr lvl="1"/>
            <a:r>
              <a:rPr lang="en-US" altLang="zh-CN" sz="1400" dirty="0" smtClean="0"/>
              <a:t>HTTP/0.9, HTTP/1.0</a:t>
            </a:r>
            <a:r>
              <a:rPr lang="zh-CN" altLang="en-US" sz="1400" dirty="0" smtClean="0"/>
              <a:t>采用这种连接方式</a:t>
            </a:r>
            <a:endParaRPr lang="en-US" altLang="zh-CN" sz="1400" dirty="0" smtClean="0"/>
          </a:p>
          <a:p>
            <a:pPr lvl="1"/>
            <a:r>
              <a:rPr lang="zh-CN" altLang="en-US" sz="1400" dirty="0"/>
              <a:t>对</a:t>
            </a:r>
            <a:r>
              <a:rPr lang="zh-CN" altLang="en-US" sz="1400" dirty="0" smtClean="0"/>
              <a:t>于请求的</a:t>
            </a:r>
            <a:r>
              <a:rPr lang="en-US" altLang="zh-CN" sz="1400" dirty="0" smtClean="0"/>
              <a:t>web</a:t>
            </a:r>
            <a:r>
              <a:rPr lang="zh-CN" altLang="en-US" sz="1400" dirty="0" smtClean="0"/>
              <a:t>中包含多个其他文档对象（如图像、声音、视频等）的链接的情况，由于请求每个链接对应的文档都需要创建新连接，效率较低</a:t>
            </a:r>
            <a:endParaRPr lang="en-US" altLang="zh-CN" sz="1400" dirty="0" smtClean="0"/>
          </a:p>
          <a:p>
            <a:pPr lvl="1"/>
            <a:endParaRPr lang="en-US" altLang="zh-CN" sz="1400" dirty="0" smtClean="0"/>
          </a:p>
          <a:p>
            <a:pPr lvl="0"/>
            <a:r>
              <a:rPr lang="zh-CN" altLang="en-US" sz="1800" dirty="0" smtClean="0"/>
              <a:t>持</a:t>
            </a:r>
            <a:r>
              <a:rPr lang="zh-CN" altLang="en-US" sz="1800" dirty="0"/>
              <a:t>久性连接</a:t>
            </a:r>
            <a:endParaRPr lang="en-US" altLang="zh-CN" sz="1800" dirty="0"/>
          </a:p>
          <a:p>
            <a:pPr lvl="1"/>
            <a:r>
              <a:rPr lang="zh-CN" altLang="en-US" sz="1400" dirty="0" smtClean="0"/>
              <a:t>在一个连接中，可以进行多次文档的请求和响应。服务器在发送完响应后，并不立即释放链接，浏览器可以使用该链接继续请求其他文档。链接保持的时间可以由双方协商</a:t>
            </a:r>
            <a:endParaRPr lang="en-US" altLang="zh-CN" sz="1400" dirty="0" smtClean="0"/>
          </a:p>
          <a:p>
            <a:pPr lvl="1"/>
            <a:endParaRPr lang="en-US" altLang="zh-CN" sz="1400" dirty="0" smtClean="0"/>
          </a:p>
          <a:p>
            <a:pPr lvl="0"/>
            <a:r>
              <a:rPr lang="zh-CN" altLang="en-US" sz="1800" dirty="0"/>
              <a:t>持久性连接</a:t>
            </a:r>
            <a:endParaRPr lang="en-US" altLang="zh-CN" sz="1800" dirty="0"/>
          </a:p>
          <a:p>
            <a:pPr lvl="1"/>
            <a:r>
              <a:rPr lang="zh-CN" altLang="en-US" sz="1400" dirty="0" smtClean="0"/>
              <a:t>一个客户端</a:t>
            </a:r>
            <a:r>
              <a:rPr lang="zh-CN" altLang="en-US" sz="1400" dirty="0"/>
              <a:t>第二</a:t>
            </a:r>
            <a:r>
              <a:rPr lang="zh-CN" altLang="en-US" sz="1400" dirty="0" smtClean="0"/>
              <a:t>次访问同一个</a:t>
            </a:r>
            <a:r>
              <a:rPr lang="en-US" altLang="zh-CN" sz="1400" dirty="0" smtClean="0"/>
              <a:t>web</a:t>
            </a:r>
            <a:r>
              <a:rPr lang="zh-CN" altLang="en-US" sz="1400" dirty="0" smtClean="0"/>
              <a:t>服务器上的页面时，服务器无法知道该客户端曾访问过。</a:t>
            </a:r>
            <a:endParaRPr lang="en-US" altLang="zh-CN" sz="1400" dirty="0" smtClean="0"/>
          </a:p>
        </p:txBody>
      </p:sp>
    </p:spTree>
    <p:extLst>
      <p:ext uri="{BB962C8B-B14F-4D97-AF65-F5344CB8AC3E}">
        <p14:creationId xmlns:p14="http://schemas.microsoft.com/office/powerpoint/2010/main" val="2359979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报文格式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 smtClean="0"/>
              <a:t>Message Format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60481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zh-CN" altLang="en-US" sz="1800" b="1" dirty="0" smtClean="0"/>
              <a:t>请求报文</a:t>
            </a:r>
            <a:endParaRPr lang="en-US" altLang="zh-CN" sz="1800" b="1" dirty="0" smtClean="0"/>
          </a:p>
          <a:p>
            <a:endParaRPr lang="en-US" altLang="zh-CN" sz="1800" b="1" dirty="0" smtClean="0"/>
          </a:p>
          <a:p>
            <a:endParaRPr lang="en-US" altLang="zh-CN" sz="1800" b="1" dirty="0"/>
          </a:p>
          <a:p>
            <a:endParaRPr lang="en-US" altLang="zh-CN" sz="1800" b="1" dirty="0" smtClean="0"/>
          </a:p>
          <a:p>
            <a:r>
              <a:rPr lang="zh-CN" altLang="en-US" sz="1800" dirty="0" smtClean="0"/>
              <a:t>请求方法</a:t>
            </a:r>
            <a:endParaRPr lang="en-US" altLang="zh-CN" sz="1800" dirty="0"/>
          </a:p>
          <a:p>
            <a:endParaRPr lang="en-US" altLang="zh-CN" sz="1800" b="1" dirty="0" smtClean="0"/>
          </a:p>
          <a:p>
            <a:endParaRPr lang="en-US" altLang="zh-CN" sz="1800" b="1" dirty="0"/>
          </a:p>
          <a:p>
            <a:endParaRPr lang="en-US" altLang="zh-CN" sz="1800" b="1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报</a:t>
            </a:r>
            <a:r>
              <a:rPr lang="zh-CN" altLang="en-US" dirty="0" smtClean="0"/>
              <a:t>文格式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altLang="zh-CN" dirty="0" smtClean="0"/>
              <a:t>Message Format</a:t>
            </a:r>
            <a:endParaRPr lang="en-US" altLang="zh-C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3476" y="1466712"/>
            <a:ext cx="4438650" cy="1571625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5507576"/>
              </p:ext>
            </p:extLst>
          </p:nvPr>
        </p:nvGraphicFramePr>
        <p:xfrm>
          <a:off x="608521" y="3231421"/>
          <a:ext cx="10908562" cy="2956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3324">
                  <a:extLst>
                    <a:ext uri="{9D8B030D-6E8A-4147-A177-3AD203B41FA5}">
                      <a16:colId xmlns:a16="http://schemas.microsoft.com/office/drawing/2014/main" val="3699900512"/>
                    </a:ext>
                  </a:extLst>
                </a:gridCol>
                <a:gridCol w="9745238">
                  <a:extLst>
                    <a:ext uri="{9D8B030D-6E8A-4147-A177-3AD203B41FA5}">
                      <a16:colId xmlns:a16="http://schemas.microsoft.com/office/drawing/2014/main" val="182384034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i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方法</a:t>
                      </a:r>
                      <a:endParaRPr lang="zh-CN" altLang="en-US" sz="1400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i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描述</a:t>
                      </a:r>
                      <a:endParaRPr lang="zh-CN" altLang="en-US" sz="1400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277625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GET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请求指定的页面信息，并返回实体主体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311740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HEAD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类似于</a:t>
                      </a:r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get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请求，只不过返回的响应中没有具体的内容，用于获取报头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964982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POST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向指定资源提交数据进行处理请求（例如提交表单或者上传文件）。数据被包含在请求体中。</a:t>
                      </a:r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POST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请求可能会导致新的资源的建立和</a:t>
                      </a:r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或已有资源的修改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305813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PUT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从客户端向服务器传送的数据取代指定的文档的内容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059577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DELETE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请求服务器删除指定的页面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751993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CONNECT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HTTP/1.1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协议中预留给能够将连接改为管道方式的代理服务器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442676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OPTION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允许客户端查看服务器的性能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033772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TRACE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回显服务器收到的请求，主要用于测试或诊断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2516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7572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zh-CN" altLang="en-US" sz="1800" b="1" dirty="0" smtClean="0"/>
              <a:t>请求报文</a:t>
            </a:r>
            <a:endParaRPr lang="en-US" altLang="zh-CN" sz="1800" b="1" dirty="0" smtClean="0"/>
          </a:p>
          <a:p>
            <a:endParaRPr lang="en-US" altLang="zh-CN" sz="1800" b="1" dirty="0" smtClean="0"/>
          </a:p>
          <a:p>
            <a:endParaRPr lang="en-US" altLang="zh-CN" sz="1800" b="1" dirty="0"/>
          </a:p>
          <a:p>
            <a:endParaRPr lang="en-US" altLang="zh-CN" sz="1800" b="1" dirty="0" smtClean="0"/>
          </a:p>
          <a:p>
            <a:r>
              <a:rPr lang="zh-CN" altLang="en-US" sz="1800" dirty="0" smtClean="0"/>
              <a:t>请求头</a:t>
            </a:r>
            <a:r>
              <a:rPr lang="zh-CN" altLang="en-US" sz="1800" dirty="0" smtClean="0"/>
              <a:t>部字段名</a:t>
            </a:r>
            <a:endParaRPr lang="en-US" altLang="zh-CN" sz="1800" dirty="0"/>
          </a:p>
          <a:p>
            <a:endParaRPr lang="en-US" altLang="zh-CN" sz="1800" b="1" dirty="0" smtClean="0"/>
          </a:p>
          <a:p>
            <a:endParaRPr lang="en-US" altLang="zh-CN" sz="1800" b="1" dirty="0"/>
          </a:p>
          <a:p>
            <a:endParaRPr lang="en-US" altLang="zh-CN" sz="1800" b="1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报</a:t>
            </a:r>
            <a:r>
              <a:rPr lang="zh-CN" altLang="en-US" dirty="0" smtClean="0"/>
              <a:t>文格式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altLang="zh-CN" dirty="0" smtClean="0"/>
              <a:t>Message Format</a:t>
            </a:r>
            <a:endParaRPr lang="en-US" altLang="zh-C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3476" y="1466712"/>
            <a:ext cx="4438650" cy="1571625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33339"/>
              </p:ext>
            </p:extLst>
          </p:nvPr>
        </p:nvGraphicFramePr>
        <p:xfrm>
          <a:off x="362628" y="3433651"/>
          <a:ext cx="11400346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1609">
                  <a:extLst>
                    <a:ext uri="{9D8B030D-6E8A-4147-A177-3AD203B41FA5}">
                      <a16:colId xmlns:a16="http://schemas.microsoft.com/office/drawing/2014/main" val="3699900512"/>
                    </a:ext>
                  </a:extLst>
                </a:gridCol>
                <a:gridCol w="6766943">
                  <a:extLst>
                    <a:ext uri="{9D8B030D-6E8A-4147-A177-3AD203B41FA5}">
                      <a16:colId xmlns:a16="http://schemas.microsoft.com/office/drawing/2014/main" val="1823840340"/>
                    </a:ext>
                  </a:extLst>
                </a:gridCol>
                <a:gridCol w="3431794">
                  <a:extLst>
                    <a:ext uri="{9D8B030D-6E8A-4147-A177-3AD203B41FA5}">
                      <a16:colId xmlns:a16="http://schemas.microsoft.com/office/drawing/2014/main" val="2088758223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字段名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描述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示例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58033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Accept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指定客户端能够接收的内容类型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Accept: text/plain, text/html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311740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Connection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表示是否需要长连接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Connection: close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964982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Cookie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HTTP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请求发送时，会把保存在该请求域名下的所有</a:t>
                      </a:r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cookie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值一起发送给</a:t>
                      </a:r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web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服务器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Cookie: $Version=1; Skin=new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305813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Date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请求发送的日期和时间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Date: Tue, 15 </a:t>
                      </a:r>
                      <a:r>
                        <a:rPr lang="fr-FR" altLang="zh-CN" sz="1400" dirty="0" err="1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Nov</a:t>
                      </a:r>
                      <a:r>
                        <a:rPr lang="fr-FR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2010 08:12:31 GMT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059577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Range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只请求实体的一部分，指定范围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Range: bytes=500-999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751993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Host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指定请求的服务器的域名和端口号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Host: www.zcmhi.com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442676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User-Agent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User-Agent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的内容包含发出请求的用户信息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User-Agent: Mozilla/5.0 (Linux; X11)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03377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7725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zh-CN" altLang="en-US" sz="1800" b="1" dirty="0"/>
              <a:t>响应</a:t>
            </a:r>
            <a:r>
              <a:rPr lang="zh-CN" altLang="en-US" sz="1800" b="1" dirty="0" smtClean="0"/>
              <a:t>报文</a:t>
            </a:r>
            <a:endParaRPr lang="en-US" altLang="zh-CN" sz="1800" b="1" dirty="0" smtClean="0"/>
          </a:p>
          <a:p>
            <a:endParaRPr lang="en-US" altLang="zh-CN" sz="1800" b="1" dirty="0" smtClean="0"/>
          </a:p>
          <a:p>
            <a:endParaRPr lang="en-US" altLang="zh-CN" sz="1800" b="1" dirty="0"/>
          </a:p>
          <a:p>
            <a:endParaRPr lang="en-US" altLang="zh-CN" sz="1800" b="1" dirty="0" smtClean="0"/>
          </a:p>
          <a:p>
            <a:r>
              <a:rPr lang="zh-CN" altLang="en-US" sz="1800" dirty="0" smtClean="0"/>
              <a:t>响应状</a:t>
            </a:r>
            <a:r>
              <a:rPr lang="zh-CN" altLang="en-US" sz="1800" dirty="0"/>
              <a:t>态</a:t>
            </a:r>
            <a:r>
              <a:rPr lang="zh-CN" altLang="en-US" sz="1800" dirty="0" smtClean="0"/>
              <a:t>码 </a:t>
            </a:r>
            <a:endParaRPr lang="en-US" altLang="zh-CN" sz="1800" dirty="0"/>
          </a:p>
          <a:p>
            <a:endParaRPr lang="en-US" altLang="zh-CN" sz="1800" b="1" dirty="0" smtClean="0"/>
          </a:p>
          <a:p>
            <a:endParaRPr lang="en-US" altLang="zh-CN" sz="1800" b="1" dirty="0"/>
          </a:p>
          <a:p>
            <a:endParaRPr lang="en-US" altLang="zh-CN" sz="1800" b="1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报</a:t>
            </a:r>
            <a:r>
              <a:rPr lang="zh-CN" altLang="en-US" dirty="0" smtClean="0"/>
              <a:t>文格式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altLang="zh-CN" dirty="0" smtClean="0"/>
              <a:t>Message Format</a:t>
            </a:r>
            <a:endParaRPr lang="en-US" altLang="zh-CN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2268417"/>
              </p:ext>
            </p:extLst>
          </p:nvPr>
        </p:nvGraphicFramePr>
        <p:xfrm>
          <a:off x="325056" y="3330385"/>
          <a:ext cx="491553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0868">
                  <a:extLst>
                    <a:ext uri="{9D8B030D-6E8A-4147-A177-3AD203B41FA5}">
                      <a16:colId xmlns:a16="http://schemas.microsoft.com/office/drawing/2014/main" val="3699900512"/>
                    </a:ext>
                  </a:extLst>
                </a:gridCol>
                <a:gridCol w="4324668">
                  <a:extLst>
                    <a:ext uri="{9D8B030D-6E8A-4147-A177-3AD203B41FA5}">
                      <a16:colId xmlns:a16="http://schemas.microsoft.com/office/drawing/2014/main" val="182384034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i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分类</a:t>
                      </a:r>
                      <a:endParaRPr lang="zh-CN" altLang="en-US" sz="1400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i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分类描述</a:t>
                      </a:r>
                      <a:endParaRPr lang="zh-CN" altLang="en-US" sz="1400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277625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1xx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信息，服务器收到请求，需要请求者继续执行操作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311740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2xx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成功，操作被成功接收并处理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964982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3xx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重定向，需要进一步的操作以完成请求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305813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4xx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客户端错误，请求包含语法错误或无法完成请求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059577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5xx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服务器错误，服务器在处理请求的过程中发生了错误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7519938"/>
                  </a:ext>
                </a:extLst>
              </a:tr>
            </a:tbl>
          </a:graphicData>
        </a:graphic>
      </p:graphicFrame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9" t="12503" b="35148"/>
          <a:stretch/>
        </p:blipFill>
        <p:spPr>
          <a:xfrm>
            <a:off x="3909267" y="1369588"/>
            <a:ext cx="4307069" cy="1565984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644284"/>
              </p:ext>
            </p:extLst>
          </p:nvPr>
        </p:nvGraphicFramePr>
        <p:xfrm>
          <a:off x="5769864" y="3330385"/>
          <a:ext cx="6030685" cy="2346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150">
                  <a:extLst>
                    <a:ext uri="{9D8B030D-6E8A-4147-A177-3AD203B41FA5}">
                      <a16:colId xmlns:a16="http://schemas.microsoft.com/office/drawing/2014/main" val="3699900512"/>
                    </a:ext>
                  </a:extLst>
                </a:gridCol>
                <a:gridCol w="3897535">
                  <a:extLst>
                    <a:ext uri="{9D8B030D-6E8A-4147-A177-3AD203B41FA5}">
                      <a16:colId xmlns:a16="http://schemas.microsoft.com/office/drawing/2014/main" val="182384034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i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常见状态码</a:t>
                      </a:r>
                      <a:r>
                        <a:rPr lang="en-US" altLang="zh-CN" sz="1400" i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</a:t>
                      </a:r>
                      <a:r>
                        <a:rPr lang="zh-CN" altLang="en-US" sz="1400" i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状态码描述</a:t>
                      </a:r>
                      <a:endParaRPr lang="zh-CN" altLang="en-US" sz="1400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i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含义</a:t>
                      </a:r>
                      <a:endParaRPr lang="zh-CN" altLang="en-US" sz="1400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277625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200+OK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客户端请求成功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311740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300+Multiple</a:t>
                      </a:r>
                      <a:r>
                        <a:rPr lang="en-US" altLang="zh-CN" sz="1400" baseline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Choices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客户端请求的</a:t>
                      </a:r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URL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实际指向多个资源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329772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400+Bad Request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客户端请求有语法错误，不能被服务器所理解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964982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403+Forbidden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服务器收到请求，但是拒绝提供服务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305813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404+Not Found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请求资源不存在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059577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503+Server Unavailable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服务器当前不能处理客户端请求，一段时间后可能恢复正常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75199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7822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zh-CN" altLang="en-US" sz="1800" b="1" dirty="0"/>
              <a:t>响应</a:t>
            </a:r>
            <a:r>
              <a:rPr lang="zh-CN" altLang="en-US" sz="1800" b="1" dirty="0" smtClean="0"/>
              <a:t>报文</a:t>
            </a:r>
            <a:endParaRPr lang="en-US" altLang="zh-CN" sz="1800" b="1" dirty="0" smtClean="0"/>
          </a:p>
          <a:p>
            <a:endParaRPr lang="en-US" altLang="zh-CN" sz="1800" b="1" dirty="0" smtClean="0"/>
          </a:p>
          <a:p>
            <a:endParaRPr lang="en-US" altLang="zh-CN" sz="1800" b="1" dirty="0"/>
          </a:p>
          <a:p>
            <a:endParaRPr lang="en-US" altLang="zh-CN" sz="1800" b="1" dirty="0" smtClean="0"/>
          </a:p>
          <a:p>
            <a:r>
              <a:rPr lang="zh-CN" altLang="en-US" sz="1800" dirty="0" smtClean="0"/>
              <a:t>响应头部字段名 </a:t>
            </a:r>
            <a:endParaRPr lang="en-US" altLang="zh-CN" sz="1800" dirty="0"/>
          </a:p>
          <a:p>
            <a:endParaRPr lang="en-US" altLang="zh-CN" sz="1800" b="1" dirty="0" smtClean="0"/>
          </a:p>
          <a:p>
            <a:endParaRPr lang="en-US" altLang="zh-CN" sz="1800" b="1" dirty="0"/>
          </a:p>
          <a:p>
            <a:endParaRPr lang="en-US" altLang="zh-CN" sz="1800" b="1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报</a:t>
            </a:r>
            <a:r>
              <a:rPr lang="zh-CN" altLang="en-US" dirty="0" smtClean="0"/>
              <a:t>文格式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altLang="zh-CN" dirty="0" smtClean="0"/>
              <a:t>Message Format</a:t>
            </a:r>
            <a:endParaRPr lang="en-US" altLang="zh-CN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9" t="12503" b="35148"/>
          <a:stretch/>
        </p:blipFill>
        <p:spPr>
          <a:xfrm>
            <a:off x="3909267" y="1369588"/>
            <a:ext cx="4307069" cy="1565984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0531290"/>
              </p:ext>
            </p:extLst>
          </p:nvPr>
        </p:nvGraphicFramePr>
        <p:xfrm>
          <a:off x="608522" y="3414301"/>
          <a:ext cx="10908564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2610">
                  <a:extLst>
                    <a:ext uri="{9D8B030D-6E8A-4147-A177-3AD203B41FA5}">
                      <a16:colId xmlns:a16="http://schemas.microsoft.com/office/drawing/2014/main" val="3699900512"/>
                    </a:ext>
                  </a:extLst>
                </a:gridCol>
                <a:gridCol w="9445954">
                  <a:extLst>
                    <a:ext uri="{9D8B030D-6E8A-4147-A177-3AD203B41FA5}">
                      <a16:colId xmlns:a16="http://schemas.microsoft.com/office/drawing/2014/main" val="182384034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i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字段名</a:t>
                      </a:r>
                      <a:endParaRPr lang="zh-CN" altLang="en-US" sz="1400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i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描述</a:t>
                      </a:r>
                      <a:endParaRPr lang="zh-CN" altLang="en-US" sz="1400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277625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Age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响应持续时间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311740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Public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服务器为其资源支持的请求方法列表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964982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Retry</a:t>
                      </a:r>
                      <a:r>
                        <a:rPr lang="en-US" altLang="zh-CN" sz="1400" baseline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-After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如果资源不可用的话，在此时间后重试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305813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Server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服务器应用软件的名称版本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059577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Title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</a:t>
                      </a:r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HTML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文档来说，就是</a:t>
                      </a:r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HTML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文档的源端给出的标题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751993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Warning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更详细的警告报文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442676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Accept-Ranges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对此资源来说，服务器可接受的范围类型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03377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6635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zh-CN" altLang="en-US" sz="1800" b="1" dirty="0" smtClean="0"/>
              <a:t>正文实体头部</a:t>
            </a:r>
            <a:endParaRPr lang="en-US" altLang="zh-CN" sz="1800" b="1" dirty="0" smtClean="0"/>
          </a:p>
          <a:p>
            <a:endParaRPr lang="en-US" altLang="zh-CN" sz="1800" b="1" dirty="0" smtClean="0"/>
          </a:p>
          <a:p>
            <a:endParaRPr lang="en-US" altLang="zh-CN" sz="1800" b="1" dirty="0"/>
          </a:p>
          <a:p>
            <a:endParaRPr lang="en-US" altLang="zh-CN" sz="1800" b="1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报</a:t>
            </a:r>
            <a:r>
              <a:rPr lang="zh-CN" altLang="en-US" dirty="0" smtClean="0"/>
              <a:t>文格式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altLang="zh-CN" dirty="0" smtClean="0"/>
              <a:t>Message Format</a:t>
            </a:r>
            <a:endParaRPr lang="en-US" altLang="zh-CN" dirty="0"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3830708"/>
              </p:ext>
            </p:extLst>
          </p:nvPr>
        </p:nvGraphicFramePr>
        <p:xfrm>
          <a:off x="608522" y="2134141"/>
          <a:ext cx="10970907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953">
                  <a:extLst>
                    <a:ext uri="{9D8B030D-6E8A-4147-A177-3AD203B41FA5}">
                      <a16:colId xmlns:a16="http://schemas.microsoft.com/office/drawing/2014/main" val="3699900512"/>
                    </a:ext>
                  </a:extLst>
                </a:gridCol>
                <a:gridCol w="9445954">
                  <a:extLst>
                    <a:ext uri="{9D8B030D-6E8A-4147-A177-3AD203B41FA5}">
                      <a16:colId xmlns:a16="http://schemas.microsoft.com/office/drawing/2014/main" val="182384034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i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首部</a:t>
                      </a:r>
                      <a:endParaRPr lang="zh-CN" altLang="en-US" sz="1400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i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描述</a:t>
                      </a:r>
                      <a:endParaRPr lang="zh-CN" altLang="en-US" sz="1400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277625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Allow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可对此实体执行的请求方法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311740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Location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告知客户端实体实际上位于何处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964982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Content-Type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这个主体的对象类型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305813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Content-Range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在整个资源中，此实体表示的字节范围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059577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altLang="zh-CN" sz="1400" dirty="0" err="1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Etag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与此实体相关的实体标记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751993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Expires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实体不再有效，要从原始的源端再次获取此实体的日期和时间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442676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Last-Modified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该实体的最后一次被修改的日期和时间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03377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5668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抓包分析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 smtClean="0"/>
              <a:t>Capture A	</a:t>
            </a:r>
            <a:r>
              <a:rPr lang="en-US" altLang="zh-CN" dirty="0" err="1" smtClean="0"/>
              <a:t>nalyzation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03239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1"/>
          </p:nvPr>
        </p:nvSpPr>
        <p:spPr>
          <a:xfrm>
            <a:off x="608520" y="1273628"/>
            <a:ext cx="10908565" cy="4971724"/>
          </a:xfrm>
        </p:spPr>
        <p:txBody>
          <a:bodyPr>
            <a:normAutofit/>
          </a:bodyPr>
          <a:lstStyle/>
          <a:p>
            <a:r>
              <a:rPr lang="zh-CN" altLang="en-US" sz="1800" b="1" dirty="0"/>
              <a:t>打</a:t>
            </a:r>
            <a:r>
              <a:rPr lang="zh-CN" altLang="en-US" sz="1800" b="1" dirty="0" smtClean="0"/>
              <a:t>开</a:t>
            </a:r>
            <a:r>
              <a:rPr lang="en-US" altLang="zh-CN" sz="1800" b="1" dirty="0" smtClean="0"/>
              <a:t>IE</a:t>
            </a:r>
            <a:r>
              <a:rPr lang="zh-CN" altLang="en-US" sz="1800" b="1" dirty="0" smtClean="0"/>
              <a:t>浏览器，输入</a:t>
            </a:r>
            <a:r>
              <a:rPr lang="en-US" altLang="zh-CN" sz="1800" b="1" dirty="0" smtClean="0"/>
              <a:t>104.193.88.77</a:t>
            </a:r>
            <a:r>
              <a:rPr lang="zh-CN" altLang="en-US" sz="1800" b="1" dirty="0" smtClean="0"/>
              <a:t>，访问</a:t>
            </a:r>
            <a:endParaRPr lang="en-US" altLang="zh-CN" sz="1800" b="1" dirty="0" smtClean="0"/>
          </a:p>
          <a:p>
            <a:endParaRPr lang="en-US" altLang="zh-CN" sz="1800" b="1" dirty="0" smtClean="0"/>
          </a:p>
          <a:p>
            <a:endParaRPr lang="en-US" altLang="zh-CN" sz="1800" b="1" dirty="0"/>
          </a:p>
          <a:p>
            <a:endParaRPr lang="en-US" altLang="zh-CN" sz="1800" b="1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抓</a:t>
            </a:r>
            <a:r>
              <a:rPr lang="zh-CN" altLang="en-US" dirty="0" smtClean="0"/>
              <a:t>包分析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altLang="zh-CN" dirty="0" smtClean="0"/>
              <a:t>Capture Analyzation</a:t>
            </a:r>
            <a:endParaRPr lang="en-US" altLang="zh-C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2190" y="1648774"/>
            <a:ext cx="4821223" cy="4596578"/>
          </a:xfrm>
          <a:prstGeom prst="rect">
            <a:avLst/>
          </a:prstGeom>
        </p:spPr>
      </p:pic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5370594"/>
              </p:ext>
            </p:extLst>
          </p:nvPr>
        </p:nvGraphicFramePr>
        <p:xfrm>
          <a:off x="608518" y="1816703"/>
          <a:ext cx="64135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Packager Shell Object" showAsIcon="1" r:id="rId4" imgW="641160" imgH="392040" progId="Package">
                  <p:embed/>
                </p:oleObj>
              </mc:Choice>
              <mc:Fallback>
                <p:oleObj name="Packager Shell Object" showAsIcon="1" r:id="rId4" imgW="641160" imgH="39204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08518" y="1816703"/>
                        <a:ext cx="641350" cy="3921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56505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1"/>
          </p:nvPr>
        </p:nvSpPr>
        <p:spPr>
          <a:xfrm>
            <a:off x="608520" y="1273628"/>
            <a:ext cx="10908565" cy="4971724"/>
          </a:xfrm>
        </p:spPr>
        <p:txBody>
          <a:bodyPr>
            <a:normAutofit/>
          </a:bodyPr>
          <a:lstStyle/>
          <a:p>
            <a:r>
              <a:rPr lang="zh-CN" altLang="en-US" sz="1800" b="1" dirty="0"/>
              <a:t>打</a:t>
            </a:r>
            <a:r>
              <a:rPr lang="zh-CN" altLang="en-US" sz="1800" b="1" dirty="0" smtClean="0"/>
              <a:t>开</a:t>
            </a:r>
            <a:r>
              <a:rPr lang="en-US" altLang="zh-CN" sz="1800" b="1" dirty="0" smtClean="0"/>
              <a:t>IE</a:t>
            </a:r>
            <a:r>
              <a:rPr lang="zh-CN" altLang="en-US" sz="1800" b="1" dirty="0" smtClean="0"/>
              <a:t>浏览器，输入</a:t>
            </a:r>
            <a:r>
              <a:rPr lang="en-US" altLang="zh-CN" sz="1800" b="1" dirty="0" smtClean="0"/>
              <a:t>104.193.88.77</a:t>
            </a:r>
            <a:r>
              <a:rPr lang="zh-CN" altLang="en-US" sz="1800" b="1" dirty="0" smtClean="0"/>
              <a:t>，访问</a:t>
            </a:r>
            <a:endParaRPr lang="en-US" altLang="zh-CN" sz="1800" b="1" dirty="0" smtClean="0"/>
          </a:p>
          <a:p>
            <a:endParaRPr lang="en-US" altLang="zh-CN" sz="1800" b="1" dirty="0" smtClean="0"/>
          </a:p>
          <a:p>
            <a:endParaRPr lang="en-US" altLang="zh-CN" sz="1800" b="1" dirty="0"/>
          </a:p>
          <a:p>
            <a:endParaRPr lang="en-US" altLang="zh-CN" sz="1800" b="1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抓</a:t>
            </a:r>
            <a:r>
              <a:rPr lang="zh-CN" altLang="en-US" dirty="0" smtClean="0"/>
              <a:t>包分析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altLang="zh-CN" dirty="0" smtClean="0"/>
              <a:t>Capture Analyzation</a:t>
            </a:r>
            <a:endParaRPr lang="en-US" altLang="zh-C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0554" y="1599622"/>
            <a:ext cx="5104496" cy="4645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116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THANK YOU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60041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1476</TotalTime>
  <Words>1930</Words>
  <Application>Microsoft Office PowerPoint</Application>
  <PresentationFormat>Widescreen</PresentationFormat>
  <Paragraphs>233</Paragraphs>
  <Slides>19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Arial Unicode MS</vt:lpstr>
      <vt:lpstr>宋体</vt:lpstr>
      <vt:lpstr>微软雅黑</vt:lpstr>
      <vt:lpstr>Arial</vt:lpstr>
      <vt:lpstr>Calibri</vt:lpstr>
      <vt:lpstr>Calibri Light</vt:lpstr>
      <vt:lpstr>Wingdings</vt:lpstr>
      <vt:lpstr>Office 主题</vt:lpstr>
      <vt:lpstr>Package</vt:lpstr>
      <vt:lpstr>HTTP 介绍</vt:lpstr>
      <vt:lpstr>概述 工作原理 报文格式  </vt:lpstr>
      <vt:lpstr>概述</vt:lpstr>
      <vt:lpstr>概述</vt:lpstr>
      <vt:lpstr>概述</vt:lpstr>
      <vt:lpstr>工作原理</vt:lpstr>
      <vt:lpstr>工作原理</vt:lpstr>
      <vt:lpstr>工作原理</vt:lpstr>
      <vt:lpstr>工作原理</vt:lpstr>
      <vt:lpstr>报文格式</vt:lpstr>
      <vt:lpstr>报文格式</vt:lpstr>
      <vt:lpstr>报文格式</vt:lpstr>
      <vt:lpstr>报文格式</vt:lpstr>
      <vt:lpstr>报文格式</vt:lpstr>
      <vt:lpstr>报文格式</vt:lpstr>
      <vt:lpstr>抓包分析</vt:lpstr>
      <vt:lpstr>抓包分析</vt:lpstr>
      <vt:lpstr>抓包分析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泛 亚 展 稿 模 版</dc:title>
  <dc:creator>Shaoping Sun</dc:creator>
  <cp:lastModifiedBy>Yu Zhonghao 于钟皓(HE,PATAC)</cp:lastModifiedBy>
  <cp:revision>186</cp:revision>
  <dcterms:created xsi:type="dcterms:W3CDTF">2016-04-15T11:56:07Z</dcterms:created>
  <dcterms:modified xsi:type="dcterms:W3CDTF">2018-12-28T01:56:58Z</dcterms:modified>
</cp:coreProperties>
</file>