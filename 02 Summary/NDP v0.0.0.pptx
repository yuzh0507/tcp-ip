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13" r:id="rId3"/>
    <p:sldId id="257" r:id="rId4"/>
    <p:sldId id="259" r:id="rId5"/>
    <p:sldId id="297" r:id="rId6"/>
    <p:sldId id="305" r:id="rId7"/>
    <p:sldId id="303" r:id="rId8"/>
    <p:sldId id="306" r:id="rId9"/>
    <p:sldId id="302" r:id="rId10"/>
    <p:sldId id="307" r:id="rId11"/>
    <p:sldId id="304" r:id="rId12"/>
    <p:sldId id="296" r:id="rId13"/>
    <p:sldId id="291" r:id="rId14"/>
    <p:sldId id="292" r:id="rId15"/>
    <p:sldId id="298" r:id="rId16"/>
    <p:sldId id="299" r:id="rId17"/>
    <p:sldId id="266" r:id="rId18"/>
    <p:sldId id="271" r:id="rId19"/>
    <p:sldId id="267" r:id="rId20"/>
    <p:sldId id="280" r:id="rId21"/>
    <p:sldId id="293" r:id="rId22"/>
    <p:sldId id="308" r:id="rId23"/>
    <p:sldId id="309" r:id="rId24"/>
    <p:sldId id="294" r:id="rId25"/>
    <p:sldId id="311" r:id="rId26"/>
    <p:sldId id="295" r:id="rId27"/>
    <p:sldId id="310" r:id="rId28"/>
    <p:sldId id="312" r:id="rId29"/>
    <p:sldId id="26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 Zhonghao 于钟皓(HE,PATAC)" initials="YZ于" lastIdx="1" clrIdx="0">
    <p:extLst>
      <p:ext uri="{19B8F6BF-5375-455C-9EA6-DF929625EA0E}">
        <p15:presenceInfo xmlns:p15="http://schemas.microsoft.com/office/powerpoint/2012/main" userId="S-1-5-21-647455628-603139626-328618392-336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947558" y="3075508"/>
            <a:ext cx="6406242" cy="562737"/>
          </a:xfrm>
        </p:spPr>
        <p:txBody>
          <a:bodyPr>
            <a:noAutofit/>
          </a:bodyPr>
          <a:lstStyle>
            <a:lvl1pPr marL="0" indent="0" algn="l">
              <a:buNone/>
              <a:defRPr sz="340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947558" y="2277694"/>
            <a:ext cx="6406242" cy="765159"/>
          </a:xfrm>
        </p:spPr>
        <p:txBody>
          <a:bodyPr anchor="b">
            <a:noAutofit/>
          </a:bodyPr>
          <a:lstStyle>
            <a:lvl1pPr algn="l">
              <a:defRPr sz="37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E531E82-64DB-449D-B90B-BF00E4CB7395}" type="datetimeFigureOut">
              <a:rPr lang="zh-CN" altLang="en-US" smtClean="0"/>
              <a:t>2018/11/11</a:t>
            </a:fld>
            <a:endParaRPr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DE70D9F-83B0-43BD-B835-7C0078D855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47558" y="3742114"/>
            <a:ext cx="3424171" cy="4216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275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5185646" y="524281"/>
            <a:ext cx="1817268" cy="1055222"/>
            <a:chOff x="5185646" y="1293723"/>
            <a:chExt cx="1817268" cy="1055222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5499868" y="1293723"/>
              <a:ext cx="11888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5185646" y="1825725"/>
              <a:ext cx="1817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 smtClean="0">
                  <a:solidFill>
                    <a:srgbClr val="616163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Content</a:t>
              </a:r>
              <a:endParaRPr lang="zh-CN" altLang="en-US" sz="2800" dirty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40659" y="1800480"/>
            <a:ext cx="3523827" cy="3887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800" b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endParaRPr lang="en-US" altLang="zh-CN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730595" y="1794631"/>
            <a:ext cx="3363685" cy="38790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3200" b="0" baseline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add text</a:t>
            </a:r>
            <a:endParaRPr lang="zh-CN" altLang="en-US" dirty="0"/>
          </a:p>
        </p:txBody>
      </p:sp>
      <p:sp>
        <p:nvSpPr>
          <p:cNvPr id="15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05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171951" y="2920456"/>
            <a:ext cx="6327320" cy="512754"/>
          </a:xfrm>
        </p:spPr>
        <p:txBody>
          <a:bodyPr anchor="b">
            <a:noAutofit/>
          </a:bodyPr>
          <a:lstStyle>
            <a:lvl1pPr algn="r"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4171951" y="3512989"/>
            <a:ext cx="6327320" cy="520168"/>
          </a:xfrm>
        </p:spPr>
        <p:txBody>
          <a:bodyPr>
            <a:noAutofit/>
          </a:bodyPr>
          <a:lstStyle>
            <a:lvl1pPr marL="0" indent="0" algn="r">
              <a:buNone/>
              <a:defRPr sz="320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6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1090856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8520" y="208314"/>
            <a:ext cx="8187896" cy="4143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608520" y="656093"/>
            <a:ext cx="8173261" cy="3216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505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538770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8520" y="208314"/>
            <a:ext cx="8187896" cy="4143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608520" y="656093"/>
            <a:ext cx="8173261" cy="3216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/>
          </p:nvPr>
        </p:nvSpPr>
        <p:spPr>
          <a:xfrm>
            <a:off x="6111249" y="1273628"/>
            <a:ext cx="538770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7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77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2915301"/>
            <a:ext cx="12192000" cy="10273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9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3F572-7296-44CA-B8CF-8C259B54199B}" type="datetimeFigureOut">
              <a:rPr lang="zh-CN" altLang="en-US" smtClean="0"/>
              <a:t>2018/11/11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95F81-0E1E-4C52-979B-3B851EB8B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71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Automotive Ethernet NDP Review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车载以太</a:t>
            </a:r>
            <a:r>
              <a:rPr lang="zh-CN" altLang="en-US" dirty="0" smtClean="0"/>
              <a:t>网</a:t>
            </a:r>
            <a:r>
              <a:rPr lang="en-US" altLang="zh-CN" dirty="0" smtClean="0"/>
              <a:t>NDP</a:t>
            </a:r>
            <a:r>
              <a:rPr lang="zh-CN" altLang="en-US" dirty="0" smtClean="0"/>
              <a:t>协</a:t>
            </a:r>
            <a:r>
              <a:rPr lang="zh-CN" altLang="en-US" dirty="0"/>
              <a:t>议规范总结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2018-11-11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530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版本信息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Version Information</a:t>
            </a:r>
            <a:endParaRPr lang="zh-CN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567820"/>
              </p:ext>
            </p:extLst>
          </p:nvPr>
        </p:nvGraphicFramePr>
        <p:xfrm>
          <a:off x="1626388" y="1480061"/>
          <a:ext cx="8820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234176543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164635210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84375872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61352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版本号</a:t>
                      </a:r>
                      <a:endParaRPr lang="zh-CN" altLang="en-US" sz="1600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更新内容</a:t>
                      </a:r>
                      <a:endParaRPr lang="zh-CN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修改时间</a:t>
                      </a:r>
                      <a:endParaRPr lang="zh-CN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修改人</a:t>
                      </a:r>
                      <a:endParaRPr lang="zh-CN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95578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V0.0.0</a:t>
                      </a:r>
                      <a:endParaRPr lang="zh-CN" alt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释放初版车载以太</a:t>
                      </a: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网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NDP</a:t>
                      </a: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协</a:t>
                      </a: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议规范总结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2018/11/11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于钟皓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45431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08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6240659" y="1800480"/>
            <a:ext cx="4616638" cy="404971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 smtClean="0"/>
              <a:t>Overview</a:t>
            </a:r>
          </a:p>
          <a:p>
            <a:pPr>
              <a:spcBef>
                <a:spcPts val="0"/>
              </a:spcBef>
            </a:pPr>
            <a:r>
              <a:rPr lang="en-US" altLang="zh-CN" sz="2400" dirty="0" smtClean="0"/>
              <a:t>Address </a:t>
            </a:r>
            <a:r>
              <a:rPr lang="en-US" altLang="zh-CN" sz="2400" dirty="0"/>
              <a:t>Resolution</a:t>
            </a:r>
          </a:p>
          <a:p>
            <a:pPr>
              <a:spcBef>
                <a:spcPts val="0"/>
              </a:spcBef>
            </a:pPr>
            <a:r>
              <a:rPr lang="en-US" altLang="zh-CN" sz="2400" dirty="0" smtClean="0"/>
              <a:t>Tracking Neighbor</a:t>
            </a:r>
            <a:r>
              <a:rPr lang="zh-CN" altLang="en-US" sz="2400" dirty="0" smtClean="0"/>
              <a:t>‘</a:t>
            </a:r>
            <a:r>
              <a:rPr lang="en-US" altLang="zh-CN" sz="2400" dirty="0" smtClean="0"/>
              <a:t>s State</a:t>
            </a:r>
          </a:p>
          <a:p>
            <a:pPr>
              <a:spcBef>
                <a:spcPts val="0"/>
              </a:spcBef>
            </a:pPr>
            <a:r>
              <a:rPr lang="en-US" altLang="zh-CN" sz="2400" dirty="0" smtClean="0"/>
              <a:t>Duplicated Address Detection</a:t>
            </a:r>
          </a:p>
          <a:p>
            <a:pPr>
              <a:spcBef>
                <a:spcPts val="0"/>
              </a:spcBef>
            </a:pPr>
            <a:r>
              <a:rPr lang="en-US" altLang="zh-CN" sz="2400" dirty="0" smtClean="0"/>
              <a:t>Router Discovery</a:t>
            </a:r>
          </a:p>
          <a:p>
            <a:pPr>
              <a:spcBef>
                <a:spcPts val="0"/>
              </a:spcBef>
            </a:pPr>
            <a:r>
              <a:rPr lang="en-US" altLang="zh-CN" sz="2400" dirty="0"/>
              <a:t>Address </a:t>
            </a:r>
            <a:r>
              <a:rPr lang="en-US" altLang="zh-CN" sz="2400" dirty="0" err="1" smtClean="0"/>
              <a:t>Autoconfigure</a:t>
            </a:r>
            <a:endParaRPr lang="en-US" altLang="zh-CN" sz="2400" dirty="0" smtClean="0"/>
          </a:p>
          <a:p>
            <a:pPr>
              <a:spcBef>
                <a:spcPts val="0"/>
              </a:spcBef>
            </a:pPr>
            <a:r>
              <a:rPr lang="en-US" altLang="zh-CN" sz="2400" dirty="0" smtClean="0"/>
              <a:t>Redirect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96944" y="1794631"/>
            <a:ext cx="3920462" cy="4055563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概述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zh-CN" altLang="en-US" sz="2400" dirty="0" smtClean="0"/>
              <a:t>地址解析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zh-CN" altLang="en-US" sz="2400" dirty="0"/>
              <a:t>跟踪邻居状态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zh-CN" altLang="en-US" sz="2400" dirty="0" smtClean="0"/>
              <a:t>重复地址检测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zh-CN" altLang="en-US" sz="2400" dirty="0"/>
              <a:t>路由器发</a:t>
            </a:r>
            <a:r>
              <a:rPr lang="zh-CN" altLang="en-US" sz="2400" dirty="0" smtClean="0"/>
              <a:t>现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zh-CN" altLang="en-US" sz="2400" dirty="0" smtClean="0"/>
              <a:t>地址自动配置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zh-CN" altLang="en-US" sz="2400" dirty="0"/>
              <a:t>重定向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1852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6191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/>
              <a:t>IPv6</a:t>
            </a:r>
            <a:r>
              <a:rPr lang="zh-CN" altLang="en-US" sz="1800" dirty="0"/>
              <a:t>中的邻居发现协议（</a:t>
            </a:r>
            <a:r>
              <a:rPr lang="en-US" altLang="zh-CN" sz="1800" dirty="0"/>
              <a:t>Neighbor Discovery Protocol</a:t>
            </a:r>
            <a:r>
              <a:rPr lang="zh-CN" altLang="en-US" sz="1800" dirty="0"/>
              <a:t>，</a:t>
            </a:r>
            <a:r>
              <a:rPr lang="en-US" altLang="zh-CN" sz="1800" dirty="0"/>
              <a:t>NDP</a:t>
            </a:r>
            <a:r>
              <a:rPr lang="zh-CN" altLang="en-US" sz="1800" dirty="0"/>
              <a:t>）将路由器发现和由</a:t>
            </a:r>
            <a:r>
              <a:rPr lang="en-US" altLang="zh-CN" sz="1800" dirty="0"/>
              <a:t>ARP</a:t>
            </a:r>
            <a:r>
              <a:rPr lang="zh-CN" altLang="en-US" sz="1800" dirty="0"/>
              <a:t>提供的带有地址映射功能的</a:t>
            </a:r>
            <a:r>
              <a:rPr lang="en-US" altLang="zh-CN" sz="1800" dirty="0"/>
              <a:t>ICMPv4</a:t>
            </a:r>
            <a:r>
              <a:rPr lang="zh-CN" altLang="en-US" sz="1800" dirty="0"/>
              <a:t>重定向机制结合在一起。与</a:t>
            </a:r>
            <a:r>
              <a:rPr lang="en-US" altLang="zh-CN" sz="1800" dirty="0"/>
              <a:t>ARP</a:t>
            </a:r>
            <a:r>
              <a:rPr lang="zh-CN" altLang="en-US" sz="1800" dirty="0"/>
              <a:t>和</a:t>
            </a:r>
            <a:r>
              <a:rPr lang="en-US" altLang="zh-CN" sz="1800" dirty="0"/>
              <a:t>IPv4</a:t>
            </a:r>
            <a:r>
              <a:rPr lang="zh-CN" altLang="en-US" sz="1800" dirty="0"/>
              <a:t>普遍使用的广播地址不同，</a:t>
            </a:r>
            <a:r>
              <a:rPr lang="en-US" altLang="zh-CN" sz="1800" dirty="0"/>
              <a:t>ICMPv6</a:t>
            </a:r>
            <a:r>
              <a:rPr lang="zh-CN" altLang="en-US" sz="1800" dirty="0"/>
              <a:t>广泛使用组播地址，在网络层和链路层中都使用。</a:t>
            </a:r>
            <a:endParaRPr lang="en-US" altLang="zh-CN" sz="1800" dirty="0" smtClean="0"/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r>
              <a:rPr lang="en-US" altLang="zh-CN" sz="1800" dirty="0" smtClean="0"/>
              <a:t>Type</a:t>
            </a:r>
          </a:p>
          <a:p>
            <a:pPr lvl="1"/>
            <a:r>
              <a:rPr lang="en-US" altLang="zh-CN" sz="1400" dirty="0" smtClean="0"/>
              <a:t>Type = [0,127]</a:t>
            </a:r>
            <a:r>
              <a:rPr lang="zh-CN" altLang="en-US" sz="1400" dirty="0" smtClean="0"/>
              <a:t>：错误报文</a:t>
            </a:r>
            <a:endParaRPr lang="en-US" altLang="zh-CN" sz="1400" dirty="0" smtClean="0"/>
          </a:p>
          <a:p>
            <a:pPr marL="457200" lvl="1" indent="0">
              <a:buNone/>
            </a:pPr>
            <a:r>
              <a:rPr lang="en-US" altLang="zh-CN" sz="1400" dirty="0" smtClean="0"/>
              <a:t>	Type = 1</a:t>
            </a:r>
            <a:r>
              <a:rPr lang="zh-CN" altLang="en-US" sz="1400" dirty="0" smtClean="0"/>
              <a:t>：目的地不可达</a:t>
            </a:r>
            <a:endParaRPr lang="en-US" altLang="zh-CN" sz="1400" dirty="0" smtClean="0"/>
          </a:p>
          <a:p>
            <a:pPr marL="457200" lvl="1" indent="0"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	Code = 0</a:t>
            </a:r>
            <a:r>
              <a:rPr lang="zh-CN" altLang="en-US" sz="1400" dirty="0" smtClean="0"/>
              <a:t>：无目的地的路由</a:t>
            </a:r>
            <a:endParaRPr lang="en-US" altLang="zh-CN" sz="1400" dirty="0" smtClean="0"/>
          </a:p>
          <a:p>
            <a:pPr marL="457200" lvl="1" indent="0"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	Code = 3</a:t>
            </a:r>
            <a:r>
              <a:rPr lang="zh-CN" altLang="en-US" sz="1400" dirty="0" smtClean="0"/>
              <a:t>：地址不可达</a:t>
            </a:r>
            <a:endParaRPr lang="en-US" altLang="zh-CN" sz="1400" dirty="0" smtClean="0"/>
          </a:p>
          <a:p>
            <a:pPr lvl="1"/>
            <a:r>
              <a:rPr lang="en-US" altLang="zh-CN" sz="1400" dirty="0" smtClean="0"/>
              <a:t>Type = [128,255]</a:t>
            </a:r>
            <a:r>
              <a:rPr lang="zh-CN" altLang="en-US" sz="1400" dirty="0" smtClean="0"/>
              <a:t>：信息报文</a:t>
            </a:r>
            <a:endParaRPr lang="en-US" altLang="zh-CN" sz="1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802" y="2186308"/>
            <a:ext cx="6480000" cy="163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路由器请求报文（</a:t>
            </a:r>
            <a:r>
              <a:rPr lang="en-US" altLang="zh-CN" sz="1800" dirty="0" smtClean="0"/>
              <a:t>RS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用于主机向路由器请求快速响应</a:t>
            </a:r>
            <a:r>
              <a:rPr lang="en-US" altLang="zh-CN" sz="1400" dirty="0"/>
              <a:t>RA</a:t>
            </a:r>
            <a:r>
              <a:rPr lang="zh-CN" altLang="en-US" sz="1400" dirty="0"/>
              <a:t>报文</a:t>
            </a:r>
            <a:endParaRPr lang="en-US" altLang="zh-CN" sz="1400" dirty="0"/>
          </a:p>
          <a:p>
            <a:pPr marL="0" indent="0">
              <a:buNone/>
            </a:pPr>
            <a:endParaRPr lang="en-US" altLang="zh-CN" sz="1800" dirty="0" smtClean="0"/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02" y="2052363"/>
            <a:ext cx="6480000" cy="1144261"/>
          </a:xfrm>
          <a:prstGeom prst="rect">
            <a:avLst/>
          </a:prstGeom>
          <a:noFill/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88498"/>
              </p:ext>
            </p:extLst>
          </p:nvPr>
        </p:nvGraphicFramePr>
        <p:xfrm>
          <a:off x="2102802" y="3684918"/>
          <a:ext cx="7920000" cy="73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4381575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381903490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字段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4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032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源地址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分配给发送接口的</a:t>
                      </a:r>
                      <a:r>
                        <a:rPr lang="en-US" sz="1200" kern="100" dirty="0">
                          <a:effectLst/>
                        </a:rPr>
                        <a:t>IP</a:t>
                      </a:r>
                      <a:r>
                        <a:rPr lang="zh-CN" sz="1200" kern="100" dirty="0">
                          <a:effectLst/>
                        </a:rPr>
                        <a:t>地址，或不指定地址（如果没有地址分配给发送接口）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7881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目的地址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</a:rPr>
                        <a:t>通常为所有路由器的组播地址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377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跳数限制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255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974339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915855"/>
              </p:ext>
            </p:extLst>
          </p:nvPr>
        </p:nvGraphicFramePr>
        <p:xfrm>
          <a:off x="2102802" y="4701675"/>
          <a:ext cx="7920000" cy="54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711272582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1572683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ICMP</a:t>
                      </a: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字段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3232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类型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133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8437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代码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67149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571672"/>
              </p:ext>
            </p:extLst>
          </p:nvPr>
        </p:nvGraphicFramePr>
        <p:xfrm>
          <a:off x="2102802" y="5575813"/>
          <a:ext cx="7920000" cy="36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503603963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173092046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有效的选项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512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源链路层地址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发送方的链路层地址（如果已知）。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6314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06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路由器通告报文（</a:t>
            </a:r>
            <a:r>
              <a:rPr lang="en-US" altLang="zh-CN" sz="1800" dirty="0"/>
              <a:t>R</a:t>
            </a:r>
            <a:r>
              <a:rPr lang="en-US" altLang="zh-CN" sz="1800" dirty="0" smtClean="0"/>
              <a:t>A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路由</a:t>
            </a:r>
            <a:r>
              <a:rPr lang="zh-CN" altLang="en-US" sz="1400" dirty="0" smtClean="0"/>
              <a:t>器周期广播</a:t>
            </a:r>
            <a:r>
              <a:rPr lang="en-US" altLang="zh-CN" sz="1400" dirty="0" smtClean="0"/>
              <a:t>RA</a:t>
            </a:r>
            <a:r>
              <a:rPr lang="zh-CN" altLang="en-US" sz="1400" dirty="0" smtClean="0"/>
              <a:t>或响应主机发送的</a:t>
            </a:r>
            <a:r>
              <a:rPr lang="en-US" altLang="zh-CN" sz="1400" dirty="0" smtClean="0"/>
              <a:t>RS</a:t>
            </a:r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214084"/>
              </p:ext>
            </p:extLst>
          </p:nvPr>
        </p:nvGraphicFramePr>
        <p:xfrm>
          <a:off x="2102802" y="3758534"/>
          <a:ext cx="7920000" cy="73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4381575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381903490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字段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4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032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源地址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必须是分配到发送该报文的接口的链路本地地址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7881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目的地址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通常为路由器请求的源地址或所有节点的组播地址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377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跳数限制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255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974339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064304"/>
              </p:ext>
            </p:extLst>
          </p:nvPr>
        </p:nvGraphicFramePr>
        <p:xfrm>
          <a:off x="2102802" y="4785903"/>
          <a:ext cx="7920000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503603963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173092046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有效的选项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512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源链路层地址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路由器通告的发送接口的链路层地址。只用于有地址的链路层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6314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MTU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应在有可变</a:t>
                      </a: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MTU</a:t>
                      </a: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的链路上发送。可以在其他链路上发送。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9382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前缀信息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该选项指定在链路上和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用于无状态地址自动配置的前缀。路由器应包含所有在链路上的前缀（除了链路本地前缀），所以多归属地主机有完整的前缀信息，这些前缀是关于主机们附着的链路的链路上目标地的。如果完整的信息缺失，当发送流量到它的邻居们时，多归属地主机或许不能够选择正确的输出接口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6328858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02" y="1914081"/>
            <a:ext cx="6480000" cy="16335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49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路由器通告报文（</a:t>
            </a:r>
            <a:r>
              <a:rPr lang="en-US" altLang="zh-CN" sz="1800" dirty="0"/>
              <a:t>R</a:t>
            </a:r>
            <a:r>
              <a:rPr lang="en-US" altLang="zh-CN" sz="1800" dirty="0" smtClean="0"/>
              <a:t>A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路由</a:t>
            </a:r>
            <a:r>
              <a:rPr lang="zh-CN" altLang="en-US" sz="1400" dirty="0" smtClean="0"/>
              <a:t>器周期广播</a:t>
            </a:r>
            <a:r>
              <a:rPr lang="en-US" altLang="zh-CN" sz="1400" dirty="0" smtClean="0"/>
              <a:t>RA</a:t>
            </a:r>
            <a:r>
              <a:rPr lang="zh-CN" altLang="en-US" sz="1400" dirty="0" smtClean="0"/>
              <a:t>或响应主机发送的</a:t>
            </a:r>
            <a:r>
              <a:rPr lang="en-US" altLang="zh-CN" sz="1400" dirty="0" smtClean="0"/>
              <a:t>RS</a:t>
            </a:r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02" y="1914081"/>
            <a:ext cx="6480000" cy="1633509"/>
          </a:xfrm>
          <a:prstGeom prst="rect">
            <a:avLst/>
          </a:prstGeom>
          <a:noFill/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38852"/>
              </p:ext>
            </p:extLst>
          </p:nvPr>
        </p:nvGraphicFramePr>
        <p:xfrm>
          <a:off x="1022802" y="3879970"/>
          <a:ext cx="10080000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711272582"/>
                    </a:ext>
                  </a:extLst>
                </a:gridCol>
                <a:gridCol w="8640000">
                  <a:extLst>
                    <a:ext uri="{9D8B030D-6E8A-4147-A177-3AD203B41FA5}">
                      <a16:colId xmlns:a16="http://schemas.microsoft.com/office/drawing/2014/main" val="1572683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ICMP</a:t>
                      </a: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字段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3232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134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8437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代码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671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当前跳数限制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位无符号整数，应被放在输出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包的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首部的跳数计数字段的默认值。值为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意味着未（由该路由器）指定。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9818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托管地址分配”标志位，置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时，它表示地址可以通过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获得。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标志位冗余且可以被忽视，因为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DHCPv6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会返回所有可配置的信息。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143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其他配置”标志位，置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时，它表示其他配置信息可以通过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获得。例如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DNS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相关的信息或网络内的其他服务信息。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7204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路由器生存时间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该路由器作为默认路由器的时间，</a:t>
                      </a:r>
                      <a:r>
                        <a:rPr lang="en-US" alt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表示该路由器不可作为默认路由器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916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可到达时间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节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点在接收了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可达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信息后认为邻居可达的时间（单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位为毫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秒）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  <a:r>
                        <a:rPr lang="zh-CN" altLang="en-US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用于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邻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居不可达检测算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法。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值为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意味着未（由该路由器）指定。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2056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重传定时器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重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传的邻居请求报文之间的时间（单位为毫秒）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  <a:r>
                        <a:rPr lang="zh-CN" altLang="en-US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用于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址解析和邻居不可达检测算法。值为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意味着未（由该路由器）指定。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6207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41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邻居请求报文（</a:t>
            </a:r>
            <a:r>
              <a:rPr lang="en-US" altLang="zh-CN" sz="1800" dirty="0" smtClean="0"/>
              <a:t>NS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节</a:t>
            </a:r>
            <a:r>
              <a:rPr lang="zh-CN" altLang="en-US" sz="1400" dirty="0" smtClean="0"/>
              <a:t>点发送</a:t>
            </a:r>
            <a:r>
              <a:rPr lang="en-US" altLang="zh-CN" sz="1400" dirty="0" smtClean="0"/>
              <a:t>NS</a:t>
            </a:r>
            <a:r>
              <a:rPr lang="zh-CN" altLang="en-US" sz="1400" dirty="0" smtClean="0"/>
              <a:t>报文请求目标节点的链路层地址，同时携带自身的链路层地址，当节点发送</a:t>
            </a:r>
            <a:r>
              <a:rPr lang="en-US" altLang="zh-CN" sz="1400" dirty="0" smtClean="0"/>
              <a:t>NS</a:t>
            </a:r>
            <a:r>
              <a:rPr lang="zh-CN" altLang="en-US" sz="1400" dirty="0" smtClean="0"/>
              <a:t>用于解析地址时，以组播方式发送；当验证可达性时，以单播方式发送。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320313"/>
              </p:ext>
            </p:extLst>
          </p:nvPr>
        </p:nvGraphicFramePr>
        <p:xfrm>
          <a:off x="2102802" y="4279714"/>
          <a:ext cx="7920000" cy="73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4381575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381903490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字段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4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032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源地址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分配给该报文的发送接口的地址或未指定的地址（如果重复地址检测在执行中）。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7881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目的地址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与目的地址相关的请求节点的组播地址，或目的地址。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377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跳数限制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255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974339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950295"/>
              </p:ext>
            </p:extLst>
          </p:nvPr>
        </p:nvGraphicFramePr>
        <p:xfrm>
          <a:off x="2102802" y="5159158"/>
          <a:ext cx="7920000" cy="73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711272582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1572683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ICMP</a:t>
                      </a: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字段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3232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135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8437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代码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671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目标地址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请求目标的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altLang="en-US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不能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组播地址。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159839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236032"/>
              </p:ext>
            </p:extLst>
          </p:nvPr>
        </p:nvGraphicFramePr>
        <p:xfrm>
          <a:off x="2102802" y="6038602"/>
          <a:ext cx="7920000" cy="54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503603963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173092046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有效的选项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512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源链路层地址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发送方的链路层地址，当源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地址是未指定的地址时，禁止包含它。此外，在有地址的链路层上，该选项必须被包含在组播请求中，应该被包含在单播请求中。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6314506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02" y="2106321"/>
            <a:ext cx="6480000" cy="21225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83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邻居</a:t>
            </a:r>
            <a:r>
              <a:rPr lang="zh-CN" altLang="en-US" sz="1800" dirty="0"/>
              <a:t>通告</a:t>
            </a:r>
            <a:r>
              <a:rPr lang="zh-CN" altLang="en-US" sz="1800" dirty="0" smtClean="0"/>
              <a:t>报文（</a:t>
            </a:r>
            <a:r>
              <a:rPr lang="en-US" altLang="zh-CN" sz="1800" dirty="0" smtClean="0"/>
              <a:t>NA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节</a:t>
            </a:r>
            <a:r>
              <a:rPr lang="zh-CN" altLang="en-US" sz="1400" dirty="0" smtClean="0"/>
              <a:t>点发送</a:t>
            </a:r>
            <a:r>
              <a:rPr lang="en-US" altLang="zh-CN" sz="1400" dirty="0" smtClean="0"/>
              <a:t>NA</a:t>
            </a:r>
            <a:r>
              <a:rPr lang="zh-CN" altLang="en-US" sz="1400" dirty="0" smtClean="0"/>
              <a:t>响应</a:t>
            </a:r>
            <a:r>
              <a:rPr lang="en-US" altLang="zh-CN" sz="1400" dirty="0" smtClean="0"/>
              <a:t>NS,</a:t>
            </a:r>
            <a:r>
              <a:rPr lang="zh-CN" altLang="en-US" sz="1400" dirty="0" smtClean="0"/>
              <a:t>或</a:t>
            </a:r>
            <a:r>
              <a:rPr lang="zh-CN" altLang="en-US" sz="1400" dirty="0"/>
              <a:t>用</a:t>
            </a:r>
            <a:r>
              <a:rPr lang="zh-CN" altLang="en-US" sz="1400" dirty="0" smtClean="0"/>
              <a:t>于组播通知链路层地址变化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208270"/>
              </p:ext>
            </p:extLst>
          </p:nvPr>
        </p:nvGraphicFramePr>
        <p:xfrm>
          <a:off x="2102802" y="4254483"/>
          <a:ext cx="7920000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64381575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381903490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字段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4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032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源地址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分配给通告的发送接口的地址或未指定的地址。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7881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目的地址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对于请求的通告，调用的邻居请求的源地址或所有节点的广播地址（如果请求的源地址是未指定的地址）。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377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跳数限制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255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974339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533264"/>
              </p:ext>
            </p:extLst>
          </p:nvPr>
        </p:nvGraphicFramePr>
        <p:xfrm>
          <a:off x="2102802" y="5464732"/>
          <a:ext cx="7920000" cy="54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503603963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173092046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有效的选项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512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源链路层地址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发送方的链路层地址，当源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地址是未指定的地址时，禁止包含它。此外，在有地址的链路层上，该选项必须被包含在组播请求中，应该被包含在单播请求中。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6314506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02" y="1931792"/>
            <a:ext cx="6480000" cy="21225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169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邻居</a:t>
            </a:r>
            <a:r>
              <a:rPr lang="zh-CN" altLang="en-US" sz="1800" dirty="0"/>
              <a:t>通告</a:t>
            </a:r>
            <a:r>
              <a:rPr lang="zh-CN" altLang="en-US" sz="1800" dirty="0" smtClean="0"/>
              <a:t>报文（</a:t>
            </a:r>
            <a:r>
              <a:rPr lang="en-US" altLang="zh-CN" sz="1800" dirty="0" smtClean="0"/>
              <a:t>NA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节</a:t>
            </a:r>
            <a:r>
              <a:rPr lang="zh-CN" altLang="en-US" sz="1400" dirty="0" smtClean="0"/>
              <a:t>点发送</a:t>
            </a:r>
            <a:r>
              <a:rPr lang="en-US" altLang="zh-CN" sz="1400" dirty="0" smtClean="0"/>
              <a:t>NA</a:t>
            </a:r>
            <a:r>
              <a:rPr lang="zh-CN" altLang="en-US" sz="1400" dirty="0" smtClean="0"/>
              <a:t>响应</a:t>
            </a:r>
            <a:r>
              <a:rPr lang="en-US" altLang="zh-CN" sz="1400" dirty="0" smtClean="0"/>
              <a:t>NS,</a:t>
            </a:r>
            <a:r>
              <a:rPr lang="zh-CN" altLang="en-US" sz="1400" dirty="0" smtClean="0"/>
              <a:t>或</a:t>
            </a:r>
            <a:r>
              <a:rPr lang="zh-CN" altLang="en-US" sz="1400" dirty="0"/>
              <a:t>用</a:t>
            </a:r>
            <a:r>
              <a:rPr lang="zh-CN" altLang="en-US" sz="1400" dirty="0" smtClean="0"/>
              <a:t>于组播通知链路层地址变化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250895"/>
              </p:ext>
            </p:extLst>
          </p:nvPr>
        </p:nvGraphicFramePr>
        <p:xfrm>
          <a:off x="2102802" y="4180630"/>
          <a:ext cx="7920000" cy="2011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711272582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1572683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ICMP</a:t>
                      </a:r>
                      <a:r>
                        <a:rPr lang="zh-CN" altLang="en-US" sz="1200" kern="100" dirty="0" smtClean="0">
                          <a:effectLst/>
                          <a:latin typeface="DengXian"/>
                          <a:ea typeface="DengXian"/>
                          <a:cs typeface="Times New Roman" panose="02020603050405020304" pitchFamily="18" charset="0"/>
                        </a:rPr>
                        <a:t>字段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3232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136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8437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代码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671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路由器标志位。置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时表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示发送方是路由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器</a:t>
                      </a:r>
                      <a:r>
                        <a:rPr lang="zh-CN" altLang="en-US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，否则不是。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9818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请求标志位。置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2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时表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示通告被发送以响应来自目的地址的邻居请求。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位用于邻居不可达检测的可达性确认。在组播通告和非请求单播通告中它必须置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1598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lang="zh-CN" sz="1200" kern="10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覆写标志位。置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时，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位表示通告应覆写存在的缓存条目并更新缓存的链路层地址。当它置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时，通告不更新链路层地址，尽管它会更新存在的链路层地址未知的邻居缓存条目。对于请求通告中的任播地址和代理通告中，它不应置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。在其他请求通告和未请求的通告中，它应该置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52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目标地址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对于请求的通告，是引起该通告的邻居请求报文中的目的地址字段。对于未请求的通告，是链路层地址改变了的地址。目的地址禁止是组播地址。</a:t>
                      </a:r>
                      <a:endParaRPr lang="zh-CN" sz="1200" kern="100" dirty="0">
                        <a:effectLst/>
                        <a:latin typeface="DengXian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4079346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02" y="1931792"/>
            <a:ext cx="6480000" cy="21225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4327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地址解</a:t>
            </a:r>
            <a:r>
              <a:rPr lang="zh-CN" altLang="en-US" dirty="0" smtClean="0"/>
              <a:t>析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Address Resolution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050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地址解析在三层完成，针对不同链路层协议，可以采用相同的地址解析协议</a:t>
            </a:r>
            <a:endParaRPr lang="en-US" altLang="zh-CN" sz="1800" dirty="0" smtClean="0"/>
          </a:p>
          <a:p>
            <a:pPr marL="228600" lvl="1">
              <a:spcBef>
                <a:spcPts val="1000"/>
              </a:spcBef>
            </a:pPr>
            <a:r>
              <a:rPr lang="zh-CN" altLang="en-US" sz="1800" dirty="0"/>
              <a:t>可以使用三层的安全机制避免地址解析攻击。</a:t>
            </a:r>
          </a:p>
          <a:p>
            <a:pPr marL="228600" lvl="1">
              <a:spcBef>
                <a:spcPts val="1000"/>
              </a:spcBef>
            </a:pPr>
            <a:r>
              <a:rPr lang="zh-CN" altLang="en-US" sz="1800" dirty="0"/>
              <a:t>使用组播方式发送请求报文，减少了二层网络的性能压力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228600" lvl="1">
              <a:spcBef>
                <a:spcPts val="1000"/>
              </a:spcBef>
            </a:pPr>
            <a:endParaRPr lang="en-US" altLang="zh-CN" sz="1800" dirty="0"/>
          </a:p>
          <a:p>
            <a:r>
              <a:rPr lang="en-US" altLang="zh-CN" sz="1800" dirty="0" smtClean="0"/>
              <a:t>IPv6</a:t>
            </a:r>
            <a:r>
              <a:rPr lang="zh-CN" altLang="en-US" sz="1800" dirty="0" smtClean="0"/>
              <a:t>的地址解析使用组播方式发送请求报文</a:t>
            </a:r>
            <a:endParaRPr lang="en-US" altLang="zh-CN" sz="1800" dirty="0" smtClean="0"/>
          </a:p>
          <a:p>
            <a:pPr lvl="1"/>
            <a:r>
              <a:rPr lang="zh-CN" altLang="en-US" sz="1400" dirty="0" smtClean="0"/>
              <a:t>邻居请求（</a:t>
            </a:r>
            <a:r>
              <a:rPr lang="en-US" altLang="zh-CN" sz="1400" dirty="0" smtClean="0"/>
              <a:t>Neighbor Solicitation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NS</a:t>
            </a:r>
            <a:r>
              <a:rPr lang="zh-CN" altLang="en-US" sz="1400" dirty="0" smtClean="0"/>
              <a:t>）：</a:t>
            </a:r>
            <a:r>
              <a:rPr lang="en-US" altLang="zh-CN" sz="1400" dirty="0"/>
              <a:t>Type</a:t>
            </a:r>
            <a:r>
              <a:rPr lang="zh-CN" altLang="en-US" sz="1400" dirty="0"/>
              <a:t>字段值为</a:t>
            </a:r>
            <a:r>
              <a:rPr lang="en-US" altLang="zh-CN" sz="1400" dirty="0"/>
              <a:t>135</a:t>
            </a:r>
            <a:r>
              <a:rPr lang="zh-CN" altLang="en-US" sz="1400" dirty="0"/>
              <a:t>，</a:t>
            </a:r>
            <a:r>
              <a:rPr lang="en-US" altLang="zh-CN" sz="1400" dirty="0"/>
              <a:t>Code</a:t>
            </a:r>
            <a:r>
              <a:rPr lang="zh-CN" altLang="en-US" sz="1400" dirty="0"/>
              <a:t>字段值为</a:t>
            </a:r>
            <a:r>
              <a:rPr lang="en-US" altLang="zh-CN" sz="1400" dirty="0"/>
              <a:t>0</a:t>
            </a:r>
            <a:r>
              <a:rPr lang="zh-CN" altLang="en-US" sz="1400" dirty="0"/>
              <a:t>，在地址解析中的作用类似于</a:t>
            </a:r>
            <a:r>
              <a:rPr lang="en-US" altLang="zh-CN" sz="1400" dirty="0"/>
              <a:t>IPv4</a:t>
            </a:r>
            <a:r>
              <a:rPr lang="zh-CN" altLang="en-US" sz="1400" dirty="0"/>
              <a:t>中的</a:t>
            </a:r>
            <a:r>
              <a:rPr lang="en-US" altLang="zh-CN" sz="1400" dirty="0"/>
              <a:t>ARP</a:t>
            </a:r>
            <a:r>
              <a:rPr lang="zh-CN" altLang="en-US" sz="1400" dirty="0"/>
              <a:t>请求报文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lvl="1"/>
            <a:endParaRPr lang="en-US" altLang="zh-CN" sz="1400" dirty="0"/>
          </a:p>
          <a:p>
            <a:pPr lvl="1"/>
            <a:endParaRPr lang="zh-CN" altLang="en-US" sz="1400" dirty="0"/>
          </a:p>
          <a:p>
            <a:pPr lvl="1"/>
            <a:r>
              <a:rPr lang="zh-CN" altLang="en-US" sz="1400" dirty="0" smtClean="0"/>
              <a:t>邻居通告（</a:t>
            </a:r>
            <a:r>
              <a:rPr lang="en-US" altLang="zh-CN" sz="1400" dirty="0" smtClean="0"/>
              <a:t>Neighbor Advertisement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NA</a:t>
            </a:r>
            <a:r>
              <a:rPr lang="zh-CN" altLang="en-US" sz="1400" dirty="0" smtClean="0"/>
              <a:t>）：</a:t>
            </a:r>
            <a:r>
              <a:rPr lang="en-US" altLang="zh-CN" sz="1400" dirty="0"/>
              <a:t>Type</a:t>
            </a:r>
            <a:r>
              <a:rPr lang="zh-CN" altLang="en-US" sz="1400" dirty="0"/>
              <a:t>字段值为</a:t>
            </a:r>
            <a:r>
              <a:rPr lang="en-US" altLang="zh-CN" sz="1400" dirty="0"/>
              <a:t>136</a:t>
            </a:r>
            <a:r>
              <a:rPr lang="zh-CN" altLang="en-US" sz="1400" dirty="0"/>
              <a:t>，</a:t>
            </a:r>
            <a:r>
              <a:rPr lang="en-US" altLang="zh-CN" sz="1400" dirty="0"/>
              <a:t>Code</a:t>
            </a:r>
            <a:r>
              <a:rPr lang="zh-CN" altLang="en-US" sz="1400" dirty="0"/>
              <a:t>字段值为</a:t>
            </a:r>
            <a:r>
              <a:rPr lang="en-US" altLang="zh-CN" sz="1400" dirty="0"/>
              <a:t>0</a:t>
            </a:r>
            <a:r>
              <a:rPr lang="zh-CN" altLang="en-US" sz="1400" dirty="0"/>
              <a:t>，在地址解析中的作用类似于</a:t>
            </a:r>
            <a:r>
              <a:rPr lang="en-US" altLang="zh-CN" sz="1400" dirty="0"/>
              <a:t>IPv4</a:t>
            </a:r>
            <a:r>
              <a:rPr lang="zh-CN" altLang="en-US" sz="1400" dirty="0"/>
              <a:t>中的</a:t>
            </a:r>
            <a:r>
              <a:rPr lang="en-US" altLang="zh-CN" sz="1400" dirty="0"/>
              <a:t>ARP</a:t>
            </a:r>
            <a:r>
              <a:rPr lang="zh-CN" altLang="en-US" sz="1400" dirty="0"/>
              <a:t>应答报文。</a:t>
            </a:r>
            <a:endParaRPr lang="en-US" altLang="zh-CN" sz="1400" dirty="0"/>
          </a:p>
          <a:p>
            <a:pPr lvl="1"/>
            <a:endParaRPr lang="en-US" altLang="zh-CN" sz="1400" dirty="0" smtClean="0"/>
          </a:p>
          <a:p>
            <a:endParaRPr lang="en-US" altLang="zh-CN" sz="1800" dirty="0" smtClean="0"/>
          </a:p>
          <a:p>
            <a:endParaRPr lang="zh-CN" altLang="en-US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地址解析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Address Resolution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674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/>
              <a:t>地址解</a:t>
            </a:r>
            <a:r>
              <a:rPr lang="zh-CN" altLang="en-US" sz="1800" b="1" dirty="0" smtClean="0"/>
              <a:t>析过程</a:t>
            </a:r>
            <a:endParaRPr lang="en-US" altLang="zh-CN" sz="1800" b="1" dirty="0" smtClean="0"/>
          </a:p>
          <a:p>
            <a:pPr lvl="1"/>
            <a:r>
              <a:rPr lang="zh-CN" altLang="en-US" sz="1400" dirty="0" smtClean="0"/>
              <a:t>发送主机在接口上发送组播</a:t>
            </a:r>
            <a:r>
              <a:rPr lang="en-US" altLang="zh-CN" sz="1400" dirty="0" smtClean="0"/>
              <a:t>NS</a:t>
            </a:r>
            <a:r>
              <a:rPr lang="zh-CN" altLang="en-US" sz="1400" dirty="0" smtClean="0"/>
              <a:t>报文，该报文的目的地址为目标</a:t>
            </a:r>
            <a:r>
              <a:rPr lang="en-US" altLang="zh-CN" sz="1400" dirty="0" smtClean="0"/>
              <a:t>IP</a:t>
            </a:r>
            <a:r>
              <a:rPr lang="zh-CN" altLang="en-US" sz="1400" dirty="0" smtClean="0"/>
              <a:t>地址对应的请求节点组播地址，其中包含了自己的</a:t>
            </a:r>
            <a:r>
              <a:rPr lang="en-US" altLang="zh-CN" sz="1400" dirty="0" smtClean="0"/>
              <a:t>MAC</a:t>
            </a:r>
            <a:r>
              <a:rPr lang="zh-CN" altLang="en-US" sz="1400" dirty="0" smtClean="0"/>
              <a:t>地址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目</a:t>
            </a:r>
            <a:r>
              <a:rPr lang="zh-CN" altLang="en-US" sz="1400" dirty="0" smtClean="0"/>
              <a:t>标主机收到</a:t>
            </a:r>
            <a:r>
              <a:rPr lang="en-US" altLang="zh-CN" sz="1400" dirty="0" smtClean="0"/>
              <a:t>NS</a:t>
            </a:r>
            <a:r>
              <a:rPr lang="zh-CN" altLang="en-US" sz="1400" dirty="0" smtClean="0"/>
              <a:t>报文后，得到发送主机的</a:t>
            </a:r>
            <a:r>
              <a:rPr lang="en-US" altLang="zh-CN" sz="1400" dirty="0" smtClean="0"/>
              <a:t>IP</a:t>
            </a:r>
            <a:r>
              <a:rPr lang="zh-CN" altLang="en-US" sz="1400" dirty="0" smtClean="0"/>
              <a:t>地址和</a:t>
            </a:r>
            <a:r>
              <a:rPr lang="en-US" altLang="zh-CN" sz="1400" dirty="0" smtClean="0"/>
              <a:t>MAC</a:t>
            </a:r>
            <a:r>
              <a:rPr lang="zh-CN" altLang="en-US" sz="1400" dirty="0" smtClean="0"/>
              <a:t>地址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目</a:t>
            </a:r>
            <a:r>
              <a:rPr lang="zh-CN" altLang="en-US" sz="1400" dirty="0" smtClean="0"/>
              <a:t>标</a:t>
            </a:r>
            <a:r>
              <a:rPr lang="zh-CN" altLang="en-US" sz="1400" dirty="0"/>
              <a:t>主</a:t>
            </a:r>
            <a:r>
              <a:rPr lang="zh-CN" altLang="en-US" sz="1400" dirty="0" smtClean="0"/>
              <a:t>机向发送主机发送一个</a:t>
            </a:r>
            <a:r>
              <a:rPr lang="en-US" altLang="zh-CN" sz="1400" dirty="0" smtClean="0"/>
              <a:t>NA</a:t>
            </a:r>
            <a:r>
              <a:rPr lang="zh-CN" altLang="en-US" sz="1400" dirty="0" smtClean="0"/>
              <a:t>报文，该报文包含自己的</a:t>
            </a:r>
            <a:r>
              <a:rPr lang="en-US" altLang="zh-CN" sz="1400" dirty="0" smtClean="0"/>
              <a:t>MAC</a:t>
            </a:r>
            <a:r>
              <a:rPr lang="zh-CN" altLang="en-US" sz="1400" dirty="0" smtClean="0"/>
              <a:t>地址</a:t>
            </a:r>
            <a:endParaRPr lang="en-US" altLang="zh-CN" sz="1400" dirty="0" smtClean="0"/>
          </a:p>
          <a:p>
            <a:endParaRPr lang="zh-CN" altLang="en-US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地址解析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Address Resolution</a:t>
            </a:r>
            <a:endParaRPr lang="zh-CN" alt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976" y="4746681"/>
            <a:ext cx="8165851" cy="10726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776" y="3820454"/>
            <a:ext cx="7761601" cy="113026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9388" y="5745586"/>
            <a:ext cx="8033026" cy="4728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9974" y="2441976"/>
            <a:ext cx="8212051" cy="145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9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02" y="1935077"/>
            <a:ext cx="10080000" cy="431550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 smtClean="0"/>
              <a:t>地址解析过程</a:t>
            </a:r>
            <a:endParaRPr lang="en-US" altLang="zh-CN" sz="1800" b="1" dirty="0" smtClean="0"/>
          </a:p>
          <a:p>
            <a:pPr lvl="1"/>
            <a:r>
              <a:rPr lang="en-US" altLang="zh-CN" sz="1400" dirty="0" smtClean="0"/>
              <a:t>A</a:t>
            </a:r>
            <a:r>
              <a:rPr lang="en-US" altLang="zh-CN" sz="1400" dirty="0" smtClean="0">
                <a:sym typeface="Wingdings" panose="05000000000000000000" pitchFamily="2" charset="2"/>
              </a:rPr>
              <a:t>B:</a:t>
            </a:r>
            <a:r>
              <a:rPr lang="zh-CN" altLang="en-US" sz="1400" dirty="0" smtClean="0">
                <a:sym typeface="Wingdings" panose="05000000000000000000" pitchFamily="2" charset="2"/>
              </a:rPr>
              <a:t>我的</a:t>
            </a:r>
            <a:r>
              <a:rPr lang="en-US" altLang="zh-CN" sz="1400" dirty="0" smtClean="0">
                <a:sym typeface="Wingdings" panose="05000000000000000000" pitchFamily="2" charset="2"/>
              </a:rPr>
              <a:t>MAC</a:t>
            </a:r>
            <a:r>
              <a:rPr lang="zh-CN" altLang="en-US" sz="1400" dirty="0" smtClean="0">
                <a:sym typeface="Wingdings" panose="05000000000000000000" pitchFamily="2" charset="2"/>
              </a:rPr>
              <a:t>地址是</a:t>
            </a:r>
            <a:r>
              <a:rPr lang="en-US" altLang="zh-CN" sz="1400" dirty="0" smtClean="0">
                <a:sym typeface="Wingdings" panose="05000000000000000000" pitchFamily="2" charset="2"/>
              </a:rPr>
              <a:t>94:b8:6d:3c:53:ac</a:t>
            </a:r>
            <a:r>
              <a:rPr lang="zh-CN" altLang="en-US" sz="1400" dirty="0" smtClean="0">
                <a:sym typeface="Wingdings" panose="05000000000000000000" pitchFamily="2" charset="2"/>
              </a:rPr>
              <a:t>，你的</a:t>
            </a:r>
            <a:r>
              <a:rPr lang="en-US" altLang="zh-CN" sz="1400" dirty="0" smtClean="0">
                <a:sym typeface="Wingdings" panose="05000000000000000000" pitchFamily="2" charset="2"/>
              </a:rPr>
              <a:t>MAC</a:t>
            </a:r>
            <a:r>
              <a:rPr lang="zh-CN" altLang="en-US" sz="1400" dirty="0" smtClean="0">
                <a:sym typeface="Wingdings" panose="05000000000000000000" pitchFamily="2" charset="2"/>
              </a:rPr>
              <a:t>地址是什么？</a:t>
            </a:r>
            <a:endParaRPr lang="en-US" altLang="zh-CN" sz="1400" dirty="0" smtClean="0"/>
          </a:p>
          <a:p>
            <a:endParaRPr lang="zh-CN" altLang="en-US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地址解析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Address Resolution</a:t>
            </a:r>
            <a:endParaRPr lang="zh-CN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692650" y="3672173"/>
            <a:ext cx="1361017" cy="149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7705092" y="3672173"/>
            <a:ext cx="1361017" cy="149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 smtClean="0">
                <a:solidFill>
                  <a:schemeClr val="tx1"/>
                </a:solidFill>
              </a:rPr>
              <a:t>请求节点组播地址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95737" y="5717568"/>
            <a:ext cx="1631103" cy="13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/>
          <p:cNvSpPr/>
          <p:nvPr/>
        </p:nvSpPr>
        <p:spPr>
          <a:xfrm>
            <a:off x="1330538" y="5857240"/>
            <a:ext cx="965200" cy="121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/>
          <p:cNvSpPr/>
          <p:nvPr/>
        </p:nvSpPr>
        <p:spPr>
          <a:xfrm>
            <a:off x="1664970" y="3959555"/>
            <a:ext cx="1596390" cy="14508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/>
          <p:cNvSpPr/>
          <p:nvPr/>
        </p:nvSpPr>
        <p:spPr>
          <a:xfrm>
            <a:off x="7705091" y="3959555"/>
            <a:ext cx="1361017" cy="16794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 smtClean="0">
                <a:solidFill>
                  <a:schemeClr val="tx1"/>
                </a:solidFill>
              </a:rPr>
              <a:t>Type=135</a:t>
            </a:r>
            <a:r>
              <a:rPr lang="en-US" altLang="zh-CN" sz="1100" b="1" dirty="0">
                <a:solidFill>
                  <a:schemeClr val="tx1"/>
                </a:solidFill>
              </a:rPr>
              <a:t>,</a:t>
            </a:r>
            <a:r>
              <a:rPr lang="zh-CN" altLang="en-US" sz="1100" b="1" dirty="0" smtClean="0">
                <a:solidFill>
                  <a:schemeClr val="tx1"/>
                </a:solidFill>
              </a:rPr>
              <a:t>邻居请求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39009" y="4671665"/>
            <a:ext cx="1555751" cy="16449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705091" y="4669729"/>
            <a:ext cx="1361017" cy="1664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</a:rPr>
              <a:t>目标地址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95736" y="5857241"/>
            <a:ext cx="145839" cy="1219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ctangle 26"/>
          <p:cNvSpPr/>
          <p:nvPr/>
        </p:nvSpPr>
        <p:spPr>
          <a:xfrm>
            <a:off x="3633545" y="5857240"/>
            <a:ext cx="293295" cy="1219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30538" y="5989745"/>
            <a:ext cx="2303007" cy="1221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05090" y="5284680"/>
            <a:ext cx="1361017" cy="1664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 smtClean="0">
                <a:solidFill>
                  <a:schemeClr val="tx1"/>
                </a:solidFill>
              </a:rPr>
              <a:t>A</a:t>
            </a:r>
            <a:r>
              <a:rPr lang="zh-CN" altLang="en-US" sz="1100" b="1" dirty="0" smtClean="0">
                <a:solidFill>
                  <a:schemeClr val="tx1"/>
                </a:solidFill>
              </a:rPr>
              <a:t>的</a:t>
            </a:r>
            <a:r>
              <a:rPr lang="en-US" altLang="zh-CN" sz="1100" b="1" dirty="0" smtClean="0">
                <a:solidFill>
                  <a:schemeClr val="tx1"/>
                </a:solidFill>
              </a:rPr>
              <a:t>MAC</a:t>
            </a:r>
            <a:r>
              <a:rPr lang="zh-CN" altLang="en-US" sz="1100" b="1" dirty="0" smtClean="0">
                <a:solidFill>
                  <a:schemeClr val="tx1"/>
                </a:solidFill>
              </a:rPr>
              <a:t>地址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93160" y="5284679"/>
            <a:ext cx="1112520" cy="1664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329055" y="6118832"/>
            <a:ext cx="966681" cy="1317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45202" y="3518139"/>
            <a:ext cx="1133474" cy="149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/>
          <p:cNvSpPr/>
          <p:nvPr/>
        </p:nvSpPr>
        <p:spPr>
          <a:xfrm>
            <a:off x="7705090" y="3518139"/>
            <a:ext cx="1361017" cy="149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 smtClean="0">
                <a:solidFill>
                  <a:schemeClr val="tx1"/>
                </a:solidFill>
              </a:rPr>
              <a:t>请求节点</a:t>
            </a:r>
            <a:r>
              <a:rPr lang="en-US" altLang="zh-CN" sz="1100" b="1" dirty="0" smtClean="0">
                <a:solidFill>
                  <a:schemeClr val="tx1"/>
                </a:solidFill>
              </a:rPr>
              <a:t>MAC</a:t>
            </a:r>
            <a:r>
              <a:rPr lang="zh-CN" altLang="en-US" sz="1100" b="1" dirty="0" smtClean="0">
                <a:solidFill>
                  <a:schemeClr val="tx1"/>
                </a:solidFill>
              </a:rPr>
              <a:t>地址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329055" y="5473728"/>
            <a:ext cx="965200" cy="1219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09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94" y="1863125"/>
            <a:ext cx="10221416" cy="4376044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 smtClean="0"/>
              <a:t>地址解析过程</a:t>
            </a:r>
            <a:endParaRPr lang="en-US" altLang="zh-CN" sz="1800" b="1" dirty="0" smtClean="0"/>
          </a:p>
          <a:p>
            <a:pPr lvl="1"/>
            <a:r>
              <a:rPr lang="en-US" altLang="zh-CN" sz="1400" dirty="0" smtClean="0"/>
              <a:t>B</a:t>
            </a:r>
            <a:r>
              <a:rPr lang="en-US" altLang="zh-CN" sz="1400" dirty="0" smtClean="0">
                <a:sym typeface="Wingdings" panose="05000000000000000000" pitchFamily="2" charset="2"/>
              </a:rPr>
              <a:t>A:</a:t>
            </a:r>
            <a:r>
              <a:rPr lang="zh-CN" altLang="en-US" sz="1400" dirty="0" smtClean="0">
                <a:sym typeface="Wingdings" panose="05000000000000000000" pitchFamily="2" charset="2"/>
              </a:rPr>
              <a:t>我</a:t>
            </a:r>
            <a:r>
              <a:rPr lang="zh-CN" altLang="en-US" sz="1400" dirty="0">
                <a:sym typeface="Wingdings" panose="05000000000000000000" pitchFamily="2" charset="2"/>
              </a:rPr>
              <a:t>收到</a:t>
            </a:r>
            <a:r>
              <a:rPr lang="zh-CN" altLang="en-US" sz="1400" dirty="0" smtClean="0">
                <a:sym typeface="Wingdings" panose="05000000000000000000" pitchFamily="2" charset="2"/>
              </a:rPr>
              <a:t>了你的</a:t>
            </a:r>
            <a:r>
              <a:rPr lang="en-US" altLang="zh-CN" sz="1400" dirty="0" smtClean="0">
                <a:sym typeface="Wingdings" panose="05000000000000000000" pitchFamily="2" charset="2"/>
              </a:rPr>
              <a:t>MAC</a:t>
            </a:r>
            <a:r>
              <a:rPr lang="zh-CN" altLang="en-US" sz="1400" dirty="0" smtClean="0">
                <a:sym typeface="Wingdings" panose="05000000000000000000" pitchFamily="2" charset="2"/>
              </a:rPr>
              <a:t>地址</a:t>
            </a:r>
            <a:r>
              <a:rPr lang="en-US" altLang="zh-CN" sz="1400" dirty="0" smtClean="0">
                <a:sym typeface="Wingdings" panose="05000000000000000000" pitchFamily="2" charset="2"/>
              </a:rPr>
              <a:t>94:b8:6d:3c:53:ac</a:t>
            </a:r>
            <a:r>
              <a:rPr lang="zh-CN" altLang="en-US" sz="1400" dirty="0" smtClean="0">
                <a:sym typeface="Wingdings" panose="05000000000000000000" pitchFamily="2" charset="2"/>
              </a:rPr>
              <a:t>，我的</a:t>
            </a:r>
            <a:r>
              <a:rPr lang="en-US" altLang="zh-CN" sz="1400" dirty="0" smtClean="0">
                <a:sym typeface="Wingdings" panose="05000000000000000000" pitchFamily="2" charset="2"/>
              </a:rPr>
              <a:t>MAC</a:t>
            </a:r>
            <a:r>
              <a:rPr lang="zh-CN" altLang="en-US" sz="1400" dirty="0" smtClean="0">
                <a:sym typeface="Wingdings" panose="05000000000000000000" pitchFamily="2" charset="2"/>
              </a:rPr>
              <a:t>地址是</a:t>
            </a:r>
            <a:r>
              <a:rPr lang="en-US" altLang="zh-CN" sz="1400" dirty="0" smtClean="0">
                <a:sym typeface="Wingdings" panose="05000000000000000000" pitchFamily="2" charset="2"/>
              </a:rPr>
              <a:t>F4:8C:50:00:E4:CF</a:t>
            </a:r>
            <a:endParaRPr lang="en-US" altLang="zh-CN" sz="1400" dirty="0" smtClean="0"/>
          </a:p>
          <a:p>
            <a:endParaRPr lang="zh-CN" altLang="en-US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地址解析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Address Resolution</a:t>
            </a:r>
            <a:endParaRPr lang="zh-CN" altLang="en-US" dirty="0"/>
          </a:p>
        </p:txBody>
      </p:sp>
      <p:sp>
        <p:nvSpPr>
          <p:cNvPr id="18" name="Rectangle 17"/>
          <p:cNvSpPr/>
          <p:nvPr/>
        </p:nvSpPr>
        <p:spPr>
          <a:xfrm>
            <a:off x="1627188" y="3936270"/>
            <a:ext cx="1700212" cy="14508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/>
          <p:cNvSpPr/>
          <p:nvPr/>
        </p:nvSpPr>
        <p:spPr>
          <a:xfrm>
            <a:off x="6140449" y="3936270"/>
            <a:ext cx="1361017" cy="16794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 smtClean="0">
                <a:solidFill>
                  <a:schemeClr val="tx1"/>
                </a:solidFill>
              </a:rPr>
              <a:t>Type=136,</a:t>
            </a:r>
            <a:r>
              <a:rPr lang="zh-CN" altLang="en-US" sz="1100" b="1" dirty="0" smtClean="0">
                <a:solidFill>
                  <a:schemeClr val="tx1"/>
                </a:solidFill>
              </a:rPr>
              <a:t>邻居</a:t>
            </a:r>
            <a:r>
              <a:rPr lang="zh-CN" altLang="en-US" sz="1100" b="1" dirty="0">
                <a:solidFill>
                  <a:schemeClr val="tx1"/>
                </a:solidFill>
              </a:rPr>
              <a:t>通告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39009" y="4671665"/>
            <a:ext cx="1555751" cy="16449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40449" y="4669729"/>
            <a:ext cx="1361017" cy="1664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</a:rPr>
              <a:t>目标地址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95736" y="5857241"/>
            <a:ext cx="145839" cy="1219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ctangle 26"/>
          <p:cNvSpPr/>
          <p:nvPr/>
        </p:nvSpPr>
        <p:spPr>
          <a:xfrm>
            <a:off x="3633545" y="5857240"/>
            <a:ext cx="293295" cy="1219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30538" y="5989745"/>
            <a:ext cx="2303007" cy="1221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140448" y="5284680"/>
            <a:ext cx="1361017" cy="1664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B</a:t>
            </a:r>
            <a:r>
              <a:rPr lang="zh-CN" altLang="en-US" sz="1100" b="1" dirty="0" smtClean="0">
                <a:solidFill>
                  <a:schemeClr val="tx1"/>
                </a:solidFill>
              </a:rPr>
              <a:t>的</a:t>
            </a:r>
            <a:r>
              <a:rPr lang="en-US" altLang="zh-CN" sz="1100" b="1" dirty="0" smtClean="0">
                <a:solidFill>
                  <a:schemeClr val="tx1"/>
                </a:solidFill>
              </a:rPr>
              <a:t>MAC</a:t>
            </a:r>
            <a:r>
              <a:rPr lang="zh-CN" altLang="en-US" sz="1100" b="1" dirty="0" smtClean="0">
                <a:solidFill>
                  <a:schemeClr val="tx1"/>
                </a:solidFill>
              </a:rPr>
              <a:t>地址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93160" y="5284679"/>
            <a:ext cx="1112520" cy="1664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329055" y="6118832"/>
            <a:ext cx="966681" cy="1317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78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跟踪邻居状态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Tracking Neighbor State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8196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 smtClean="0"/>
              <a:t>邻居状态</a:t>
            </a:r>
            <a:endParaRPr lang="en-US" altLang="zh-CN" sz="2000" b="1" dirty="0" smtClean="0"/>
          </a:p>
          <a:p>
            <a:pPr lvl="1"/>
            <a:r>
              <a:rPr lang="en-US" altLang="zh-CN" sz="1600" dirty="0" smtClean="0"/>
              <a:t>INCOMPLETE——</a:t>
            </a:r>
            <a:r>
              <a:rPr lang="zh-CN" altLang="en-US" sz="1600" dirty="0" smtClean="0"/>
              <a:t>正在进行地址解析，邻居的链路层地址还未确定</a:t>
            </a:r>
            <a:endParaRPr lang="en-US" altLang="zh-CN" sz="1600" dirty="0" smtClean="0"/>
          </a:p>
          <a:p>
            <a:pPr lvl="1"/>
            <a:r>
              <a:rPr lang="en-US" altLang="zh-CN" sz="1600" dirty="0" smtClean="0"/>
              <a:t>REACHABEL——</a:t>
            </a:r>
            <a:r>
              <a:rPr lang="zh-CN" altLang="en-US" sz="1600" dirty="0" smtClean="0"/>
              <a:t>邻居最近处于可达状态</a:t>
            </a:r>
            <a:endParaRPr lang="en-US" altLang="zh-CN" sz="1600" dirty="0" smtClean="0"/>
          </a:p>
          <a:p>
            <a:pPr lvl="1"/>
            <a:r>
              <a:rPr lang="en-US" altLang="zh-CN" sz="1600" dirty="0" smtClean="0"/>
              <a:t>STALE——</a:t>
            </a:r>
            <a:r>
              <a:rPr lang="zh-CN" altLang="en-US" sz="1600" dirty="0"/>
              <a:t>在数据流发送给该邻居以前邻居是不可达的，并无法验证其可达</a:t>
            </a:r>
            <a:r>
              <a:rPr lang="zh-CN" altLang="en-US" sz="1600" dirty="0" smtClean="0"/>
              <a:t>性</a:t>
            </a:r>
            <a:endParaRPr lang="en-US" altLang="zh-CN" sz="1600" dirty="0" smtClean="0"/>
          </a:p>
          <a:p>
            <a:pPr lvl="1"/>
            <a:r>
              <a:rPr lang="en-US" altLang="zh-CN" sz="1600" dirty="0" smtClean="0"/>
              <a:t>DELAY——</a:t>
            </a:r>
            <a:r>
              <a:rPr lang="zh-CN" altLang="en-US" sz="1600" dirty="0"/>
              <a:t>不再知道邻居是可达的，同时数据流在最近己经发送给邻居，但不立即对该邻居进行探测，而在一个短时延后发送探测信息，这样就可以为上层协议提供可达性确认</a:t>
            </a:r>
            <a:endParaRPr lang="en-US" altLang="zh-CN" sz="1600" dirty="0" smtClean="0"/>
          </a:p>
          <a:p>
            <a:pPr lvl="1"/>
            <a:r>
              <a:rPr lang="en-US" altLang="zh-CN" sz="1600" dirty="0" smtClean="0"/>
              <a:t>PROBE——</a:t>
            </a:r>
            <a:r>
              <a:rPr lang="zh-CN" altLang="en-US" sz="1600" dirty="0"/>
              <a:t>不再知道邻居是可达的，并发送单播邻居请求探测以验证可达性</a:t>
            </a:r>
            <a:endParaRPr lang="en-US" altLang="zh-CN" sz="1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跟踪邻居状态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/>
              <a:t>Tracking Neighbor </a:t>
            </a:r>
            <a:r>
              <a:rPr lang="en-US" altLang="zh-CN" dirty="0" smtClean="0"/>
              <a:t>State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07" y="3669845"/>
            <a:ext cx="10005189" cy="25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7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重复地址检测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Duplicate Address Detect</a:t>
            </a:r>
          </a:p>
        </p:txBody>
      </p:sp>
    </p:spTree>
    <p:extLst>
      <p:ext uri="{BB962C8B-B14F-4D97-AF65-F5344CB8AC3E}">
        <p14:creationId xmlns:p14="http://schemas.microsoft.com/office/powerpoint/2010/main" val="389661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节点通过</a:t>
            </a:r>
            <a:r>
              <a:rPr lang="en-US" altLang="zh-CN" sz="2000" dirty="0"/>
              <a:t>NS</a:t>
            </a:r>
            <a:r>
              <a:rPr lang="zh-CN" altLang="en-US" sz="2000" dirty="0"/>
              <a:t>和</a:t>
            </a:r>
            <a:r>
              <a:rPr lang="en-US" altLang="zh-CN" sz="2000" dirty="0"/>
              <a:t>NA</a:t>
            </a:r>
            <a:r>
              <a:rPr lang="zh-CN" altLang="en-US" sz="2000" dirty="0"/>
              <a:t>报</a:t>
            </a:r>
            <a:r>
              <a:rPr lang="zh-CN" altLang="en-US" sz="2000" dirty="0" smtClean="0"/>
              <a:t>文，确</a:t>
            </a:r>
            <a:r>
              <a:rPr lang="zh-CN" altLang="en-US" sz="2000" dirty="0"/>
              <a:t>定即将使用的地址是否在链路上唯一存在的过程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dirty="0" smtClean="0"/>
              <a:t>获</a:t>
            </a:r>
            <a:r>
              <a:rPr lang="zh-CN" altLang="en-US" sz="2000" dirty="0"/>
              <a:t>取到地址</a:t>
            </a:r>
            <a:r>
              <a:rPr lang="zh-CN" altLang="en-US" sz="2000" dirty="0" smtClean="0"/>
              <a:t>的接口会</a:t>
            </a:r>
            <a:r>
              <a:rPr lang="zh-CN" altLang="en-US" sz="2000" dirty="0"/>
              <a:t>发一个</a:t>
            </a:r>
            <a:r>
              <a:rPr lang="en-US" altLang="zh-CN" sz="2000" dirty="0"/>
              <a:t>DAD</a:t>
            </a:r>
            <a:r>
              <a:rPr lang="zh-CN" altLang="en-US" sz="2000" dirty="0"/>
              <a:t>的</a:t>
            </a:r>
            <a:r>
              <a:rPr lang="en-US" altLang="zh-CN" sz="2000" dirty="0"/>
              <a:t>NS</a:t>
            </a:r>
            <a:r>
              <a:rPr lang="zh-CN" altLang="en-US" sz="2000" dirty="0"/>
              <a:t>报文，源</a:t>
            </a:r>
            <a:r>
              <a:rPr lang="en-US" altLang="zh-CN" sz="2000" dirty="0"/>
              <a:t>IPv6</a:t>
            </a:r>
            <a:r>
              <a:rPr lang="zh-CN" altLang="en-US" sz="2000" dirty="0"/>
              <a:t>地址为未指定地</a:t>
            </a:r>
            <a:r>
              <a:rPr lang="zh-CN" altLang="en-US" sz="2000" dirty="0" smtClean="0"/>
              <a:t>址“ </a:t>
            </a:r>
            <a:r>
              <a:rPr lang="en-US" altLang="zh-CN" sz="2000" dirty="0" smtClean="0"/>
              <a:t>::</a:t>
            </a:r>
            <a:r>
              <a:rPr lang="zh-CN" altLang="en-US" sz="2000" dirty="0" smtClean="0"/>
              <a:t>”，</a:t>
            </a:r>
            <a:r>
              <a:rPr lang="zh-CN" altLang="en-US" sz="2000" dirty="0"/>
              <a:t>目的地址</a:t>
            </a:r>
            <a:r>
              <a:rPr lang="zh-CN" altLang="en-US" sz="2000" dirty="0" smtClean="0"/>
              <a:t>为</a:t>
            </a:r>
            <a:r>
              <a:rPr lang="zh-CN" altLang="en-US" sz="2000" dirty="0"/>
              <a:t>接口</a:t>
            </a:r>
            <a:r>
              <a:rPr lang="zh-CN" altLang="en-US" sz="2000" dirty="0" smtClean="0"/>
              <a:t>上</a:t>
            </a:r>
            <a:r>
              <a:rPr lang="zh-CN" altLang="en-US" sz="2000" dirty="0"/>
              <a:t>配置的</a:t>
            </a:r>
            <a:r>
              <a:rPr lang="en-US" altLang="zh-CN" sz="2000" dirty="0"/>
              <a:t>IPv6</a:t>
            </a:r>
            <a:r>
              <a:rPr lang="zh-CN" altLang="en-US" sz="2000" dirty="0"/>
              <a:t>地址对应被请求节点组播地址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r>
              <a:rPr lang="zh-CN" altLang="en-US" sz="1600" dirty="0"/>
              <a:t>如果在规定的时间内没有收到应答的</a:t>
            </a:r>
            <a:r>
              <a:rPr lang="en-US" altLang="zh-CN" sz="1600" dirty="0"/>
              <a:t>NA</a:t>
            </a:r>
            <a:r>
              <a:rPr lang="zh-CN" altLang="en-US" sz="1600" dirty="0"/>
              <a:t>报文，则认为这个单播地址在链路上是唯一的，可以分配给</a:t>
            </a:r>
            <a:r>
              <a:rPr lang="zh-CN" altLang="en-US" sz="1600" dirty="0" smtClean="0"/>
              <a:t>该接</a:t>
            </a:r>
            <a:r>
              <a:rPr lang="zh-CN" altLang="en-US" sz="1600" dirty="0"/>
              <a:t>口使用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lvl="1"/>
            <a:r>
              <a:rPr lang="zh-CN" altLang="en-US" sz="1600" dirty="0"/>
              <a:t>如果收到</a:t>
            </a:r>
            <a:r>
              <a:rPr lang="en-US" altLang="zh-CN" sz="1600" dirty="0"/>
              <a:t>NA</a:t>
            </a:r>
            <a:r>
              <a:rPr lang="zh-CN" altLang="en-US" sz="1600" dirty="0"/>
              <a:t>报文，则表明这个地址已经被其他节点使用了，所以不能配置到</a:t>
            </a:r>
            <a:r>
              <a:rPr lang="zh-CN" altLang="en-US" sz="1600" dirty="0" smtClean="0"/>
              <a:t>该接口。收</a:t>
            </a:r>
            <a:r>
              <a:rPr lang="zh-CN" altLang="en-US" sz="1600" dirty="0"/>
              <a:t>到的</a:t>
            </a:r>
            <a:r>
              <a:rPr lang="en-US" altLang="zh-CN" sz="1600" dirty="0"/>
              <a:t>NA</a:t>
            </a:r>
            <a:r>
              <a:rPr lang="zh-CN" altLang="en-US" sz="1600" dirty="0"/>
              <a:t>报文中，源</a:t>
            </a:r>
            <a:r>
              <a:rPr lang="zh-CN" altLang="en-US" sz="1600" dirty="0" smtClean="0"/>
              <a:t>地址为冲突的</a:t>
            </a:r>
            <a:r>
              <a:rPr lang="en-US" altLang="zh-CN" sz="1600" dirty="0" smtClean="0"/>
              <a:t>IPv6</a:t>
            </a:r>
            <a:r>
              <a:rPr lang="zh-CN" altLang="en-US" sz="1600" dirty="0" smtClean="0"/>
              <a:t>单播地址，目的地址为</a:t>
            </a:r>
            <a:r>
              <a:rPr lang="zh-CN" altLang="en-US" sz="1600" dirty="0"/>
              <a:t>本链路所有节点的组播地址（</a:t>
            </a:r>
            <a:r>
              <a:rPr lang="en-US" altLang="zh-CN" sz="1600" dirty="0"/>
              <a:t>FF02::1)</a:t>
            </a:r>
            <a:r>
              <a:rPr lang="zh-CN" altLang="en-US" sz="1600" dirty="0"/>
              <a:t>，且</a:t>
            </a:r>
            <a:r>
              <a:rPr lang="en-US" altLang="zh-CN" sz="1600" dirty="0"/>
              <a:t>S</a:t>
            </a:r>
            <a:r>
              <a:rPr lang="zh-CN" altLang="en-US" sz="1600" dirty="0"/>
              <a:t>标志位为</a:t>
            </a:r>
            <a:r>
              <a:rPr lang="en-US" altLang="zh-CN" sz="1600" dirty="0"/>
              <a:t>0</a:t>
            </a:r>
            <a:r>
              <a:rPr lang="zh-CN" altLang="en-US" sz="1600" dirty="0"/>
              <a:t>，表示不是针对</a:t>
            </a:r>
            <a:r>
              <a:rPr lang="en-US" altLang="zh-CN" sz="1600" dirty="0"/>
              <a:t>NS</a:t>
            </a:r>
            <a:r>
              <a:rPr lang="zh-CN" altLang="en-US" sz="1600" dirty="0"/>
              <a:t>的相</a:t>
            </a:r>
            <a:r>
              <a:rPr lang="zh-CN" altLang="en-US" sz="1600" dirty="0" smtClean="0"/>
              <a:t>应。</a:t>
            </a:r>
          </a:p>
          <a:p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重复地址检测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/>
              <a:t>Duplicate Address Detect</a:t>
            </a:r>
          </a:p>
        </p:txBody>
      </p:sp>
    </p:spTree>
    <p:extLst>
      <p:ext uri="{BB962C8B-B14F-4D97-AF65-F5344CB8AC3E}">
        <p14:creationId xmlns:p14="http://schemas.microsoft.com/office/powerpoint/2010/main" val="13616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路由器发现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Router Discovery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25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定位邻居路由器，学习与地址自动配置有关的前缀和配置参数。用</a:t>
            </a:r>
            <a:r>
              <a:rPr lang="en-US" altLang="zh-CN" sz="2000" dirty="0"/>
              <a:t>RS</a:t>
            </a:r>
            <a:r>
              <a:rPr lang="zh-CN" altLang="en-US" sz="2000" dirty="0"/>
              <a:t>和</a:t>
            </a:r>
            <a:r>
              <a:rPr lang="en-US" altLang="zh-CN" sz="2000" dirty="0"/>
              <a:t>RA</a:t>
            </a:r>
            <a:r>
              <a:rPr lang="zh-CN" altLang="en-US" sz="2000" dirty="0"/>
              <a:t>机制实现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zh-CN" altLang="en-US" sz="2000" dirty="0"/>
              <a:t>路由器请求</a:t>
            </a:r>
            <a:r>
              <a:rPr lang="en-US" altLang="zh-CN" sz="2000" dirty="0"/>
              <a:t>RS</a:t>
            </a:r>
            <a:r>
              <a:rPr lang="zh-CN" altLang="en-US" sz="2000" dirty="0"/>
              <a:t>：</a:t>
            </a:r>
          </a:p>
          <a:p>
            <a:pPr lvl="1"/>
            <a:r>
              <a:rPr lang="zh-CN" altLang="en-US" sz="1600" dirty="0" smtClean="0"/>
              <a:t>当</a:t>
            </a:r>
            <a:r>
              <a:rPr lang="zh-CN" altLang="en-US" sz="1600" dirty="0"/>
              <a:t>主机没有配置单播地址时，就会发送路由器请求报文。路由器请求报文有助于主机迅速自动配置，不必等待</a:t>
            </a:r>
            <a:r>
              <a:rPr lang="en-US" altLang="zh-CN" sz="1600" dirty="0"/>
              <a:t>IPV6</a:t>
            </a:r>
            <a:r>
              <a:rPr lang="zh-CN" altLang="en-US" sz="1600" dirty="0"/>
              <a:t>路由器的周期路由</a:t>
            </a:r>
            <a:r>
              <a:rPr lang="zh-CN" altLang="en-US" sz="1600" dirty="0" smtClean="0"/>
              <a:t>器通告报</a:t>
            </a:r>
            <a:r>
              <a:rPr lang="zh-CN" altLang="en-US" sz="1600" dirty="0"/>
              <a:t>文</a:t>
            </a:r>
            <a:r>
              <a:rPr lang="en-US" altLang="zh-CN" sz="1600" dirty="0"/>
              <a:t>RA</a:t>
            </a:r>
            <a:r>
              <a:rPr lang="zh-CN" altLang="en-US" sz="1600" dirty="0"/>
              <a:t>。</a:t>
            </a:r>
          </a:p>
          <a:p>
            <a:pPr lvl="1"/>
            <a:r>
              <a:rPr lang="zh-CN" altLang="en-US" sz="1600" dirty="0" smtClean="0"/>
              <a:t>路</a:t>
            </a:r>
            <a:r>
              <a:rPr lang="zh-CN" altLang="en-US" sz="1600" dirty="0"/>
              <a:t>由器请求报</a:t>
            </a:r>
            <a:r>
              <a:rPr lang="zh-CN" altLang="en-US" sz="1600" dirty="0" smtClean="0"/>
              <a:t>文是</a:t>
            </a:r>
            <a:r>
              <a:rPr lang="en-US" altLang="zh-CN" sz="1600" dirty="0"/>
              <a:t>ICMP</a:t>
            </a:r>
            <a:r>
              <a:rPr lang="zh-CN" altLang="en-US" sz="1600" dirty="0"/>
              <a:t>报文，类型</a:t>
            </a:r>
            <a:r>
              <a:rPr lang="en-US" altLang="zh-CN" sz="1600" dirty="0"/>
              <a:t>133</a:t>
            </a:r>
            <a:r>
              <a:rPr lang="zh-CN" altLang="en-US" sz="1600" dirty="0"/>
              <a:t>。路由</a:t>
            </a:r>
            <a:r>
              <a:rPr lang="zh-CN" altLang="en-US" sz="1600" dirty="0" smtClean="0"/>
              <a:t>器通告报</a:t>
            </a:r>
            <a:r>
              <a:rPr lang="zh-CN" altLang="en-US" sz="1600" dirty="0"/>
              <a:t>文，</a:t>
            </a:r>
            <a:r>
              <a:rPr lang="en-US" altLang="zh-CN" sz="1600" dirty="0"/>
              <a:t>ICMP</a:t>
            </a:r>
            <a:r>
              <a:rPr lang="zh-CN" altLang="en-US" sz="1600" dirty="0"/>
              <a:t>报文类型</a:t>
            </a:r>
            <a:r>
              <a:rPr lang="en-US" altLang="zh-CN" sz="1600" dirty="0"/>
              <a:t>134</a:t>
            </a:r>
            <a:r>
              <a:rPr lang="zh-CN" altLang="en-US" sz="1600" dirty="0" smtClean="0"/>
              <a:t>。</a:t>
            </a:r>
            <a:endParaRPr lang="zh-CN" altLang="en-US" sz="1600" dirty="0"/>
          </a:p>
          <a:p>
            <a:pPr lvl="1"/>
            <a:r>
              <a:rPr lang="en-US" altLang="zh-CN" sz="1600" dirty="0" smtClean="0"/>
              <a:t>RS</a:t>
            </a:r>
            <a:r>
              <a:rPr lang="zh-CN" altLang="en-US" sz="1600" dirty="0"/>
              <a:t>源地址为未指定的</a:t>
            </a:r>
            <a:r>
              <a:rPr lang="en-US" altLang="zh-CN" sz="1600" dirty="0"/>
              <a:t>IPV6</a:t>
            </a:r>
            <a:r>
              <a:rPr lang="zh-CN" altLang="en-US" sz="1600" dirty="0"/>
              <a:t>地</a:t>
            </a:r>
            <a:r>
              <a:rPr lang="zh-CN" altLang="en-US" sz="1600" dirty="0" smtClean="0"/>
              <a:t>址“</a:t>
            </a:r>
            <a:r>
              <a:rPr lang="en-US" altLang="zh-CN" sz="1600" dirty="0" smtClean="0"/>
              <a:t>::</a:t>
            </a:r>
            <a:r>
              <a:rPr lang="zh-CN" altLang="en-US" sz="1600" dirty="0" smtClean="0"/>
              <a:t>”，</a:t>
            </a:r>
            <a:r>
              <a:rPr lang="zh-CN" altLang="en-US" sz="1600" dirty="0"/>
              <a:t>若主机配置了单播地址，则此接口的单播地址可作为源地址。</a:t>
            </a:r>
          </a:p>
          <a:p>
            <a:pPr lvl="1"/>
            <a:r>
              <a:rPr lang="en-US" altLang="zh-CN" sz="1600" dirty="0" smtClean="0"/>
              <a:t>RS</a:t>
            </a:r>
            <a:r>
              <a:rPr lang="zh-CN" altLang="en-US" sz="1600" dirty="0"/>
              <a:t>目的地址为所有路由器</a:t>
            </a:r>
            <a:r>
              <a:rPr lang="zh-CN" altLang="en-US" sz="1600" dirty="0" smtClean="0"/>
              <a:t>的组播地</a:t>
            </a:r>
            <a:r>
              <a:rPr lang="zh-CN" altLang="en-US" sz="1600" dirty="0"/>
              <a:t>址</a:t>
            </a:r>
            <a:r>
              <a:rPr lang="en-US" altLang="zh-CN" sz="1600" dirty="0"/>
              <a:t>FF02::2</a:t>
            </a:r>
            <a:r>
              <a:rPr lang="zh-CN" altLang="en-US" sz="1600" dirty="0"/>
              <a:t>。</a:t>
            </a:r>
          </a:p>
          <a:p>
            <a:pPr lvl="1"/>
            <a:r>
              <a:rPr lang="en-US" altLang="zh-CN" sz="1600" dirty="0" smtClean="0"/>
              <a:t>RS</a:t>
            </a:r>
            <a:r>
              <a:rPr lang="zh-CN" altLang="en-US" sz="1600" dirty="0"/>
              <a:t>作用域为本地链路</a:t>
            </a:r>
            <a:r>
              <a:rPr lang="zh-CN" altLang="en-US" sz="1600" dirty="0" smtClean="0"/>
              <a:t>。</a:t>
            </a:r>
            <a:endParaRPr lang="zh-CN" altLang="en-US" sz="1600" dirty="0"/>
          </a:p>
          <a:p>
            <a:pPr lvl="1"/>
            <a:r>
              <a:rPr lang="en-US" altLang="zh-CN" sz="1600" dirty="0"/>
              <a:t>RS</a:t>
            </a:r>
            <a:r>
              <a:rPr lang="zh-CN" altLang="en-US" sz="1600" dirty="0"/>
              <a:t>只发送三次以避免没有路由器时拥塞网络。</a:t>
            </a:r>
            <a:endParaRPr lang="en-US" altLang="zh-CN" sz="1600" dirty="0" smtClean="0"/>
          </a:p>
          <a:p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路由器发现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/>
              <a:t>Router Discovery</a:t>
            </a:r>
          </a:p>
        </p:txBody>
      </p:sp>
    </p:spTree>
    <p:extLst>
      <p:ext uri="{BB962C8B-B14F-4D97-AF65-F5344CB8AC3E}">
        <p14:creationId xmlns:p14="http://schemas.microsoft.com/office/powerpoint/2010/main" val="255326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定位邻居路由器，学习与地址自动配置有关的前缀和配置参数。用</a:t>
            </a:r>
            <a:r>
              <a:rPr lang="en-US" altLang="zh-CN" sz="2000" dirty="0"/>
              <a:t>RS</a:t>
            </a:r>
            <a:r>
              <a:rPr lang="zh-CN" altLang="en-US" sz="2000" dirty="0"/>
              <a:t>和</a:t>
            </a:r>
            <a:r>
              <a:rPr lang="en-US" altLang="zh-CN" sz="2000" dirty="0"/>
              <a:t>RA</a:t>
            </a:r>
            <a:r>
              <a:rPr lang="zh-CN" altLang="en-US" sz="2000" dirty="0"/>
              <a:t>机制实现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zh-CN" altLang="en-US" sz="2000" dirty="0" smtClean="0"/>
              <a:t>路</a:t>
            </a:r>
            <a:r>
              <a:rPr lang="zh-CN" altLang="en-US" sz="2000" dirty="0"/>
              <a:t>由</a:t>
            </a:r>
            <a:r>
              <a:rPr lang="zh-CN" altLang="en-US" sz="2000" dirty="0" smtClean="0"/>
              <a:t>器通告</a:t>
            </a:r>
            <a:r>
              <a:rPr lang="en-US" altLang="zh-CN" sz="2000" dirty="0" smtClean="0"/>
              <a:t>RA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lvl="1"/>
            <a:r>
              <a:rPr lang="zh-CN" altLang="en-US" sz="1600" dirty="0"/>
              <a:t>每个</a:t>
            </a:r>
            <a:r>
              <a:rPr lang="en-US" altLang="zh-CN" sz="1600" dirty="0"/>
              <a:t>IPV6</a:t>
            </a:r>
            <a:r>
              <a:rPr lang="zh-CN" altLang="en-US" sz="1600" dirty="0"/>
              <a:t>路由器的接口</a:t>
            </a:r>
            <a:r>
              <a:rPr lang="zh-CN" altLang="en-US" sz="1600" dirty="0" smtClean="0"/>
              <a:t>会周期性发</a:t>
            </a:r>
            <a:r>
              <a:rPr lang="zh-CN" altLang="en-US" sz="1600" dirty="0"/>
              <a:t>送路由</a:t>
            </a:r>
            <a:r>
              <a:rPr lang="zh-CN" altLang="en-US" sz="1600" dirty="0" smtClean="0"/>
              <a:t>器通告报文，在</a:t>
            </a:r>
            <a:r>
              <a:rPr lang="zh-CN" altLang="en-US" sz="1600" dirty="0"/>
              <a:t>本地链路收到</a:t>
            </a:r>
            <a:r>
              <a:rPr lang="en-US" altLang="zh-CN" sz="1600" dirty="0"/>
              <a:t>RS</a:t>
            </a:r>
            <a:r>
              <a:rPr lang="zh-CN" altLang="en-US" sz="1600" dirty="0"/>
              <a:t>后会发送</a:t>
            </a:r>
            <a:r>
              <a:rPr lang="en-US" altLang="zh-CN" sz="1600" dirty="0"/>
              <a:t>RA</a:t>
            </a:r>
            <a:r>
              <a:rPr lang="zh-CN" altLang="en-US" sz="1600" dirty="0" smtClean="0"/>
              <a:t>。</a:t>
            </a:r>
            <a:r>
              <a:rPr lang="en-US" altLang="zh-CN" sz="1600" dirty="0" smtClean="0"/>
              <a:t>RA</a:t>
            </a:r>
            <a:r>
              <a:rPr lang="zh-CN" altLang="en-US" sz="1600" dirty="0"/>
              <a:t>发送到所有节点的链路本</a:t>
            </a:r>
            <a:r>
              <a:rPr lang="zh-CN" altLang="en-US" sz="1600" dirty="0" smtClean="0"/>
              <a:t>地组播地</a:t>
            </a:r>
            <a:r>
              <a:rPr lang="zh-CN" altLang="en-US" sz="1600" dirty="0"/>
              <a:t>址</a:t>
            </a:r>
            <a:r>
              <a:rPr lang="en-US" altLang="zh-CN" sz="1600" dirty="0"/>
              <a:t>FF02::1</a:t>
            </a:r>
            <a:r>
              <a:rPr lang="zh-CN" altLang="en-US" sz="1600" dirty="0"/>
              <a:t>或路由器请求节点的单播地址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lvl="1"/>
            <a:r>
              <a:rPr lang="en-US" altLang="zh-CN" sz="1600" dirty="0" smtClean="0"/>
              <a:t>RA</a:t>
            </a:r>
            <a:r>
              <a:rPr lang="zh-CN" altLang="en-US" sz="1600" dirty="0" smtClean="0"/>
              <a:t>报文包含：</a:t>
            </a:r>
            <a:endParaRPr lang="en-US" altLang="zh-CN" sz="1600" dirty="0" smtClean="0"/>
          </a:p>
          <a:p>
            <a:pPr lvl="2"/>
            <a:r>
              <a:rPr lang="zh-CN" altLang="en-US" sz="1200" dirty="0" smtClean="0"/>
              <a:t>是否使用自动配置</a:t>
            </a:r>
            <a:endParaRPr lang="en-US" altLang="zh-CN" sz="1200" dirty="0" smtClean="0"/>
          </a:p>
          <a:p>
            <a:pPr lvl="2"/>
            <a:r>
              <a:rPr lang="zh-CN" altLang="en-US" sz="1200" dirty="0"/>
              <a:t>一个或多个本地链路前缀（本地链路上的节点可以使用这些前缀完成地址自动配置）</a:t>
            </a:r>
            <a:endParaRPr lang="en-US" altLang="zh-CN" sz="1200" dirty="0" smtClean="0"/>
          </a:p>
          <a:p>
            <a:pPr lvl="2"/>
            <a:r>
              <a:rPr lang="zh-CN" altLang="en-US" sz="1200" dirty="0"/>
              <a:t>生存</a:t>
            </a:r>
            <a:r>
              <a:rPr lang="zh-CN" altLang="en-US" sz="1200" dirty="0" smtClean="0"/>
              <a:t>期</a:t>
            </a:r>
            <a:endParaRPr lang="en-US" altLang="zh-CN" sz="1200" dirty="0" smtClean="0"/>
          </a:p>
          <a:p>
            <a:pPr lvl="2"/>
            <a:r>
              <a:rPr lang="zh-CN" altLang="en-US" sz="1200" dirty="0"/>
              <a:t>默认路</a:t>
            </a:r>
            <a:r>
              <a:rPr lang="zh-CN" altLang="en-US" sz="1200" dirty="0" smtClean="0"/>
              <a:t>由</a:t>
            </a:r>
            <a:endParaRPr lang="en-US" altLang="zh-CN" sz="1200" dirty="0" smtClean="0"/>
          </a:p>
          <a:p>
            <a:pPr lvl="2"/>
            <a:r>
              <a:rPr lang="zh-CN" altLang="en-US" sz="1200" dirty="0"/>
              <a:t>跳数限</a:t>
            </a:r>
            <a:r>
              <a:rPr lang="zh-CN" altLang="en-US" sz="1200" dirty="0" smtClean="0"/>
              <a:t>制</a:t>
            </a:r>
            <a:endParaRPr lang="en-US" altLang="zh-CN" sz="1200" dirty="0" smtClean="0"/>
          </a:p>
          <a:p>
            <a:pPr lvl="1"/>
            <a:r>
              <a:rPr lang="zh-CN" altLang="en-US" sz="1600" dirty="0"/>
              <a:t>本地链路上的</a:t>
            </a:r>
            <a:r>
              <a:rPr lang="en-US" altLang="zh-CN" sz="1600" dirty="0"/>
              <a:t>IPV6</a:t>
            </a:r>
            <a:r>
              <a:rPr lang="zh-CN" altLang="en-US" sz="1600" dirty="0"/>
              <a:t>节点接收</a:t>
            </a:r>
            <a:r>
              <a:rPr lang="en-US" altLang="zh-CN" sz="1600" dirty="0"/>
              <a:t>RA</a:t>
            </a:r>
            <a:r>
              <a:rPr lang="zh-CN" altLang="en-US" sz="1600" dirty="0"/>
              <a:t>，并用其中的信息得到更新的却省路由器，前缀列表及其他配置。</a:t>
            </a:r>
            <a:endParaRPr lang="en-US" altLang="zh-CN" sz="1600" dirty="0"/>
          </a:p>
          <a:p>
            <a:pPr lvl="1"/>
            <a:endParaRPr lang="en-US" altLang="zh-CN" sz="1600" dirty="0" smtClean="0"/>
          </a:p>
          <a:p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路由器发现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/>
              <a:t>Router Discovery</a:t>
            </a:r>
          </a:p>
        </p:txBody>
      </p:sp>
    </p:spTree>
    <p:extLst>
      <p:ext uri="{BB962C8B-B14F-4D97-AF65-F5344CB8AC3E}">
        <p14:creationId xmlns:p14="http://schemas.microsoft.com/office/powerpoint/2010/main" val="408984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地址自动配置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 smtClean="0"/>
              <a:t>Autoconfigure</a:t>
            </a:r>
            <a:r>
              <a:rPr lang="en-US" altLang="zh-CN" dirty="0" smtClean="0"/>
              <a:t> Address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542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IPv6</a:t>
            </a:r>
            <a:r>
              <a:rPr lang="zh-CN" altLang="en-US" sz="2000" dirty="0" smtClean="0"/>
              <a:t>地址自动配置有两种方式</a:t>
            </a:r>
            <a:endParaRPr lang="en-US" altLang="zh-CN" sz="2000" dirty="0" smtClean="0"/>
          </a:p>
          <a:p>
            <a:pPr lvl="1"/>
            <a:r>
              <a:rPr lang="zh-CN" altLang="en-US" sz="1600" dirty="0"/>
              <a:t>有状</a:t>
            </a:r>
            <a:r>
              <a:rPr lang="zh-CN" altLang="en-US" sz="1600" dirty="0" smtClean="0"/>
              <a:t>态自动配置，</a:t>
            </a:r>
            <a:r>
              <a:rPr lang="en-US" altLang="zh-CN" sz="1600" dirty="0" smtClean="0"/>
              <a:t>DHCPv6</a:t>
            </a:r>
          </a:p>
          <a:p>
            <a:pPr lvl="1"/>
            <a:r>
              <a:rPr lang="zh-CN" altLang="en-US" sz="1600" dirty="0"/>
              <a:t>无状</a:t>
            </a:r>
            <a:r>
              <a:rPr lang="zh-CN" altLang="en-US" sz="1600" dirty="0" smtClean="0"/>
              <a:t>态自动配置</a:t>
            </a:r>
            <a:endParaRPr lang="en-US" altLang="zh-CN" sz="1600" dirty="0" smtClean="0"/>
          </a:p>
          <a:p>
            <a:endParaRPr lang="en-US" altLang="zh-CN" sz="2000" dirty="0" smtClean="0"/>
          </a:p>
          <a:p>
            <a:r>
              <a:rPr lang="zh-CN" altLang="en-US" sz="2000" dirty="0"/>
              <a:t>无状</a:t>
            </a:r>
            <a:r>
              <a:rPr lang="zh-CN" altLang="en-US" sz="2000" dirty="0" smtClean="0"/>
              <a:t>态自动配置</a:t>
            </a:r>
            <a:endParaRPr lang="en-US" altLang="zh-CN" sz="2000" dirty="0" smtClean="0"/>
          </a:p>
          <a:p>
            <a:pPr lvl="1"/>
            <a:r>
              <a:rPr lang="zh-CN" altLang="en-US" sz="1600" dirty="0" smtClean="0"/>
              <a:t>主</a:t>
            </a:r>
            <a:r>
              <a:rPr lang="zh-CN" altLang="en-US" sz="1600" dirty="0"/>
              <a:t>机节点</a:t>
            </a:r>
            <a:r>
              <a:rPr lang="en-US" altLang="zh-CN" sz="1600" dirty="0" smtClean="0"/>
              <a:t>Node A</a:t>
            </a:r>
            <a:r>
              <a:rPr lang="zh-CN" altLang="en-US" sz="1600" dirty="0"/>
              <a:t>在配置好链路本地地址后，发送</a:t>
            </a:r>
            <a:r>
              <a:rPr lang="en-US" altLang="zh-CN" sz="1600" dirty="0"/>
              <a:t>RS</a:t>
            </a:r>
            <a:r>
              <a:rPr lang="zh-CN" altLang="en-US" sz="1600" dirty="0"/>
              <a:t>报文，请求路由器的前缀信息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lvl="1"/>
            <a:r>
              <a:rPr lang="zh-CN" altLang="en-US" sz="1600" dirty="0"/>
              <a:t>路由器收到</a:t>
            </a:r>
            <a:r>
              <a:rPr lang="en-US" altLang="zh-CN" sz="1600" dirty="0"/>
              <a:t>RS</a:t>
            </a:r>
            <a:r>
              <a:rPr lang="zh-CN" altLang="en-US" sz="1600" dirty="0"/>
              <a:t>报文后，发送单播</a:t>
            </a:r>
            <a:r>
              <a:rPr lang="en-US" altLang="zh-CN" sz="1600" dirty="0"/>
              <a:t>RA</a:t>
            </a:r>
            <a:r>
              <a:rPr lang="zh-CN" altLang="en-US" sz="1600" dirty="0"/>
              <a:t>报文，携带用于无状态地址自动配置的前缀信息，同时路由器也会周期性地发送组播</a:t>
            </a:r>
            <a:r>
              <a:rPr lang="en-US" altLang="zh-CN" sz="1600" dirty="0"/>
              <a:t>RA</a:t>
            </a:r>
            <a:r>
              <a:rPr lang="zh-CN" altLang="en-US" sz="1600" dirty="0"/>
              <a:t>报文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lvl="1"/>
            <a:r>
              <a:rPr lang="en-US" altLang="zh-CN" sz="1600" dirty="0" smtClean="0"/>
              <a:t>Node A</a:t>
            </a:r>
            <a:r>
              <a:rPr lang="zh-CN" altLang="en-US" sz="1600" dirty="0"/>
              <a:t>收到</a:t>
            </a:r>
            <a:r>
              <a:rPr lang="en-US" altLang="zh-CN" sz="1600" dirty="0"/>
              <a:t>RA</a:t>
            </a:r>
            <a:r>
              <a:rPr lang="zh-CN" altLang="en-US" sz="1600" dirty="0"/>
              <a:t>报文后，根据前缀信息和配置信息生成一个临时的全球单播地址。同时启动</a:t>
            </a:r>
            <a:r>
              <a:rPr lang="en-US" altLang="zh-CN" sz="1600" dirty="0"/>
              <a:t>DAD</a:t>
            </a:r>
            <a:r>
              <a:rPr lang="zh-CN" altLang="en-US" sz="1600" dirty="0"/>
              <a:t>，发送</a:t>
            </a:r>
            <a:r>
              <a:rPr lang="en-US" altLang="zh-CN" sz="1600" dirty="0"/>
              <a:t>NS</a:t>
            </a:r>
            <a:r>
              <a:rPr lang="zh-CN" altLang="en-US" sz="1600" dirty="0"/>
              <a:t>报文验证临时地址的唯一性，此时该地址处于临时状态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lvl="1"/>
            <a:r>
              <a:rPr lang="zh-CN" altLang="en-US" sz="1600" dirty="0"/>
              <a:t>链路上的其他节点收到</a:t>
            </a:r>
            <a:r>
              <a:rPr lang="en-US" altLang="zh-CN" sz="1600" dirty="0"/>
              <a:t>DAD</a:t>
            </a:r>
            <a:r>
              <a:rPr lang="zh-CN" altLang="en-US" sz="1600" dirty="0"/>
              <a:t>的</a:t>
            </a:r>
            <a:r>
              <a:rPr lang="en-US" altLang="zh-CN" sz="1600" dirty="0"/>
              <a:t>NS</a:t>
            </a:r>
            <a:r>
              <a:rPr lang="zh-CN" altLang="en-US" sz="1600" dirty="0"/>
              <a:t>报文后，如果没有用户使用该地址，则丢弃报文，否则产生应答</a:t>
            </a:r>
            <a:r>
              <a:rPr lang="en-US" altLang="zh-CN" sz="1600" dirty="0"/>
              <a:t>NS</a:t>
            </a:r>
            <a:r>
              <a:rPr lang="zh-CN" altLang="en-US" sz="1600" dirty="0"/>
              <a:t>的</a:t>
            </a:r>
            <a:r>
              <a:rPr lang="en-US" altLang="zh-CN" sz="1600" dirty="0"/>
              <a:t>NA</a:t>
            </a:r>
            <a:r>
              <a:rPr lang="zh-CN" altLang="en-US" sz="1600" dirty="0"/>
              <a:t>报文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lvl="1"/>
            <a:r>
              <a:rPr lang="en-US" altLang="zh-CN" sz="1600" dirty="0" smtClean="0"/>
              <a:t>Node A</a:t>
            </a:r>
            <a:r>
              <a:rPr lang="zh-CN" altLang="en-US" sz="1600" dirty="0" smtClean="0"/>
              <a:t>如</a:t>
            </a:r>
            <a:r>
              <a:rPr lang="zh-CN" altLang="en-US" sz="1600" dirty="0"/>
              <a:t>果没有收到</a:t>
            </a:r>
            <a:r>
              <a:rPr lang="en-US" altLang="zh-CN" sz="1600" dirty="0"/>
              <a:t>DAD</a:t>
            </a:r>
            <a:r>
              <a:rPr lang="zh-CN" altLang="en-US" sz="1600" dirty="0"/>
              <a:t>的</a:t>
            </a:r>
            <a:r>
              <a:rPr lang="en-US" altLang="zh-CN" sz="1600" dirty="0"/>
              <a:t>NA</a:t>
            </a:r>
            <a:r>
              <a:rPr lang="zh-CN" altLang="en-US" sz="1600" dirty="0"/>
              <a:t>报文，说明地址是全局唯一的，则用该临时地址初始化接口，此时地址进入有效状态。</a:t>
            </a:r>
            <a:endParaRPr lang="en-US" altLang="zh-CN" sz="1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地址自动配置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err="1"/>
              <a:t>Autoconfigure</a:t>
            </a:r>
            <a:r>
              <a:rPr lang="en-US" altLang="zh-CN" dirty="0"/>
              <a:t> Address</a:t>
            </a:r>
          </a:p>
        </p:txBody>
      </p:sp>
    </p:spTree>
    <p:extLst>
      <p:ext uri="{BB962C8B-B14F-4D97-AF65-F5344CB8AC3E}">
        <p14:creationId xmlns:p14="http://schemas.microsoft.com/office/powerpoint/2010/main" val="159119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重定向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Redirect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9502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/>
              <a:t>在</a:t>
            </a:r>
            <a:r>
              <a:rPr lang="zh-CN" altLang="en-US" sz="2000" dirty="0"/>
              <a:t>重定向过程中，路由器通过发送重定向报文来通知链路上的报文发送节点，在同一链路上存在一个更优的转发数据报文的路由器。接收到该消息的节点据此修改其本地路由表项。路由器仅为单播数据流发送重定向报文，而重定向报文也仅以单播形式发送到始发主机，并且只会被始发节点处理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endParaRPr lang="en-US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重定向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Redirect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50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600" dirty="0" smtClean="0"/>
              <a:t>（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Node A</a:t>
            </a:r>
            <a:r>
              <a:rPr lang="zh-CN" altLang="en-US" sz="1600" dirty="0" smtClean="0"/>
              <a:t>首先传送第一个数据报文到它的默认路由器</a:t>
            </a:r>
            <a:r>
              <a:rPr lang="en-US" altLang="zh-CN" sz="1600" dirty="0" smtClean="0"/>
              <a:t>Router A</a:t>
            </a:r>
            <a:r>
              <a:rPr lang="zh-CN" altLang="en-US" sz="1600" dirty="0" smtClean="0"/>
              <a:t>，当该报文经过</a:t>
            </a:r>
            <a:r>
              <a:rPr lang="en-US" altLang="zh-CN" sz="1600" dirty="0" smtClean="0"/>
              <a:t>Router B</a:t>
            </a:r>
            <a:r>
              <a:rPr lang="zh-CN" altLang="en-US" sz="1600" dirty="0" smtClean="0"/>
              <a:t>到达</a:t>
            </a:r>
            <a:r>
              <a:rPr lang="en-US" altLang="zh-CN" sz="1600" dirty="0" smtClean="0"/>
              <a:t>Node B</a:t>
            </a:r>
            <a:r>
              <a:rPr lang="zh-CN" altLang="en-US" sz="1600" dirty="0" smtClean="0"/>
              <a:t>后，</a:t>
            </a:r>
            <a:r>
              <a:rPr lang="en-US" altLang="zh-CN" sz="1600" dirty="0" smtClean="0"/>
              <a:t>Router A</a:t>
            </a:r>
            <a:r>
              <a:rPr lang="zh-CN" altLang="en-US" sz="1600" dirty="0" smtClean="0"/>
              <a:t>知道</a:t>
            </a:r>
            <a:r>
              <a:rPr lang="en-US" altLang="zh-CN" sz="1600" dirty="0" smtClean="0"/>
              <a:t>Router B</a:t>
            </a:r>
            <a:r>
              <a:rPr lang="zh-CN" altLang="en-US" sz="1600" dirty="0" smtClean="0"/>
              <a:t>是链路上转发报文的更好选择。</a:t>
            </a:r>
          </a:p>
          <a:p>
            <a:r>
              <a:rPr lang="zh-CN" altLang="en-US" sz="1600" dirty="0" smtClean="0"/>
              <a:t>（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）</a:t>
            </a:r>
            <a:r>
              <a:rPr lang="en-US" altLang="zh-CN" sz="1600" dirty="0" smtClean="0"/>
              <a:t>Router A</a:t>
            </a:r>
            <a:r>
              <a:rPr lang="zh-CN" altLang="en-US" sz="1600" dirty="0" smtClean="0"/>
              <a:t>向始发报文的</a:t>
            </a:r>
            <a:r>
              <a:rPr lang="en-US" altLang="zh-CN" sz="1600" dirty="0" smtClean="0"/>
              <a:t>Node A</a:t>
            </a:r>
            <a:r>
              <a:rPr lang="zh-CN" altLang="en-US" sz="1600" dirty="0" smtClean="0"/>
              <a:t>发送一个</a:t>
            </a:r>
            <a:r>
              <a:rPr lang="en-US" altLang="zh-CN" sz="1600" dirty="0" smtClean="0"/>
              <a:t>ICMPv6</a:t>
            </a:r>
            <a:r>
              <a:rPr lang="zh-CN" altLang="en-US" sz="1600" dirty="0" smtClean="0"/>
              <a:t>重定向报文，目标地址中含有</a:t>
            </a:r>
            <a:r>
              <a:rPr lang="en-US" altLang="zh-CN" sz="1600" dirty="0" smtClean="0"/>
              <a:t>Router B</a:t>
            </a:r>
            <a:r>
              <a:rPr lang="zh-CN" altLang="en-US" sz="1600" dirty="0" smtClean="0"/>
              <a:t>的</a:t>
            </a:r>
            <a:r>
              <a:rPr lang="en-US" altLang="zh-CN" sz="1600" dirty="0" smtClean="0"/>
              <a:t>IPv6</a:t>
            </a:r>
            <a:r>
              <a:rPr lang="zh-CN" altLang="en-US" sz="1600" dirty="0" smtClean="0"/>
              <a:t>地址，报文选项字段的目标链路层地址中含有</a:t>
            </a:r>
            <a:r>
              <a:rPr lang="en-US" altLang="zh-CN" sz="1600" dirty="0" smtClean="0"/>
              <a:t>RTB</a:t>
            </a:r>
            <a:r>
              <a:rPr lang="zh-CN" altLang="en-US" sz="1600" dirty="0" smtClean="0"/>
              <a:t>的链路层地址。</a:t>
            </a:r>
          </a:p>
          <a:p>
            <a:r>
              <a:rPr lang="zh-CN" altLang="en-US" sz="1600" dirty="0" smtClean="0"/>
              <a:t>（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）</a:t>
            </a:r>
            <a:r>
              <a:rPr lang="en-US" altLang="zh-CN" sz="1600" dirty="0" err="1" smtClean="0"/>
              <a:t>NodeA</a:t>
            </a:r>
            <a:r>
              <a:rPr lang="zh-CN" altLang="en-US" sz="1600" dirty="0" smtClean="0"/>
              <a:t>获悉</a:t>
            </a:r>
            <a:r>
              <a:rPr lang="en-US" altLang="zh-CN" sz="1600" dirty="0" smtClean="0"/>
              <a:t>Router B</a:t>
            </a:r>
            <a:r>
              <a:rPr lang="zh-CN" altLang="en-US" sz="1600" dirty="0" smtClean="0"/>
              <a:t>是到</a:t>
            </a:r>
            <a:r>
              <a:rPr lang="en-US" altLang="zh-CN" sz="1600" dirty="0" smtClean="0"/>
              <a:t>Node B</a:t>
            </a:r>
            <a:r>
              <a:rPr lang="zh-CN" altLang="en-US" sz="1600" dirty="0" smtClean="0"/>
              <a:t>的更好路径后，修改自己的目的缓存表，当再发送到</a:t>
            </a:r>
            <a:r>
              <a:rPr lang="en-US" altLang="zh-CN" sz="1600" dirty="0" err="1" smtClean="0"/>
              <a:t>NodeB</a:t>
            </a:r>
            <a:r>
              <a:rPr lang="zh-CN" altLang="en-US" sz="1600" dirty="0" smtClean="0"/>
              <a:t>的报文时优先发送到</a:t>
            </a:r>
            <a:r>
              <a:rPr lang="en-US" altLang="zh-CN" sz="1600" dirty="0" smtClean="0"/>
              <a:t>Router B</a:t>
            </a:r>
            <a:r>
              <a:rPr lang="zh-CN" altLang="en-US" sz="1600" dirty="0" smtClean="0"/>
              <a:t>，重定向完成。</a:t>
            </a:r>
            <a:endParaRPr lang="en-US" altLang="zh-CN" sz="1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重定向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Redirect</a:t>
            </a:r>
            <a:endParaRPr lang="en-US" altLang="zh-C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021" y="2810455"/>
            <a:ext cx="5719561" cy="20390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192" y="4709544"/>
            <a:ext cx="2684220" cy="10287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192" y="5738318"/>
            <a:ext cx="3682140" cy="29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6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THANK YOU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04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3136</TotalTime>
  <Words>3754</Words>
  <Application>Microsoft Office PowerPoint</Application>
  <PresentationFormat>Widescreen</PresentationFormat>
  <Paragraphs>266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 Unicode MS</vt:lpstr>
      <vt:lpstr>DengXian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车载以太网NDP协议规范总结</vt:lpstr>
      <vt:lpstr>版本信息</vt:lpstr>
      <vt:lpstr>概述 地址解析 跟踪邻居状态 重复地址检测 路由器发现 地址自动配置 重定向 </vt:lpstr>
      <vt:lpstr>概述</vt:lpstr>
      <vt:lpstr>概述</vt:lpstr>
      <vt:lpstr>概述</vt:lpstr>
      <vt:lpstr>概述</vt:lpstr>
      <vt:lpstr>概述</vt:lpstr>
      <vt:lpstr>概述</vt:lpstr>
      <vt:lpstr>概述</vt:lpstr>
      <vt:lpstr>概述</vt:lpstr>
      <vt:lpstr>地址解析</vt:lpstr>
      <vt:lpstr>地址解析</vt:lpstr>
      <vt:lpstr>地址解析</vt:lpstr>
      <vt:lpstr>地址解析</vt:lpstr>
      <vt:lpstr>地址解析</vt:lpstr>
      <vt:lpstr>跟踪邻居状态</vt:lpstr>
      <vt:lpstr>跟踪邻居状态</vt:lpstr>
      <vt:lpstr>重复地址检测</vt:lpstr>
      <vt:lpstr>重复地址检测</vt:lpstr>
      <vt:lpstr>路由器发现</vt:lpstr>
      <vt:lpstr>路由器发现</vt:lpstr>
      <vt:lpstr>路由器发现</vt:lpstr>
      <vt:lpstr>地址自动配置</vt:lpstr>
      <vt:lpstr>地址自动配置</vt:lpstr>
      <vt:lpstr>重定向</vt:lpstr>
      <vt:lpstr>重定向</vt:lpstr>
      <vt:lpstr>重定向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泛 亚 展 稿 模 版</dc:title>
  <dc:creator>Shaoping Sun</dc:creator>
  <cp:lastModifiedBy>Yu Zhonghao 于钟皓(HE,PATAC)</cp:lastModifiedBy>
  <cp:revision>259</cp:revision>
  <dcterms:created xsi:type="dcterms:W3CDTF">2016-04-15T11:56:07Z</dcterms:created>
  <dcterms:modified xsi:type="dcterms:W3CDTF">2018-11-11T03:06:22Z</dcterms:modified>
</cp:coreProperties>
</file>